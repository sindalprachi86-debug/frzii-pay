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CD277B51-E071-4140-8B85-C8A0E317923C}" type="datetimeFigureOut">
              <a:rPr/>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196E585F-98F7-4B47-91BC-CC9AF4549717}" type="slidenum">
              <a:rPr/>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Replace every [bracketed] text with your own details. Keep the project title short and clear (4–8 words). Introduce yourself and your team in about 20 seconds: names, guide, and what the project is. Total presentation time for this template: about 10–12 minutes.</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Spend under 30 seconds here. Tell the audience the order of your talk. If your project has extra parts (for example a login module or reports), adjust these nine items to match your own flow.</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Keep it simple: what the project is, why it matters, who uses it. Add one sentence on why you picked Java (portable, object-oriented, strong libraries). About 1 minute.</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most important slide. State the problem clearly in your own words, then show 2–3 pain points people face today. Examiners often ask: what problem does your project solve? About 1 minute.</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Start every objective with an action verb: design, develop, implement, test. Keep to 4–5 objectives. Then state the scope (what the project covers) and honest limitations. Being clear about limitations impresses examiners. About 1 minute.</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Compare how the work is done today with how your Java application does it. Keep both lists the same length so the comparison feels fair. About 1 minute.</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List the software and hardware needed to build AND run your project. Use the exact versions you actually used (for example JDK 17, MySQL 8). About 30–45 seconds.</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Name every tool you actually used and say in one line why you chose it. Remove tiles you did not use and add new ones (for example Maven or Scene Builder). About 45 seconds.</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how data moves through your system from left to right. If your project is not layered like this, replace the boxes with your own block diagram. Be ready to explain every box. About 1.5 minutes.</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Break the project into 3–5 modules. For each one, say what it does and name the main Java classes in it. If you have more modules, copy this slide. About 1.5 minutes.</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Paste a clear picture of your own diagram in the dashed box (draw it with draw.io, Lucidchart or by hand and scan it). Use at least a flowchart and one UML diagram. Explain it in 3–4 sentences, following the arrows. About 1.5 minutes.</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Show your main tables with field names, data types and keys. Add one table per entity (copy this slide if you have several). If your project uses files or collections instead of a database, say that clearly and explain how data is saved and loaded. About 1 minute.</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Keep only the concepts you really used and name the class where each one appears. Examiners love this slide because it proves you understand your own code. Delete tiles you did not use. About 1.5 minutes.</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Show only the 8–15 most important lines, not the whole program. Good choices: the main class, the database connection, or the core logic. Copy this slide if you want to show more than one snippet. Use a large font so the back row can read it. About 2 minutes.</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Replace each dashed box with a real, clear screenshot of your running project. Show the main flow in order: start, main work, output. If possible, do a 1-minute live demo instead of, or after, this slide. About 2 minutes.</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Show 4–6 test cases with real inputs and the real result. If a test failed and you fixed it, mention that: it shows honest testing. Say which testing types you used. About 1 minute.</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Replace the placeholders with real numbers from your project (modules finished, share of tests passed, classes written). Then list 3 clear advantages. Do not claim anything you cannot show. About 1 minute.</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 honest about 3 real problems you faced and how you fixed them. This shows hands-on learning. End with one line on your biggest learning. About 1 minute.</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Mention 3–4 realistic improvements. These should connect to the limitations you mentioned earlier. About 45 seconds.</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Connect back to the problem statement: you set out to solve it, and here is what you delivered. Do not add new information on this slide. About 45 seconds.</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List every book, website or paper you used. Use one consistent format (for example IEEE or APA). Copying without credit counts as plagiarism, so add everything you referred to.</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Smile, thank the audience and the guide, and invite questions. Keep your code, diagrams and screenshots ready. Common viva questions: why Java, what is the main class, which OOP concepts did you use, how does the database connect, what are the limitations.</a:t>
            </a:r>
            <a:endParaRPr lang="en-US"/>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5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30"/>
          </a:xfrm>
          <a:prstGeom prst="rect">
            <a:avLst/>
          </a:prstGeom>
          <a:noFill/>
        </p:spPr>
        <p:txBody>
          <a:bodyPr wrap="square" lIns="0" tIns="0" rIns="0" bIns="0" rtlCol="0" anchor="t"/>
          <a:lstStyle>
            <a:lvl1pPr marL="0" indent="0" algn="l">
              <a:lnSpc>
                <a:spcPct val="115000"/>
              </a:lnSpc>
              <a:buNone/>
              <a:defRPr lang="en-US" sz="3200" dirty="0">
                <a:solidFill>
                  <a:srgbClr val="14213D"/>
                </a:solidFill>
                <a:latin typeface="DM Sans" pitchFamily="34" charset="0"/>
                <a:ea typeface="DM Sans" pitchFamily="34" charset="-122"/>
                <a:cs typeface="DM Sans" pitchFamily="34" charset="-120"/>
              </a:defRPr>
            </a:lvl1pPr>
          </a:lstStyle>
          <a:p>
            <a:pPr marL="0" indent="0" algn="l">
              <a:lnSpc>
                <a:spcPct val="115000"/>
              </a:lnSpc>
              <a:buNone/>
            </a:pPr>
            <a:endParaRPr lang="en-US" sz="3200"/>
          </a:p>
        </p:txBody>
      </p:sp>
      <p:sp>
        <p:nvSpPr>
          <p:cNvPr id="3" name="Text Placeholder 2"/>
          <p:cNvSpPr>
            <a:spLocks noGrp="1"/>
          </p:cNvSpPr>
          <p:nvPr>
            <p:ph type="body" idx="101"/>
          </p:nvPr>
        </p:nvSpPr>
        <p:spPr>
          <a:xfrm>
            <a:off x="812800" y="1854150"/>
            <a:ext cx="10566400" cy="4191050"/>
          </a:xfrm>
          <a:prstGeom prst="rect">
            <a:avLst/>
          </a:prstGeom>
          <a:noFill/>
        </p:spPr>
        <p:txBody>
          <a:bodyPr wrap="square" lIns="0" tIns="0" rIns="0" bIns="0" rtlCol="0" anchor="t"/>
          <a:lstStyle>
            <a:lvl1pPr marL="0" indent="0" algn="l">
              <a:lnSpc>
                <a:spcPct val="140000"/>
              </a:lnSpc>
              <a:buNone/>
              <a:defRPr lang="en-US" sz="1600" dirty="0">
                <a:solidFill>
                  <a:srgbClr val="14213D"/>
                </a:solidFill>
                <a:latin typeface="DM Sans" pitchFamily="34" charset="0"/>
                <a:ea typeface="DM Sans" pitchFamily="34" charset="-122"/>
                <a:cs typeface="DM Sans" pitchFamily="34" charset="-120"/>
              </a:defRPr>
            </a:lvl1pPr>
          </a:lstStyle>
          <a:p>
            <a:pPr marL="0" indent="0" algn="l">
              <a:lnSpc>
                <a:spcPct val="140000"/>
              </a:lnSpc>
              <a:buNone/>
            </a:pPr>
            <a:endParaRPr lang="en-US" sz="160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30"/>
          </a:xfrm>
          <a:prstGeom prst="rect">
            <a:avLst/>
          </a:prstGeom>
          <a:noFill/>
        </p:spPr>
        <p:txBody>
          <a:bodyPr wrap="square" lIns="0" tIns="0" rIns="0" bIns="0" rtlCol="0" anchor="t"/>
          <a:lstStyle>
            <a:lvl1pPr marL="0" indent="0" algn="l">
              <a:lnSpc>
                <a:spcPct val="115000"/>
              </a:lnSpc>
              <a:buNone/>
              <a:defRPr lang="en-US" sz="3200" dirty="0">
                <a:solidFill>
                  <a:srgbClr val="14213D"/>
                </a:solidFill>
                <a:latin typeface="DM Sans" pitchFamily="34" charset="0"/>
                <a:ea typeface="DM Sans" pitchFamily="34" charset="-122"/>
                <a:cs typeface="DM Sans" pitchFamily="34" charset="-120"/>
              </a:defRPr>
            </a:lvl1pPr>
          </a:lstStyle>
          <a:p>
            <a:pPr marL="0" indent="0" algn="l">
              <a:lnSpc>
                <a:spcPct val="115000"/>
              </a:lnSpc>
              <a:buNone/>
            </a:pPr>
            <a:endParaRPr lang="en-US" sz="3200"/>
          </a:p>
        </p:txBody>
      </p:sp>
      <p:sp>
        <p:nvSpPr>
          <p:cNvPr id="3" name="Text Placeholder 2"/>
          <p:cNvSpPr>
            <a:spLocks noGrp="1"/>
          </p:cNvSpPr>
          <p:nvPr>
            <p:ph type="body" idx="101"/>
          </p:nvPr>
        </p:nvSpPr>
        <p:spPr>
          <a:xfrm>
            <a:off x="812800" y="1854150"/>
            <a:ext cx="10566400" cy="4191050"/>
          </a:xfrm>
          <a:prstGeom prst="rect">
            <a:avLst/>
          </a:prstGeom>
          <a:noFill/>
        </p:spPr>
        <p:txBody>
          <a:bodyPr wrap="square" lIns="0" tIns="0" rIns="0" bIns="0" rtlCol="0" anchor="t"/>
          <a:lstStyle>
            <a:lvl1pPr marL="0" indent="0" algn="l">
              <a:lnSpc>
                <a:spcPct val="140000"/>
              </a:lnSpc>
              <a:buNone/>
              <a:defRPr lang="en-US" sz="1600" dirty="0">
                <a:solidFill>
                  <a:srgbClr val="14213D"/>
                </a:solidFill>
                <a:latin typeface="DM Sans" pitchFamily="34" charset="0"/>
                <a:ea typeface="DM Sans" pitchFamily="34" charset="-122"/>
                <a:cs typeface="DM Sans" pitchFamily="34" charset="-120"/>
              </a:defRPr>
            </a:lvl1pPr>
          </a:lstStyle>
          <a:p>
            <a:pPr marL="0" indent="0" algn="l">
              <a:lnSpc>
                <a:spcPct val="140000"/>
              </a:lnSpc>
              <a:buNone/>
            </a:pPr>
            <a:endParaRPr lang="en-US" sz="16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image" Target="../media/image11.jpeg"/><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9.xml"/><Relationship Id="rId5" Type="http://schemas.openxmlformats.org/officeDocument/2006/relationships/slideLayout" Target="../slideLayouts/slideLayout2.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2116485" cy="365720"/>
          </a:xfrm>
          <a:prstGeom prst="roundRect">
            <a:avLst>
              <a:gd name="adj" fmla="val 50000"/>
            </a:avLst>
          </a:prstGeom>
          <a:solidFill>
            <a:srgbClr val="E8772E"/>
          </a:solidFill>
        </p:spPr>
        <p:txBody>
          <a:bodyPr wrap="none" lIns="0" tIns="0" rIns="0" bIns="0" rtlCol="0" anchor="ctr">
            <a:normAutofit/>
          </a:bodyPr>
          <a:lstStyle/>
          <a:p>
            <a:pPr marL="0" indent="0" algn="ctr">
              <a:lnSpc>
                <a:spcPts val="1680"/>
              </a:lnSpc>
              <a:buNone/>
            </a:pPr>
            <a:r>
              <a:rPr lang="en-US" sz="1200" b="1" kern="0" spc="150">
                <a:solidFill>
                  <a:srgbClr val="14213D"/>
                </a:solidFill>
                <a:latin typeface="DM Sans" pitchFamily="34" charset="0"/>
                <a:ea typeface="DM Sans" pitchFamily="34" charset="-122"/>
                <a:cs typeface="DM Sans" pitchFamily="34" charset="-120"/>
              </a:rPr>
              <a:t>JAVA MINI PROJECT</a:t>
            </a:r>
            <a:endParaRPr lang="en-US" sz="1200"/>
          </a:p>
        </p:txBody>
      </p:sp>
      <p:sp>
        <p:nvSpPr>
          <p:cNvPr id="3" name="Text 1"/>
          <p:cNvSpPr>
            <a:spLocks noGrp="1"/>
          </p:cNvSpPr>
          <p:nvPr>
            <p:ph type="title"/>
          </p:nvPr>
        </p:nvSpPr>
        <p:spPr>
          <a:xfrm>
            <a:off x="272648" y="1179163"/>
            <a:ext cx="7064608" cy="751830"/>
          </a:xfrm>
          <a:prstGeom prst="rect">
            <a:avLst/>
          </a:prstGeom>
          <a:noFill/>
        </p:spPr>
        <p:txBody>
          <a:bodyPr wrap="square" lIns="0" tIns="0" rIns="0" bIns="0" rtlCol="0" anchor="t">
            <a:normAutofit/>
          </a:bodyPr>
          <a:lstStyle/>
          <a:p>
            <a:pPr>
              <a:lnSpc>
                <a:spcPts val="5720"/>
              </a:lnSpc>
            </a:pPr>
            <a:r>
              <a:rPr lang="en-US" sz="5200" b="1">
                <a:solidFill>
                  <a:srgbClr val="F7F5EF"/>
                </a:solidFill>
                <a:latin typeface="DM Sans"/>
              </a:rPr>
              <a:t>[FRZII-PAY]</a:t>
            </a:r>
            <a:endParaRPr lang="en-US" sz="5200"/>
          </a:p>
        </p:txBody>
      </p:sp>
      <p:sp>
        <p:nvSpPr>
          <p:cNvPr id="4" name="Text 2"/>
          <p:cNvSpPr/>
          <p:nvPr/>
        </p:nvSpPr>
        <p:spPr>
          <a:xfrm>
            <a:off x="812800" y="2311350"/>
            <a:ext cx="9217164" cy="355600"/>
          </a:xfrm>
          <a:prstGeom prst="rect">
            <a:avLst/>
          </a:prstGeom>
          <a:noFill/>
        </p:spPr>
        <p:txBody>
          <a:bodyPr wrap="square" lIns="0" tIns="0" rIns="0" bIns="0" rtlCol="0" anchor="t">
            <a:normAutofit/>
          </a:bodyPr>
          <a:lstStyle/>
          <a:p>
            <a:pPr marL="0" indent="0" algn="l">
              <a:lnSpc>
                <a:spcPts val="2600"/>
              </a:lnSpc>
              <a:buNone/>
            </a:pPr>
            <a:r>
              <a:rPr lang="en-US" sz="2000">
                <a:solidFill>
                  <a:srgbClr val="C9D1E3"/>
                </a:solidFill>
                <a:latin typeface="DM Sans" pitchFamily="34" charset="0"/>
                <a:ea typeface="DM Sans" pitchFamily="34" charset="-122"/>
                <a:cs typeface="DM Sans" pitchFamily="34" charset="-120"/>
              </a:rPr>
              <a:t>A Java-based [console / desktop / web] application for [purpose]</a:t>
            </a:r>
            <a:endParaRPr lang="en-US" sz="2000"/>
          </a:p>
        </p:txBody>
      </p:sp>
      <p:sp>
        <p:nvSpPr>
          <p:cNvPr id="5" name="Shape 3"/>
          <p:cNvSpPr/>
          <p:nvPr/>
        </p:nvSpPr>
        <p:spPr>
          <a:xfrm>
            <a:off x="812800" y="5095974"/>
            <a:ext cx="3318917" cy="0"/>
          </a:xfrm>
          <a:prstGeom prst="line">
            <a:avLst/>
          </a:prstGeom>
          <a:noFill/>
          <a:ln w="19050">
            <a:solidFill>
              <a:srgbClr val="E8772E"/>
            </a:solidFill>
            <a:prstDash val="solid"/>
          </a:ln>
        </p:spPr>
      </p:sp>
      <p:sp>
        <p:nvSpPr>
          <p:cNvPr id="6" name="Text 4"/>
          <p:cNvSpPr/>
          <p:nvPr/>
        </p:nvSpPr>
        <p:spPr>
          <a:xfrm>
            <a:off x="812800" y="5232499"/>
            <a:ext cx="3418484" cy="238720"/>
          </a:xfrm>
          <a:prstGeom prst="rect">
            <a:avLst/>
          </a:prstGeom>
          <a:noFill/>
        </p:spPr>
        <p:txBody>
          <a:bodyPr wrap="square" lIns="0" tIns="0" rIns="0" bIns="0" rtlCol="0" anchor="t">
            <a:normAutofit/>
          </a:bodyPr>
          <a:lstStyle/>
          <a:p>
            <a:pPr marL="0" indent="0" algn="l">
              <a:lnSpc>
                <a:spcPts val="1680"/>
              </a:lnSpc>
              <a:buNone/>
            </a:pPr>
            <a:r>
              <a:rPr lang="en-US" sz="1200" b="1" kern="0" spc="100">
                <a:solidFill>
                  <a:srgbClr val="E8772E"/>
                </a:solidFill>
                <a:latin typeface="DM Sans" pitchFamily="34" charset="0"/>
                <a:ea typeface="DM Sans" pitchFamily="34" charset="-122"/>
                <a:cs typeface="DM Sans" pitchFamily="34" charset="-120"/>
              </a:rPr>
              <a:t>SUBMITTED BY</a:t>
            </a:r>
            <a:endParaRPr lang="en-US" sz="1200"/>
          </a:p>
        </p:txBody>
      </p:sp>
      <p:sp>
        <p:nvSpPr>
          <p:cNvPr id="7" name="Text 5"/>
          <p:cNvSpPr/>
          <p:nvPr/>
        </p:nvSpPr>
        <p:spPr>
          <a:xfrm>
            <a:off x="812800" y="5496620"/>
            <a:ext cx="3418484" cy="274290"/>
          </a:xfrm>
          <a:prstGeom prst="rect">
            <a:avLst/>
          </a:prstGeom>
          <a:noFill/>
        </p:spPr>
        <p:txBody>
          <a:bodyPr wrap="square" lIns="0" tIns="0" rIns="0" bIns="0" rtlCol="0" anchor="t">
            <a:normAutofit/>
          </a:bodyPr>
          <a:lstStyle/>
          <a:p>
            <a:pPr>
              <a:lnSpc>
                <a:spcPts val="1960"/>
              </a:lnSpc>
            </a:pPr>
            <a:r>
              <a:rPr lang="en-US" sz="1400">
                <a:solidFill>
                  <a:srgbClr val="F7F5EF"/>
                </a:solidFill>
                <a:latin typeface="DM Sans"/>
                <a:ea typeface="DM Sans" pitchFamily="34" charset="-122"/>
                <a:cs typeface="DM Sans" pitchFamily="34" charset="-120"/>
              </a:rPr>
              <a:t>[PRACHI SINDAL] ([Roll No])</a:t>
            </a:r>
            <a:endParaRPr lang="en-US" sz="1400">
              <a:latin typeface="DM Sans"/>
            </a:endParaRPr>
          </a:p>
        </p:txBody>
      </p:sp>
      <p:sp>
        <p:nvSpPr>
          <p:cNvPr id="8" name="Text 6"/>
          <p:cNvSpPr/>
          <p:nvPr/>
        </p:nvSpPr>
        <p:spPr>
          <a:xfrm>
            <a:off x="812800" y="5796310"/>
            <a:ext cx="3418484" cy="274290"/>
          </a:xfrm>
          <a:prstGeom prst="rect">
            <a:avLst/>
          </a:prstGeom>
          <a:noFill/>
        </p:spPr>
        <p:txBody>
          <a:bodyPr wrap="square" lIns="0" tIns="0" rIns="0" bIns="0" rtlCol="0" anchor="t">
            <a:normAutofit/>
          </a:bodyPr>
          <a:lstStyle/>
          <a:p>
            <a:pPr marL="0" indent="0" algn="l">
              <a:lnSpc>
                <a:spcPts val="1960"/>
              </a:lnSpc>
              <a:buNone/>
            </a:pPr>
            <a:r>
              <a:rPr lang="en-US" sz="1400">
                <a:solidFill>
                  <a:srgbClr val="F7F5EF"/>
                </a:solidFill>
                <a:latin typeface="DM Sans"/>
                <a:ea typeface="DM Sans" pitchFamily="34" charset="-122"/>
                <a:cs typeface="DM Sans" pitchFamily="34" charset="-120"/>
              </a:rPr>
              <a:t>[MANISH] ([Roll No])</a:t>
            </a:r>
            <a:endParaRPr lang="en-US" sz="1400">
              <a:latin typeface="DM Sans"/>
            </a:endParaRPr>
          </a:p>
        </p:txBody>
      </p:sp>
      <p:sp>
        <p:nvSpPr>
          <p:cNvPr id="9" name="Shape 7"/>
          <p:cNvSpPr/>
          <p:nvPr/>
        </p:nvSpPr>
        <p:spPr>
          <a:xfrm>
            <a:off x="4436517" y="5095974"/>
            <a:ext cx="3318966" cy="0"/>
          </a:xfrm>
          <a:prstGeom prst="line">
            <a:avLst/>
          </a:prstGeom>
          <a:noFill/>
          <a:ln w="19050">
            <a:solidFill>
              <a:srgbClr val="E8772E"/>
            </a:solidFill>
            <a:prstDash val="solid"/>
          </a:ln>
        </p:spPr>
      </p:sp>
      <p:sp>
        <p:nvSpPr>
          <p:cNvPr id="10" name="Text 8"/>
          <p:cNvSpPr/>
          <p:nvPr/>
        </p:nvSpPr>
        <p:spPr>
          <a:xfrm>
            <a:off x="4436517" y="5232499"/>
            <a:ext cx="3418535" cy="238720"/>
          </a:xfrm>
          <a:prstGeom prst="rect">
            <a:avLst/>
          </a:prstGeom>
          <a:noFill/>
        </p:spPr>
        <p:txBody>
          <a:bodyPr wrap="square" lIns="0" tIns="0" rIns="0" bIns="0" rtlCol="0" anchor="t">
            <a:normAutofit/>
          </a:bodyPr>
          <a:lstStyle/>
          <a:p>
            <a:pPr marL="0" indent="0" algn="l">
              <a:lnSpc>
                <a:spcPts val="1680"/>
              </a:lnSpc>
              <a:buNone/>
            </a:pPr>
            <a:r>
              <a:rPr lang="en-US" sz="1200" b="1" kern="0" spc="100">
                <a:solidFill>
                  <a:srgbClr val="E8772E"/>
                </a:solidFill>
                <a:latin typeface="DM Sans" pitchFamily="34" charset="0"/>
                <a:ea typeface="DM Sans" pitchFamily="34" charset="-122"/>
                <a:cs typeface="DM Sans" pitchFamily="34" charset="-120"/>
              </a:rPr>
              <a:t>GUIDED BY</a:t>
            </a:r>
            <a:endParaRPr lang="en-US" sz="1200"/>
          </a:p>
        </p:txBody>
      </p:sp>
      <p:sp>
        <p:nvSpPr>
          <p:cNvPr id="11" name="Text 9"/>
          <p:cNvSpPr/>
          <p:nvPr/>
        </p:nvSpPr>
        <p:spPr>
          <a:xfrm>
            <a:off x="4436517" y="5496620"/>
            <a:ext cx="3418535" cy="274290"/>
          </a:xfrm>
          <a:prstGeom prst="rect">
            <a:avLst/>
          </a:prstGeom>
          <a:noFill/>
        </p:spPr>
        <p:txBody>
          <a:bodyPr wrap="square" lIns="0" tIns="0" rIns="0" bIns="0" rtlCol="0" anchor="t">
            <a:normAutofit/>
          </a:bodyPr>
          <a:lstStyle/>
          <a:p>
            <a:pPr marL="0" indent="0" algn="l">
              <a:lnSpc>
                <a:spcPts val="1960"/>
              </a:lnSpc>
              <a:buNone/>
            </a:pPr>
            <a:r>
              <a:rPr lang="en-US" sz="1400">
                <a:solidFill>
                  <a:srgbClr val="F7F5EF"/>
                </a:solidFill>
                <a:latin typeface="DM Sans"/>
              </a:rPr>
              <a:t>[GEMINI]</a:t>
            </a:r>
            <a:endParaRPr lang="en-US" sz="1400">
              <a:latin typeface="DM Sans"/>
            </a:endParaRPr>
          </a:p>
        </p:txBody>
      </p:sp>
      <p:sp>
        <p:nvSpPr>
          <p:cNvPr id="12" name="Text 10"/>
          <p:cNvSpPr/>
          <p:nvPr/>
        </p:nvSpPr>
        <p:spPr>
          <a:xfrm>
            <a:off x="4436517" y="5796310"/>
            <a:ext cx="3418535" cy="274290"/>
          </a:xfrm>
          <a:prstGeom prst="rect">
            <a:avLst/>
          </a:prstGeom>
          <a:noFill/>
        </p:spPr>
        <p:txBody>
          <a:bodyPr wrap="square" lIns="0" tIns="0" rIns="0" bIns="0" rtlCol="0" anchor="t">
            <a:normAutofit/>
          </a:bodyPr>
          <a:lstStyle/>
          <a:p>
            <a:pPr marL="0" indent="0" algn="l">
              <a:lnSpc>
                <a:spcPts val="1960"/>
              </a:lnSpc>
              <a:buNone/>
            </a:pPr>
            <a:r>
              <a:rPr lang="en-US" sz="1400">
                <a:solidFill>
                  <a:srgbClr val="F7F5EF"/>
                </a:solidFill>
                <a:latin typeface="DM Sans" pitchFamily="34" charset="0"/>
                <a:ea typeface="DM Sans" pitchFamily="34" charset="-122"/>
                <a:cs typeface="DM Sans" pitchFamily="34" charset="-120"/>
              </a:rPr>
              <a:t>[Designation, Department]</a:t>
            </a:r>
            <a:endParaRPr lang="en-US" sz="1400"/>
          </a:p>
        </p:txBody>
      </p:sp>
      <p:sp>
        <p:nvSpPr>
          <p:cNvPr id="13" name="Shape 11"/>
          <p:cNvSpPr/>
          <p:nvPr/>
        </p:nvSpPr>
        <p:spPr>
          <a:xfrm>
            <a:off x="8060283" y="5095974"/>
            <a:ext cx="3318917" cy="0"/>
          </a:xfrm>
          <a:prstGeom prst="line">
            <a:avLst/>
          </a:prstGeom>
          <a:noFill/>
          <a:ln w="19050">
            <a:solidFill>
              <a:srgbClr val="E8772E"/>
            </a:solidFill>
            <a:prstDash val="solid"/>
          </a:ln>
        </p:spPr>
      </p:sp>
      <p:sp>
        <p:nvSpPr>
          <p:cNvPr id="14" name="Text 12"/>
          <p:cNvSpPr/>
          <p:nvPr/>
        </p:nvSpPr>
        <p:spPr>
          <a:xfrm>
            <a:off x="8060283" y="5232499"/>
            <a:ext cx="3418484" cy="238720"/>
          </a:xfrm>
          <a:prstGeom prst="rect">
            <a:avLst/>
          </a:prstGeom>
          <a:noFill/>
        </p:spPr>
        <p:txBody>
          <a:bodyPr wrap="square" lIns="0" tIns="0" rIns="0" bIns="0" rtlCol="0" anchor="t">
            <a:normAutofit/>
          </a:bodyPr>
          <a:lstStyle/>
          <a:p>
            <a:pPr marL="0" indent="0" algn="l">
              <a:lnSpc>
                <a:spcPts val="1680"/>
              </a:lnSpc>
              <a:buNone/>
            </a:pPr>
            <a:r>
              <a:rPr lang="en-US" sz="1200" b="1" kern="0" spc="100">
                <a:solidFill>
                  <a:srgbClr val="E8772E"/>
                </a:solidFill>
                <a:latin typeface="DM Sans" pitchFamily="34" charset="0"/>
                <a:ea typeface="DM Sans" pitchFamily="34" charset="-122"/>
                <a:cs typeface="DM Sans" pitchFamily="34" charset="-120"/>
              </a:rPr>
              <a:t>INSTITUTE</a:t>
            </a:r>
            <a:endParaRPr lang="en-US" sz="1200"/>
          </a:p>
        </p:txBody>
      </p:sp>
      <p:sp>
        <p:nvSpPr>
          <p:cNvPr id="15" name="Text 13"/>
          <p:cNvSpPr/>
          <p:nvPr/>
        </p:nvSpPr>
        <p:spPr>
          <a:xfrm>
            <a:off x="8060283" y="5496620"/>
            <a:ext cx="3418484" cy="274290"/>
          </a:xfrm>
          <a:prstGeom prst="rect">
            <a:avLst/>
          </a:prstGeom>
          <a:noFill/>
        </p:spPr>
        <p:txBody>
          <a:bodyPr wrap="square" lIns="0" tIns="0" rIns="0" bIns="0" rtlCol="0" anchor="t">
            <a:normAutofit fontScale="85000" lnSpcReduction="10000"/>
          </a:bodyPr>
          <a:lstStyle/>
          <a:p>
            <a:pPr>
              <a:lnSpc>
                <a:spcPts val="1960"/>
              </a:lnSpc>
            </a:pPr>
            <a:r>
              <a:rPr lang="en-US" sz="1400">
                <a:solidFill>
                  <a:srgbClr val="F7F5EF"/>
                </a:solidFill>
                <a:latin typeface="DM Sans"/>
              </a:rPr>
              <a:t>[ADARSH COLLEGE OF PROFESSIONAL STUDIES]</a:t>
            </a:r>
            <a:endParaRPr lang="en-US" sz="1400">
              <a:latin typeface="DM Sans"/>
            </a:endParaRPr>
          </a:p>
        </p:txBody>
      </p:sp>
      <p:sp>
        <p:nvSpPr>
          <p:cNvPr id="16" name="Text 14"/>
          <p:cNvSpPr/>
          <p:nvPr/>
        </p:nvSpPr>
        <p:spPr>
          <a:xfrm>
            <a:off x="8060283" y="5796310"/>
            <a:ext cx="3418484" cy="274290"/>
          </a:xfrm>
          <a:prstGeom prst="rect">
            <a:avLst/>
          </a:prstGeom>
          <a:noFill/>
        </p:spPr>
        <p:txBody>
          <a:bodyPr wrap="square" lIns="0" tIns="0" rIns="0" bIns="0" rtlCol="0" anchor="t">
            <a:normAutofit/>
          </a:bodyPr>
          <a:lstStyle/>
          <a:p>
            <a:pPr marL="0" indent="0" algn="l">
              <a:lnSpc>
                <a:spcPts val="1960"/>
              </a:lnSpc>
              <a:buNone/>
            </a:pPr>
            <a:r>
              <a:rPr lang="en-US" sz="1400">
                <a:solidFill>
                  <a:srgbClr val="F7F5EF"/>
                </a:solidFill>
                <a:latin typeface="DM Sans" pitchFamily="34" charset="0"/>
                <a:ea typeface="DM Sans" pitchFamily="34" charset="-122"/>
                <a:cs typeface="DM Sans" pitchFamily="34" charset="-120"/>
              </a:rPr>
              <a:t>[Department] · [Session, e.g. 2026–27]</a:t>
            </a:r>
            <a:endParaRPr lang="en-US" sz="1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a:solidFill>
                  <a:srgbClr val="B4490F"/>
                </a:solidFill>
                <a:latin typeface="DM Sans" pitchFamily="34" charset="0"/>
                <a:ea typeface="DM Sans" pitchFamily="34" charset="-122"/>
                <a:cs typeface="DM Sans" pitchFamily="34" charset="-120"/>
              </a:rPr>
              <a:t>OVERVIEW</a:t>
            </a:r>
            <a:endParaRPr lang="en-US" sz="1200"/>
          </a:p>
        </p:txBody>
      </p:sp>
      <p:sp>
        <p:nvSpPr>
          <p:cNvPr id="3" name="Text 1"/>
          <p:cNvSpPr>
            <a:spLocks noGrp="1"/>
          </p:cNvSpPr>
          <p:nvPr>
            <p:ph type="title"/>
          </p:nvPr>
        </p:nvSpPr>
        <p:spPr>
          <a:xfrm>
            <a:off x="812800" y="1102320"/>
            <a:ext cx="10883392" cy="472430"/>
          </a:xfrm>
          <a:prstGeom prst="rect">
            <a:avLst/>
          </a:prstGeom>
          <a:noFill/>
        </p:spPr>
        <p:txBody>
          <a:bodyPr wrap="square" lIns="0" tIns="0" rIns="0" bIns="0" rtlCol="0" anchor="t">
            <a:normAutofit/>
          </a:bodyPr>
          <a:lstStyle/>
          <a:p>
            <a:pPr marL="0" indent="0" algn="l">
              <a:lnSpc>
                <a:spcPts val="3520"/>
              </a:lnSpc>
              <a:buNone/>
            </a:pPr>
            <a:r>
              <a:rPr lang="en-US" sz="3200" b="1" i="0">
                <a:solidFill>
                  <a:srgbClr val="14213D"/>
                </a:solidFill>
                <a:latin typeface="DM Sans" pitchFamily="34" charset="0"/>
                <a:ea typeface="DM Sans" pitchFamily="34" charset="-122"/>
                <a:cs typeface="DM Sans" pitchFamily="34" charset="-120"/>
              </a:rPr>
              <a:t>Agenda</a:t>
            </a:r>
            <a:endParaRPr lang="en-US" sz="3200"/>
          </a:p>
        </p:txBody>
      </p:sp>
      <p:sp>
        <p:nvSpPr>
          <p:cNvPr id="4" name="Shape 2"/>
          <p:cNvSpPr/>
          <p:nvPr/>
        </p:nvSpPr>
        <p:spPr>
          <a:xfrm>
            <a:off x="815975" y="1806525"/>
            <a:ext cx="3414167" cy="927100"/>
          </a:xfrm>
          <a:prstGeom prst="roundRect">
            <a:avLst>
              <a:gd name="adj" fmla="val 10616"/>
            </a:avLst>
          </a:prstGeom>
          <a:solidFill>
            <a:srgbClr val="FFFFFF"/>
          </a:solidFill>
          <a:ln w="6350">
            <a:solidFill>
              <a:srgbClr val="DDD8CC"/>
            </a:solidFill>
            <a:prstDash val="solid"/>
          </a:ln>
        </p:spPr>
      </p:sp>
      <p:sp>
        <p:nvSpPr>
          <p:cNvPr id="5" name="Text 3"/>
          <p:cNvSpPr/>
          <p:nvPr/>
        </p:nvSpPr>
        <p:spPr>
          <a:xfrm>
            <a:off x="996950" y="1987500"/>
            <a:ext cx="3143783" cy="292100"/>
          </a:xfrm>
          <a:prstGeom prst="rect">
            <a:avLst/>
          </a:prstGeom>
          <a:noFill/>
        </p:spPr>
        <p:txBody>
          <a:bodyPr wrap="square" lIns="0" tIns="0" rIns="0" bIns="0" rtlCol="0" anchor="t">
            <a:normAutofit/>
          </a:bodyPr>
          <a:lstStyle/>
          <a:p>
            <a:pPr marL="0" indent="0" algn="l">
              <a:lnSpc>
                <a:spcPts val="2100"/>
              </a:lnSpc>
              <a:buNone/>
            </a:pPr>
            <a:r>
              <a:rPr lang="en-US" sz="1500" b="1">
                <a:solidFill>
                  <a:srgbClr val="B4490F"/>
                </a:solidFill>
                <a:latin typeface="DM Sans" pitchFamily="34" charset="0"/>
                <a:ea typeface="DM Sans" pitchFamily="34" charset="-122"/>
                <a:cs typeface="DM Sans" pitchFamily="34" charset="-120"/>
              </a:rPr>
              <a:t>01</a:t>
            </a:r>
            <a:endParaRPr lang="en-US" sz="1500"/>
          </a:p>
        </p:txBody>
      </p:sp>
      <p:sp>
        <p:nvSpPr>
          <p:cNvPr id="6" name="Text 4"/>
          <p:cNvSpPr/>
          <p:nvPr/>
        </p:nvSpPr>
        <p:spPr>
          <a:xfrm>
            <a:off x="996950" y="2305000"/>
            <a:ext cx="3143783" cy="273050"/>
          </a:xfrm>
          <a:prstGeom prst="rect">
            <a:avLst/>
          </a:prstGeom>
          <a:noFill/>
        </p:spPr>
        <p:txBody>
          <a:bodyPr wrap="square" lIns="0" tIns="0" rIns="0" bIns="0" rtlCol="0" anchor="t">
            <a:normAutofit/>
          </a:bodyPr>
          <a:lstStyle/>
          <a:p>
            <a:pPr marL="0" indent="0" algn="l">
              <a:lnSpc>
                <a:spcPts val="1950"/>
              </a:lnSpc>
              <a:buNone/>
            </a:pPr>
            <a:r>
              <a:rPr lang="en-US" sz="1500" b="1">
                <a:solidFill>
                  <a:srgbClr val="14213D"/>
                </a:solidFill>
                <a:latin typeface="DM Sans" pitchFamily="34" charset="0"/>
                <a:ea typeface="DM Sans" pitchFamily="34" charset="-122"/>
                <a:cs typeface="DM Sans" pitchFamily="34" charset="-120"/>
              </a:rPr>
              <a:t>Introduction &amp; Problem</a:t>
            </a:r>
            <a:endParaRPr lang="en-US" sz="1500"/>
          </a:p>
        </p:txBody>
      </p:sp>
      <p:sp>
        <p:nvSpPr>
          <p:cNvPr id="7" name="Shape 5"/>
          <p:cNvSpPr/>
          <p:nvPr/>
        </p:nvSpPr>
        <p:spPr>
          <a:xfrm>
            <a:off x="4388892" y="1806525"/>
            <a:ext cx="3414167" cy="927100"/>
          </a:xfrm>
          <a:prstGeom prst="roundRect">
            <a:avLst>
              <a:gd name="adj" fmla="val 10616"/>
            </a:avLst>
          </a:prstGeom>
          <a:solidFill>
            <a:srgbClr val="FFFFFF"/>
          </a:solidFill>
          <a:ln w="6350">
            <a:solidFill>
              <a:srgbClr val="DDD8CC"/>
            </a:solidFill>
            <a:prstDash val="solid"/>
          </a:ln>
        </p:spPr>
      </p:sp>
      <p:sp>
        <p:nvSpPr>
          <p:cNvPr id="8" name="Text 6"/>
          <p:cNvSpPr/>
          <p:nvPr/>
        </p:nvSpPr>
        <p:spPr>
          <a:xfrm>
            <a:off x="4569867" y="1987500"/>
            <a:ext cx="3143783" cy="292100"/>
          </a:xfrm>
          <a:prstGeom prst="rect">
            <a:avLst/>
          </a:prstGeom>
          <a:noFill/>
        </p:spPr>
        <p:txBody>
          <a:bodyPr wrap="square" lIns="0" tIns="0" rIns="0" bIns="0" rtlCol="0" anchor="t">
            <a:normAutofit/>
          </a:bodyPr>
          <a:lstStyle/>
          <a:p>
            <a:pPr marL="0" indent="0" algn="l">
              <a:lnSpc>
                <a:spcPts val="2100"/>
              </a:lnSpc>
              <a:buNone/>
            </a:pPr>
            <a:r>
              <a:rPr lang="en-US" sz="1500" b="1">
                <a:solidFill>
                  <a:srgbClr val="B4490F"/>
                </a:solidFill>
                <a:latin typeface="DM Sans" pitchFamily="34" charset="0"/>
                <a:ea typeface="DM Sans" pitchFamily="34" charset="-122"/>
                <a:cs typeface="DM Sans" pitchFamily="34" charset="-120"/>
              </a:rPr>
              <a:t>02</a:t>
            </a:r>
            <a:endParaRPr lang="en-US" sz="1500"/>
          </a:p>
        </p:txBody>
      </p:sp>
      <p:sp>
        <p:nvSpPr>
          <p:cNvPr id="9" name="Text 7"/>
          <p:cNvSpPr/>
          <p:nvPr/>
        </p:nvSpPr>
        <p:spPr>
          <a:xfrm>
            <a:off x="4569867" y="2305000"/>
            <a:ext cx="3143783" cy="273050"/>
          </a:xfrm>
          <a:prstGeom prst="rect">
            <a:avLst/>
          </a:prstGeom>
          <a:noFill/>
        </p:spPr>
        <p:txBody>
          <a:bodyPr wrap="square" lIns="0" tIns="0" rIns="0" bIns="0" rtlCol="0" anchor="t">
            <a:normAutofit/>
          </a:bodyPr>
          <a:lstStyle/>
          <a:p>
            <a:pPr marL="0" indent="0" algn="l">
              <a:lnSpc>
                <a:spcPts val="1950"/>
              </a:lnSpc>
              <a:buNone/>
            </a:pPr>
            <a:r>
              <a:rPr lang="en-US" sz="1500" b="1">
                <a:solidFill>
                  <a:srgbClr val="14213D"/>
                </a:solidFill>
                <a:latin typeface="DM Sans" pitchFamily="34" charset="0"/>
                <a:ea typeface="DM Sans" pitchFamily="34" charset="-122"/>
                <a:cs typeface="DM Sans" pitchFamily="34" charset="-120"/>
              </a:rPr>
              <a:t>Objectives &amp; Scope</a:t>
            </a:r>
            <a:endParaRPr lang="en-US" sz="1500"/>
          </a:p>
        </p:txBody>
      </p:sp>
      <p:sp>
        <p:nvSpPr>
          <p:cNvPr id="10" name="Shape 8"/>
          <p:cNvSpPr/>
          <p:nvPr/>
        </p:nvSpPr>
        <p:spPr>
          <a:xfrm>
            <a:off x="7961809" y="1806525"/>
            <a:ext cx="3414216" cy="927100"/>
          </a:xfrm>
          <a:prstGeom prst="roundRect">
            <a:avLst>
              <a:gd name="adj" fmla="val 10616"/>
            </a:avLst>
          </a:prstGeom>
          <a:solidFill>
            <a:srgbClr val="FFFFFF"/>
          </a:solidFill>
          <a:ln w="6350">
            <a:solidFill>
              <a:srgbClr val="DDD8CC"/>
            </a:solidFill>
            <a:prstDash val="solid"/>
          </a:ln>
        </p:spPr>
      </p:sp>
      <p:sp>
        <p:nvSpPr>
          <p:cNvPr id="11" name="Text 9"/>
          <p:cNvSpPr/>
          <p:nvPr/>
        </p:nvSpPr>
        <p:spPr>
          <a:xfrm>
            <a:off x="8142784" y="1987500"/>
            <a:ext cx="3143834" cy="292100"/>
          </a:xfrm>
          <a:prstGeom prst="rect">
            <a:avLst/>
          </a:prstGeom>
          <a:noFill/>
        </p:spPr>
        <p:txBody>
          <a:bodyPr wrap="square" lIns="0" tIns="0" rIns="0" bIns="0" rtlCol="0" anchor="t">
            <a:normAutofit/>
          </a:bodyPr>
          <a:lstStyle/>
          <a:p>
            <a:pPr marL="0" indent="0" algn="l">
              <a:lnSpc>
                <a:spcPts val="2100"/>
              </a:lnSpc>
              <a:buNone/>
            </a:pPr>
            <a:r>
              <a:rPr lang="en-US" sz="1500" b="1">
                <a:solidFill>
                  <a:srgbClr val="B4490F"/>
                </a:solidFill>
                <a:latin typeface="DM Sans" pitchFamily="34" charset="0"/>
                <a:ea typeface="DM Sans" pitchFamily="34" charset="-122"/>
                <a:cs typeface="DM Sans" pitchFamily="34" charset="-120"/>
              </a:rPr>
              <a:t>03</a:t>
            </a:r>
            <a:endParaRPr lang="en-US" sz="1500"/>
          </a:p>
        </p:txBody>
      </p:sp>
      <p:sp>
        <p:nvSpPr>
          <p:cNvPr id="12" name="Text 10"/>
          <p:cNvSpPr/>
          <p:nvPr/>
        </p:nvSpPr>
        <p:spPr>
          <a:xfrm>
            <a:off x="8142784" y="2305000"/>
            <a:ext cx="3143834" cy="273050"/>
          </a:xfrm>
          <a:prstGeom prst="rect">
            <a:avLst/>
          </a:prstGeom>
          <a:noFill/>
        </p:spPr>
        <p:txBody>
          <a:bodyPr wrap="square" lIns="0" tIns="0" rIns="0" bIns="0" rtlCol="0" anchor="t">
            <a:normAutofit/>
          </a:bodyPr>
          <a:lstStyle/>
          <a:p>
            <a:pPr marL="0" indent="0" algn="l">
              <a:lnSpc>
                <a:spcPts val="1950"/>
              </a:lnSpc>
              <a:buNone/>
            </a:pPr>
            <a:r>
              <a:rPr lang="en-US" sz="1500" b="1">
                <a:solidFill>
                  <a:srgbClr val="14213D"/>
                </a:solidFill>
                <a:latin typeface="DM Sans" pitchFamily="34" charset="0"/>
                <a:ea typeface="DM Sans" pitchFamily="34" charset="-122"/>
                <a:cs typeface="DM Sans" pitchFamily="34" charset="-120"/>
              </a:rPr>
              <a:t>Existing vs Proposed System</a:t>
            </a:r>
            <a:endParaRPr lang="en-US" sz="1500"/>
          </a:p>
        </p:txBody>
      </p:sp>
      <p:sp>
        <p:nvSpPr>
          <p:cNvPr id="13" name="Shape 11"/>
          <p:cNvSpPr/>
          <p:nvPr/>
        </p:nvSpPr>
        <p:spPr>
          <a:xfrm>
            <a:off x="815975" y="2892375"/>
            <a:ext cx="3414167" cy="1174750"/>
          </a:xfrm>
          <a:prstGeom prst="roundRect">
            <a:avLst>
              <a:gd name="adj" fmla="val 8378"/>
            </a:avLst>
          </a:prstGeom>
          <a:solidFill>
            <a:srgbClr val="FFFFFF"/>
          </a:solidFill>
          <a:ln w="6350">
            <a:solidFill>
              <a:srgbClr val="DDD8CC"/>
            </a:solidFill>
            <a:prstDash val="solid"/>
          </a:ln>
        </p:spPr>
      </p:sp>
      <p:sp>
        <p:nvSpPr>
          <p:cNvPr id="14" name="Text 12"/>
          <p:cNvSpPr/>
          <p:nvPr/>
        </p:nvSpPr>
        <p:spPr>
          <a:xfrm>
            <a:off x="996950" y="3073350"/>
            <a:ext cx="3143783" cy="292100"/>
          </a:xfrm>
          <a:prstGeom prst="rect">
            <a:avLst/>
          </a:prstGeom>
          <a:noFill/>
        </p:spPr>
        <p:txBody>
          <a:bodyPr wrap="square" lIns="0" tIns="0" rIns="0" bIns="0" rtlCol="0" anchor="t">
            <a:normAutofit/>
          </a:bodyPr>
          <a:lstStyle/>
          <a:p>
            <a:pPr marL="0" indent="0" algn="l">
              <a:lnSpc>
                <a:spcPts val="2100"/>
              </a:lnSpc>
              <a:buNone/>
            </a:pPr>
            <a:r>
              <a:rPr lang="en-US" sz="1500" b="1">
                <a:solidFill>
                  <a:srgbClr val="B4490F"/>
                </a:solidFill>
                <a:latin typeface="DM Sans" pitchFamily="34" charset="0"/>
                <a:ea typeface="DM Sans" pitchFamily="34" charset="-122"/>
                <a:cs typeface="DM Sans" pitchFamily="34" charset="-120"/>
              </a:rPr>
              <a:t>04</a:t>
            </a:r>
            <a:endParaRPr lang="en-US" sz="1500"/>
          </a:p>
        </p:txBody>
      </p:sp>
      <p:sp>
        <p:nvSpPr>
          <p:cNvPr id="15" name="Text 13"/>
          <p:cNvSpPr/>
          <p:nvPr/>
        </p:nvSpPr>
        <p:spPr>
          <a:xfrm>
            <a:off x="996950" y="3390850"/>
            <a:ext cx="3143783" cy="273050"/>
          </a:xfrm>
          <a:prstGeom prst="rect">
            <a:avLst/>
          </a:prstGeom>
          <a:noFill/>
        </p:spPr>
        <p:txBody>
          <a:bodyPr wrap="square" lIns="0" tIns="0" rIns="0" bIns="0" rtlCol="0" anchor="t">
            <a:normAutofit/>
          </a:bodyPr>
          <a:lstStyle/>
          <a:p>
            <a:pPr marL="0" indent="0" algn="l">
              <a:lnSpc>
                <a:spcPts val="1950"/>
              </a:lnSpc>
              <a:buNone/>
            </a:pPr>
            <a:r>
              <a:rPr lang="en-US" sz="1500" b="1">
                <a:solidFill>
                  <a:srgbClr val="14213D"/>
                </a:solidFill>
                <a:latin typeface="DM Sans" pitchFamily="34" charset="0"/>
                <a:ea typeface="DM Sans" pitchFamily="34" charset="-122"/>
                <a:cs typeface="DM Sans" pitchFamily="34" charset="-120"/>
              </a:rPr>
              <a:t>Requirements &amp; Tools</a:t>
            </a:r>
            <a:endParaRPr lang="en-US" sz="1500"/>
          </a:p>
        </p:txBody>
      </p:sp>
      <p:sp>
        <p:nvSpPr>
          <p:cNvPr id="16" name="Shape 14"/>
          <p:cNvSpPr/>
          <p:nvPr/>
        </p:nvSpPr>
        <p:spPr>
          <a:xfrm>
            <a:off x="4388892" y="2892375"/>
            <a:ext cx="3414167" cy="1174750"/>
          </a:xfrm>
          <a:prstGeom prst="roundRect">
            <a:avLst>
              <a:gd name="adj" fmla="val 8378"/>
            </a:avLst>
          </a:prstGeom>
          <a:solidFill>
            <a:srgbClr val="FFFFFF"/>
          </a:solidFill>
          <a:ln w="6350">
            <a:solidFill>
              <a:srgbClr val="DDD8CC"/>
            </a:solidFill>
            <a:prstDash val="solid"/>
          </a:ln>
        </p:spPr>
      </p:sp>
      <p:sp>
        <p:nvSpPr>
          <p:cNvPr id="17" name="Text 15"/>
          <p:cNvSpPr/>
          <p:nvPr/>
        </p:nvSpPr>
        <p:spPr>
          <a:xfrm>
            <a:off x="4569867" y="3073350"/>
            <a:ext cx="3143783" cy="292100"/>
          </a:xfrm>
          <a:prstGeom prst="rect">
            <a:avLst/>
          </a:prstGeom>
          <a:noFill/>
        </p:spPr>
        <p:txBody>
          <a:bodyPr wrap="square" lIns="0" tIns="0" rIns="0" bIns="0" rtlCol="0" anchor="t">
            <a:normAutofit/>
          </a:bodyPr>
          <a:lstStyle/>
          <a:p>
            <a:pPr marL="0" indent="0" algn="l">
              <a:lnSpc>
                <a:spcPts val="2100"/>
              </a:lnSpc>
              <a:buNone/>
            </a:pPr>
            <a:r>
              <a:rPr lang="en-US" sz="1500" b="1">
                <a:solidFill>
                  <a:srgbClr val="B4490F"/>
                </a:solidFill>
                <a:latin typeface="DM Sans" pitchFamily="34" charset="0"/>
                <a:ea typeface="DM Sans" pitchFamily="34" charset="-122"/>
                <a:cs typeface="DM Sans" pitchFamily="34" charset="-120"/>
              </a:rPr>
              <a:t>05</a:t>
            </a:r>
            <a:endParaRPr lang="en-US" sz="1500"/>
          </a:p>
        </p:txBody>
      </p:sp>
      <p:sp>
        <p:nvSpPr>
          <p:cNvPr id="18" name="Text 16"/>
          <p:cNvSpPr/>
          <p:nvPr/>
        </p:nvSpPr>
        <p:spPr>
          <a:xfrm>
            <a:off x="4569867" y="3390850"/>
            <a:ext cx="3143783" cy="273050"/>
          </a:xfrm>
          <a:prstGeom prst="rect">
            <a:avLst/>
          </a:prstGeom>
          <a:noFill/>
        </p:spPr>
        <p:txBody>
          <a:bodyPr wrap="square" lIns="0" tIns="0" rIns="0" bIns="0" rtlCol="0" anchor="t">
            <a:normAutofit/>
          </a:bodyPr>
          <a:lstStyle/>
          <a:p>
            <a:pPr marL="0" indent="0" algn="l">
              <a:lnSpc>
                <a:spcPts val="1950"/>
              </a:lnSpc>
              <a:buNone/>
            </a:pPr>
            <a:r>
              <a:rPr lang="en-US" sz="1500" b="1">
                <a:solidFill>
                  <a:srgbClr val="14213D"/>
                </a:solidFill>
                <a:latin typeface="DM Sans" pitchFamily="34" charset="0"/>
                <a:ea typeface="DM Sans" pitchFamily="34" charset="-122"/>
                <a:cs typeface="DM Sans" pitchFamily="34" charset="-120"/>
              </a:rPr>
              <a:t>Design &amp; Architecture</a:t>
            </a:r>
            <a:endParaRPr lang="en-US" sz="1500"/>
          </a:p>
        </p:txBody>
      </p:sp>
      <p:sp>
        <p:nvSpPr>
          <p:cNvPr id="19" name="Shape 17"/>
          <p:cNvSpPr/>
          <p:nvPr/>
        </p:nvSpPr>
        <p:spPr>
          <a:xfrm>
            <a:off x="7961809" y="2892375"/>
            <a:ext cx="3414216" cy="1174750"/>
          </a:xfrm>
          <a:prstGeom prst="roundRect">
            <a:avLst>
              <a:gd name="adj" fmla="val 8378"/>
            </a:avLst>
          </a:prstGeom>
          <a:solidFill>
            <a:srgbClr val="FFFFFF"/>
          </a:solidFill>
          <a:ln w="6350">
            <a:solidFill>
              <a:srgbClr val="DDD8CC"/>
            </a:solidFill>
            <a:prstDash val="solid"/>
          </a:ln>
        </p:spPr>
      </p:sp>
      <p:sp>
        <p:nvSpPr>
          <p:cNvPr id="20" name="Text 18"/>
          <p:cNvSpPr/>
          <p:nvPr/>
        </p:nvSpPr>
        <p:spPr>
          <a:xfrm>
            <a:off x="8142784" y="3073350"/>
            <a:ext cx="3143834" cy="292100"/>
          </a:xfrm>
          <a:prstGeom prst="rect">
            <a:avLst/>
          </a:prstGeom>
          <a:noFill/>
        </p:spPr>
        <p:txBody>
          <a:bodyPr wrap="square" lIns="0" tIns="0" rIns="0" bIns="0" rtlCol="0" anchor="t">
            <a:normAutofit/>
          </a:bodyPr>
          <a:lstStyle/>
          <a:p>
            <a:pPr marL="0" indent="0" algn="l">
              <a:lnSpc>
                <a:spcPts val="2100"/>
              </a:lnSpc>
              <a:buNone/>
            </a:pPr>
            <a:r>
              <a:rPr lang="en-US" sz="1500" b="1">
                <a:solidFill>
                  <a:srgbClr val="B4490F"/>
                </a:solidFill>
                <a:latin typeface="DM Sans" pitchFamily="34" charset="0"/>
                <a:ea typeface="DM Sans" pitchFamily="34" charset="-122"/>
                <a:cs typeface="DM Sans" pitchFamily="34" charset="-120"/>
              </a:rPr>
              <a:t>06</a:t>
            </a:r>
            <a:endParaRPr lang="en-US" sz="1500"/>
          </a:p>
        </p:txBody>
      </p:sp>
      <p:sp>
        <p:nvSpPr>
          <p:cNvPr id="21" name="Text 19"/>
          <p:cNvSpPr/>
          <p:nvPr/>
        </p:nvSpPr>
        <p:spPr>
          <a:xfrm>
            <a:off x="8142784" y="3390850"/>
            <a:ext cx="3143834" cy="520700"/>
          </a:xfrm>
          <a:prstGeom prst="rect">
            <a:avLst/>
          </a:prstGeom>
          <a:noFill/>
        </p:spPr>
        <p:txBody>
          <a:bodyPr wrap="square" lIns="0" tIns="0" rIns="0" bIns="0" rtlCol="0" anchor="t">
            <a:normAutofit/>
          </a:bodyPr>
          <a:lstStyle/>
          <a:p>
            <a:pPr marL="0" indent="0" algn="l">
              <a:lnSpc>
                <a:spcPts val="1950"/>
              </a:lnSpc>
              <a:buNone/>
            </a:pPr>
            <a:r>
              <a:rPr lang="en-US" sz="1500" b="1">
                <a:solidFill>
                  <a:srgbClr val="14213D"/>
                </a:solidFill>
                <a:latin typeface="DM Sans" pitchFamily="34" charset="0"/>
                <a:ea typeface="DM Sans" pitchFamily="34" charset="-122"/>
                <a:cs typeface="DM Sans" pitchFamily="34" charset="-120"/>
              </a:rPr>
              <a:t>Implementation &amp; Java Concepts</a:t>
            </a:r>
            <a:endParaRPr lang="en-US" sz="1500"/>
          </a:p>
        </p:txBody>
      </p:sp>
      <p:sp>
        <p:nvSpPr>
          <p:cNvPr id="22" name="Shape 20"/>
          <p:cNvSpPr/>
          <p:nvPr/>
        </p:nvSpPr>
        <p:spPr>
          <a:xfrm>
            <a:off x="815975" y="4225875"/>
            <a:ext cx="3414167" cy="927100"/>
          </a:xfrm>
          <a:prstGeom prst="roundRect">
            <a:avLst>
              <a:gd name="adj" fmla="val 10616"/>
            </a:avLst>
          </a:prstGeom>
          <a:solidFill>
            <a:srgbClr val="FFFFFF"/>
          </a:solidFill>
          <a:ln w="6350">
            <a:solidFill>
              <a:srgbClr val="DDD8CC"/>
            </a:solidFill>
            <a:prstDash val="solid"/>
          </a:ln>
        </p:spPr>
      </p:sp>
      <p:sp>
        <p:nvSpPr>
          <p:cNvPr id="23" name="Text 21"/>
          <p:cNvSpPr/>
          <p:nvPr/>
        </p:nvSpPr>
        <p:spPr>
          <a:xfrm>
            <a:off x="996950" y="4406850"/>
            <a:ext cx="3143783" cy="292100"/>
          </a:xfrm>
          <a:prstGeom prst="rect">
            <a:avLst/>
          </a:prstGeom>
          <a:noFill/>
        </p:spPr>
        <p:txBody>
          <a:bodyPr wrap="square" lIns="0" tIns="0" rIns="0" bIns="0" rtlCol="0" anchor="t">
            <a:normAutofit/>
          </a:bodyPr>
          <a:lstStyle/>
          <a:p>
            <a:pPr marL="0" indent="0" algn="l">
              <a:lnSpc>
                <a:spcPts val="2100"/>
              </a:lnSpc>
              <a:buNone/>
            </a:pPr>
            <a:r>
              <a:rPr lang="en-US" sz="1500" b="1">
                <a:solidFill>
                  <a:srgbClr val="B4490F"/>
                </a:solidFill>
                <a:latin typeface="DM Sans" pitchFamily="34" charset="0"/>
                <a:ea typeface="DM Sans" pitchFamily="34" charset="-122"/>
                <a:cs typeface="DM Sans" pitchFamily="34" charset="-120"/>
              </a:rPr>
              <a:t>07</a:t>
            </a:r>
            <a:endParaRPr lang="en-US" sz="1500"/>
          </a:p>
        </p:txBody>
      </p:sp>
      <p:sp>
        <p:nvSpPr>
          <p:cNvPr id="24" name="Text 22"/>
          <p:cNvSpPr/>
          <p:nvPr/>
        </p:nvSpPr>
        <p:spPr>
          <a:xfrm>
            <a:off x="996950" y="4724350"/>
            <a:ext cx="3143783" cy="273050"/>
          </a:xfrm>
          <a:prstGeom prst="rect">
            <a:avLst/>
          </a:prstGeom>
          <a:noFill/>
        </p:spPr>
        <p:txBody>
          <a:bodyPr wrap="square" lIns="0" tIns="0" rIns="0" bIns="0" rtlCol="0" anchor="t">
            <a:normAutofit/>
          </a:bodyPr>
          <a:lstStyle/>
          <a:p>
            <a:pPr marL="0" indent="0" algn="l">
              <a:lnSpc>
                <a:spcPts val="1950"/>
              </a:lnSpc>
              <a:buNone/>
            </a:pPr>
            <a:r>
              <a:rPr lang="en-US" sz="1500" b="1">
                <a:solidFill>
                  <a:srgbClr val="14213D"/>
                </a:solidFill>
                <a:latin typeface="DM Sans" pitchFamily="34" charset="0"/>
                <a:ea typeface="DM Sans" pitchFamily="34" charset="-122"/>
                <a:cs typeface="DM Sans" pitchFamily="34" charset="-120"/>
              </a:rPr>
              <a:t>Output &amp; Testing</a:t>
            </a:r>
            <a:endParaRPr lang="en-US" sz="1500"/>
          </a:p>
        </p:txBody>
      </p:sp>
      <p:sp>
        <p:nvSpPr>
          <p:cNvPr id="25" name="Shape 23"/>
          <p:cNvSpPr/>
          <p:nvPr/>
        </p:nvSpPr>
        <p:spPr>
          <a:xfrm>
            <a:off x="4388892" y="4225875"/>
            <a:ext cx="3414167" cy="927100"/>
          </a:xfrm>
          <a:prstGeom prst="roundRect">
            <a:avLst>
              <a:gd name="adj" fmla="val 10616"/>
            </a:avLst>
          </a:prstGeom>
          <a:solidFill>
            <a:srgbClr val="FFFFFF"/>
          </a:solidFill>
          <a:ln w="6350">
            <a:solidFill>
              <a:srgbClr val="DDD8CC"/>
            </a:solidFill>
            <a:prstDash val="solid"/>
          </a:ln>
        </p:spPr>
      </p:sp>
      <p:sp>
        <p:nvSpPr>
          <p:cNvPr id="26" name="Text 24"/>
          <p:cNvSpPr/>
          <p:nvPr/>
        </p:nvSpPr>
        <p:spPr>
          <a:xfrm>
            <a:off x="4569867" y="4406850"/>
            <a:ext cx="3143783" cy="292100"/>
          </a:xfrm>
          <a:prstGeom prst="rect">
            <a:avLst/>
          </a:prstGeom>
          <a:noFill/>
        </p:spPr>
        <p:txBody>
          <a:bodyPr wrap="square" lIns="0" tIns="0" rIns="0" bIns="0" rtlCol="0" anchor="t">
            <a:normAutofit/>
          </a:bodyPr>
          <a:lstStyle/>
          <a:p>
            <a:pPr marL="0" indent="0" algn="l">
              <a:lnSpc>
                <a:spcPts val="2100"/>
              </a:lnSpc>
              <a:buNone/>
            </a:pPr>
            <a:r>
              <a:rPr lang="en-US" sz="1500" b="1">
                <a:solidFill>
                  <a:srgbClr val="B4490F"/>
                </a:solidFill>
                <a:latin typeface="DM Sans" pitchFamily="34" charset="0"/>
                <a:ea typeface="DM Sans" pitchFamily="34" charset="-122"/>
                <a:cs typeface="DM Sans" pitchFamily="34" charset="-120"/>
              </a:rPr>
              <a:t>08</a:t>
            </a:r>
            <a:endParaRPr lang="en-US" sz="1500"/>
          </a:p>
        </p:txBody>
      </p:sp>
      <p:sp>
        <p:nvSpPr>
          <p:cNvPr id="27" name="Text 25"/>
          <p:cNvSpPr/>
          <p:nvPr/>
        </p:nvSpPr>
        <p:spPr>
          <a:xfrm>
            <a:off x="4569867" y="4724350"/>
            <a:ext cx="3143783" cy="273050"/>
          </a:xfrm>
          <a:prstGeom prst="rect">
            <a:avLst/>
          </a:prstGeom>
          <a:noFill/>
        </p:spPr>
        <p:txBody>
          <a:bodyPr wrap="square" lIns="0" tIns="0" rIns="0" bIns="0" rtlCol="0" anchor="t">
            <a:normAutofit/>
          </a:bodyPr>
          <a:lstStyle/>
          <a:p>
            <a:pPr marL="0" indent="0" algn="l">
              <a:lnSpc>
                <a:spcPts val="1950"/>
              </a:lnSpc>
              <a:buNone/>
            </a:pPr>
            <a:r>
              <a:rPr lang="en-US" sz="1500" b="1">
                <a:solidFill>
                  <a:srgbClr val="14213D"/>
                </a:solidFill>
                <a:latin typeface="DM Sans" pitchFamily="34" charset="0"/>
                <a:ea typeface="DM Sans" pitchFamily="34" charset="-122"/>
                <a:cs typeface="DM Sans" pitchFamily="34" charset="-120"/>
              </a:rPr>
              <a:t>Results &amp; Challenges</a:t>
            </a:r>
            <a:endParaRPr lang="en-US" sz="1500"/>
          </a:p>
        </p:txBody>
      </p:sp>
      <p:sp>
        <p:nvSpPr>
          <p:cNvPr id="28" name="Shape 26"/>
          <p:cNvSpPr/>
          <p:nvPr/>
        </p:nvSpPr>
        <p:spPr>
          <a:xfrm>
            <a:off x="7961809" y="4225875"/>
            <a:ext cx="3414216" cy="927100"/>
          </a:xfrm>
          <a:prstGeom prst="roundRect">
            <a:avLst>
              <a:gd name="adj" fmla="val 10616"/>
            </a:avLst>
          </a:prstGeom>
          <a:solidFill>
            <a:srgbClr val="FFFFFF"/>
          </a:solidFill>
          <a:ln w="6350">
            <a:solidFill>
              <a:srgbClr val="DDD8CC"/>
            </a:solidFill>
            <a:prstDash val="solid"/>
          </a:ln>
        </p:spPr>
      </p:sp>
      <p:sp>
        <p:nvSpPr>
          <p:cNvPr id="29" name="Text 27"/>
          <p:cNvSpPr/>
          <p:nvPr/>
        </p:nvSpPr>
        <p:spPr>
          <a:xfrm>
            <a:off x="8142784" y="4406850"/>
            <a:ext cx="3143834" cy="292100"/>
          </a:xfrm>
          <a:prstGeom prst="rect">
            <a:avLst/>
          </a:prstGeom>
          <a:noFill/>
        </p:spPr>
        <p:txBody>
          <a:bodyPr wrap="square" lIns="0" tIns="0" rIns="0" bIns="0" rtlCol="0" anchor="t">
            <a:normAutofit/>
          </a:bodyPr>
          <a:lstStyle/>
          <a:p>
            <a:pPr marL="0" indent="0" algn="l">
              <a:lnSpc>
                <a:spcPts val="2100"/>
              </a:lnSpc>
              <a:buNone/>
            </a:pPr>
            <a:r>
              <a:rPr lang="en-US" sz="1500" b="1">
                <a:solidFill>
                  <a:srgbClr val="B4490F"/>
                </a:solidFill>
                <a:latin typeface="DM Sans" pitchFamily="34" charset="0"/>
                <a:ea typeface="DM Sans" pitchFamily="34" charset="-122"/>
                <a:cs typeface="DM Sans" pitchFamily="34" charset="-120"/>
              </a:rPr>
              <a:t>09</a:t>
            </a:r>
            <a:endParaRPr lang="en-US" sz="1500"/>
          </a:p>
        </p:txBody>
      </p:sp>
      <p:sp>
        <p:nvSpPr>
          <p:cNvPr id="30" name="Text 28"/>
          <p:cNvSpPr/>
          <p:nvPr/>
        </p:nvSpPr>
        <p:spPr>
          <a:xfrm>
            <a:off x="8142784" y="4724350"/>
            <a:ext cx="3143834" cy="273050"/>
          </a:xfrm>
          <a:prstGeom prst="rect">
            <a:avLst/>
          </a:prstGeom>
          <a:noFill/>
        </p:spPr>
        <p:txBody>
          <a:bodyPr wrap="square" lIns="0" tIns="0" rIns="0" bIns="0" rtlCol="0" anchor="t">
            <a:normAutofit/>
          </a:bodyPr>
          <a:lstStyle/>
          <a:p>
            <a:pPr marL="0" indent="0" algn="l">
              <a:lnSpc>
                <a:spcPts val="1950"/>
              </a:lnSpc>
              <a:buNone/>
            </a:pPr>
            <a:r>
              <a:rPr lang="en-US" sz="1500" b="1">
                <a:solidFill>
                  <a:srgbClr val="14213D"/>
                </a:solidFill>
                <a:latin typeface="DM Sans" pitchFamily="34" charset="0"/>
                <a:ea typeface="DM Sans" pitchFamily="34" charset="-122"/>
                <a:cs typeface="DM Sans" pitchFamily="34" charset="-120"/>
              </a:rPr>
              <a:t>Conclusion &amp; Future Scope</a:t>
            </a:r>
            <a:endParaRPr lang="en-US" sz="1500"/>
          </a:p>
        </p:txBody>
      </p:sp>
      <p:sp>
        <p:nvSpPr>
          <p:cNvPr id="31" name="Text 29"/>
          <p:cNvSpPr/>
          <p:nvPr/>
        </p:nvSpPr>
        <p:spPr>
          <a:xfrm>
            <a:off x="812800" y="6238280"/>
            <a:ext cx="7848600" cy="238720"/>
          </a:xfrm>
          <a:prstGeom prst="rect">
            <a:avLst/>
          </a:prstGeom>
          <a:noFill/>
        </p:spPr>
        <p:txBody>
          <a:bodyPr wrap="square" lIns="0" tIns="0" rIns="0" bIns="0" rtlCol="0" anchor="t">
            <a:normAutofit/>
          </a:bodyPr>
          <a:lstStyle/>
          <a:p>
            <a:pPr>
              <a:lnSpc>
                <a:spcPts val="1680"/>
              </a:lnSpc>
            </a:pPr>
            <a:r>
              <a:rPr lang="en-US" sz="1200">
                <a:solidFill>
                  <a:srgbClr val="4A5568"/>
                </a:solidFill>
                <a:latin typeface="DM Sans"/>
                <a:ea typeface="DM Sans" pitchFamily="34" charset="-122"/>
                <a:cs typeface="DM Sans" pitchFamily="34" charset="-120"/>
              </a:rPr>
              <a:t>02 · [FRZIII-PAY]</a:t>
            </a:r>
            <a:endParaRPr lang="en-US" sz="1200">
              <a:latin typeface="DM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a:solidFill>
                  <a:srgbClr val="B4490F"/>
                </a:solidFill>
                <a:latin typeface="DM Sans" pitchFamily="34" charset="0"/>
                <a:ea typeface="DM Sans" pitchFamily="34" charset="-122"/>
                <a:cs typeface="DM Sans" pitchFamily="34" charset="-120"/>
              </a:rPr>
              <a:t>PART 1 · PROBLEM &amp; GOALS</a:t>
            </a:r>
            <a:endParaRPr lang="en-US" sz="1200"/>
          </a:p>
        </p:txBody>
      </p:sp>
      <p:sp>
        <p:nvSpPr>
          <p:cNvPr id="3" name="Text 1"/>
          <p:cNvSpPr>
            <a:spLocks noGrp="1"/>
          </p:cNvSpPr>
          <p:nvPr>
            <p:ph type="title"/>
          </p:nvPr>
        </p:nvSpPr>
        <p:spPr>
          <a:xfrm>
            <a:off x="812800" y="1102320"/>
            <a:ext cx="10883392" cy="472430"/>
          </a:xfrm>
          <a:prstGeom prst="rect">
            <a:avLst/>
          </a:prstGeom>
          <a:noFill/>
        </p:spPr>
        <p:txBody>
          <a:bodyPr wrap="square" lIns="0" tIns="0" rIns="0" bIns="0" rtlCol="0" anchor="t">
            <a:normAutofit/>
          </a:bodyPr>
          <a:lstStyle/>
          <a:p>
            <a:pPr marL="0" indent="0" algn="l">
              <a:lnSpc>
                <a:spcPts val="3520"/>
              </a:lnSpc>
              <a:buNone/>
            </a:pPr>
            <a:r>
              <a:rPr lang="en-US" sz="3200" b="1" i="0">
                <a:solidFill>
                  <a:srgbClr val="14213D"/>
                </a:solidFill>
                <a:latin typeface="DM Sans" pitchFamily="34" charset="0"/>
                <a:ea typeface="DM Sans" pitchFamily="34" charset="-122"/>
                <a:cs typeface="DM Sans" pitchFamily="34" charset="-120"/>
              </a:rPr>
              <a:t>Introduction</a:t>
            </a:r>
            <a:endParaRPr lang="en-US" sz="3200"/>
          </a:p>
        </p:txBody>
      </p:sp>
      <p:sp>
        <p:nvSpPr>
          <p:cNvPr id="4" name="Text 2"/>
          <p:cNvSpPr/>
          <p:nvPr/>
        </p:nvSpPr>
        <p:spPr>
          <a:xfrm>
            <a:off x="883920" y="1803350"/>
            <a:ext cx="6053643" cy="3276402"/>
          </a:xfrm>
          <a:prstGeom prst="rect">
            <a:avLst/>
          </a:prstGeom>
          <a:noFill/>
        </p:spPr>
        <p:txBody>
          <a:bodyPr wrap="square" lIns="0" tIns="0" rIns="0" bIns="0" rtlCol="0" anchor="t">
            <a:normAutofit/>
          </a:bodyPr>
          <a:lstStyle/>
          <a:p>
            <a:pPr marL="182880" indent="-182880">
              <a:lnSpc>
                <a:spcPts val="2550"/>
              </a:lnSpc>
              <a:buSzPct val="100000"/>
              <a:buChar char="•"/>
            </a:pPr>
            <a:r>
              <a:rPr lang="en-US" sz="1500" dirty="0">
                <a:solidFill>
                  <a:srgbClr val="14213D"/>
                </a:solidFill>
                <a:latin typeface="DM Sans"/>
              </a:rPr>
              <a:t>["A </a:t>
            </a:r>
            <a:r>
              <a:rPr lang="en-US" sz="1500" dirty="0" err="1">
                <a:solidFill>
                  <a:srgbClr val="14213D"/>
                </a:solidFill>
                <a:latin typeface="DM Sans"/>
              </a:rPr>
              <a:t>USER FRIENDLY</a:t>
            </a:r>
            <a:r>
              <a:rPr lang="en-US" sz="1500" dirty="0">
                <a:solidFill>
                  <a:srgbClr val="14213D"/>
                </a:solidFill>
                <a:latin typeface="DM Sans"/>
              </a:rPr>
              <a:t> DESKTOP GUI APPLICATION DESIGNED TO GENERATE OR CODE QUICKLY AND EFFICIENTLY]</a:t>
            </a:r>
            <a:endParaRPr lang="en-US" sz="1500" dirty="0">
              <a:latin typeface="DM Sans"/>
            </a:endParaRPr>
          </a:p>
          <a:p>
            <a:pPr marL="182880" indent="-182880">
              <a:lnSpc>
                <a:spcPts val="2550"/>
              </a:lnSpc>
              <a:buSzPct val="100000"/>
              <a:buChar char="•"/>
            </a:pPr>
            <a:r>
              <a:rPr lang="en-US" sz="1500">
                <a:solidFill>
                  <a:srgbClr val="14213D"/>
                </a:solidFill>
                <a:latin typeface="DM Sans"/>
              </a:rPr>
              <a:t>[DEVELOPED UNDER FACULTY  GUIDANCE]</a:t>
            </a:r>
            <a:endParaRPr lang="en-US" sz="1500">
              <a:latin typeface="DM Sans"/>
            </a:endParaRPr>
          </a:p>
          <a:p>
            <a:pPr marL="182880" indent="-182880">
              <a:lnSpc>
                <a:spcPts val="2550"/>
              </a:lnSpc>
              <a:buSzPct val="100000"/>
              <a:buChar char="•"/>
            </a:pPr>
            <a:r>
              <a:rPr lang="en-US" sz="1500" dirty="0">
                <a:solidFill>
                  <a:srgbClr val="14213D"/>
                </a:solidFill>
                <a:latin typeface="DM Sans"/>
              </a:rPr>
              <a:t>[SMALL </a:t>
            </a:r>
            <a:r>
              <a:rPr lang="en-US" sz="1500" dirty="0" err="1">
                <a:solidFill>
                  <a:srgbClr val="14213D"/>
                </a:solidFill>
                <a:latin typeface="DM Sans"/>
              </a:rPr>
              <a:t>BUSINESS MAN</a:t>
            </a:r>
            <a:r>
              <a:rPr lang="en-US" sz="1500" dirty="0">
                <a:solidFill>
                  <a:srgbClr val="14213D"/>
                </a:solidFill>
                <a:latin typeface="DM Sans"/>
              </a:rPr>
              <a:t>,RESTURANTS,GENERAL USER]</a:t>
            </a:r>
            <a:endParaRPr lang="en-US" sz="1500" dirty="0">
              <a:latin typeface="DM Sans"/>
            </a:endParaRPr>
          </a:p>
          <a:p>
            <a:pPr marL="182880" indent="-182880">
              <a:lnSpc>
                <a:spcPts val="2550"/>
              </a:lnSpc>
              <a:buSzPct val="100000"/>
              <a:buChar char="•"/>
            </a:pPr>
            <a:r>
              <a:rPr lang="en-US" sz="1500" dirty="0">
                <a:solidFill>
                  <a:srgbClr val="14213D"/>
                </a:solidFill>
                <a:latin typeface="DM Sans"/>
              </a:rPr>
              <a:t>[BUILD WITH JAVA (SWING/AWT) ,MODULAR OOPS </a:t>
            </a:r>
            <a:r>
              <a:rPr lang="en-US" sz="1500">
                <a:solidFill>
                  <a:srgbClr val="14213D"/>
                </a:solidFill>
                <a:latin typeface="DM Sans"/>
              </a:rPr>
              <a:t>ARCHITECTURE </a:t>
            </a:r>
            <a:endParaRPr lang="en-US" sz="1500" dirty="0">
              <a:latin typeface="DM Sans"/>
            </a:endParaRPr>
          </a:p>
        </p:txBody>
      </p:sp>
      <p:sp>
        <p:nvSpPr>
          <p:cNvPr id="5" name="Shape 3"/>
          <p:cNvSpPr/>
          <p:nvPr/>
        </p:nvSpPr>
        <p:spPr>
          <a:xfrm>
            <a:off x="7891243" y="1774413"/>
            <a:ext cx="4847980" cy="3279938"/>
          </a:xfrm>
          <a:prstGeom prst="roundRect">
            <a:avLst>
              <a:gd name="adj" fmla="val 3125"/>
            </a:avLst>
          </a:prstGeom>
          <a:solidFill>
            <a:srgbClr val="14213D"/>
          </a:solidFill>
        </p:spPr>
      </p:sp>
      <p:sp>
        <p:nvSpPr>
          <p:cNvPr id="6" name="Text 4"/>
          <p:cNvSpPr/>
          <p:nvPr/>
        </p:nvSpPr>
        <p:spPr>
          <a:xfrm>
            <a:off x="8135598" y="2057350"/>
            <a:ext cx="3913825" cy="238720"/>
          </a:xfrm>
          <a:prstGeom prst="rect">
            <a:avLst/>
          </a:prstGeom>
          <a:noFill/>
        </p:spPr>
        <p:txBody>
          <a:bodyPr wrap="square" lIns="0" tIns="0" rIns="0" bIns="0" rtlCol="0" anchor="t">
            <a:normAutofit/>
          </a:bodyPr>
          <a:lstStyle/>
          <a:p>
            <a:pPr marL="0" indent="0" algn="l">
              <a:lnSpc>
                <a:spcPts val="1680"/>
              </a:lnSpc>
              <a:buNone/>
            </a:pPr>
            <a:r>
              <a:rPr lang="en-US" sz="1200" b="1" kern="0" spc="100">
                <a:solidFill>
                  <a:srgbClr val="E8772E"/>
                </a:solidFill>
                <a:latin typeface="DM Sans" pitchFamily="34" charset="0"/>
                <a:ea typeface="DM Sans" pitchFamily="34" charset="-122"/>
                <a:cs typeface="DM Sans" pitchFamily="34" charset="-120"/>
              </a:rPr>
              <a:t>AT A GLANCE</a:t>
            </a:r>
            <a:endParaRPr lang="en-US" sz="1200"/>
          </a:p>
        </p:txBody>
      </p:sp>
      <p:sp>
        <p:nvSpPr>
          <p:cNvPr id="7" name="Text 5"/>
          <p:cNvSpPr/>
          <p:nvPr/>
        </p:nvSpPr>
        <p:spPr>
          <a:xfrm>
            <a:off x="7981269" y="2407317"/>
            <a:ext cx="3913825" cy="238720"/>
          </a:xfrm>
          <a:prstGeom prst="rect">
            <a:avLst/>
          </a:prstGeom>
          <a:noFill/>
        </p:spPr>
        <p:txBody>
          <a:bodyPr wrap="square" lIns="0" tIns="0" rIns="0" bIns="0" rtlCol="0" anchor="t">
            <a:normAutofit/>
          </a:bodyPr>
          <a:lstStyle/>
          <a:p>
            <a:pPr marL="0" indent="0" algn="l">
              <a:lnSpc>
                <a:spcPts val="1680"/>
              </a:lnSpc>
              <a:buNone/>
            </a:pPr>
            <a:r>
              <a:rPr lang="en-US" sz="1200">
                <a:solidFill>
                  <a:srgbClr val="C9D1E3"/>
                </a:solidFill>
                <a:latin typeface="DM Sans" pitchFamily="34" charset="0"/>
                <a:ea typeface="DM Sans" pitchFamily="34" charset="-122"/>
                <a:cs typeface="DM Sans" pitchFamily="34" charset="-120"/>
              </a:rPr>
              <a:t>Project type</a:t>
            </a:r>
            <a:endParaRPr lang="en-US" sz="1200"/>
          </a:p>
        </p:txBody>
      </p:sp>
      <p:sp>
        <p:nvSpPr>
          <p:cNvPr id="8" name="Text 6"/>
          <p:cNvSpPr/>
          <p:nvPr/>
        </p:nvSpPr>
        <p:spPr>
          <a:xfrm>
            <a:off x="7981268" y="2732847"/>
            <a:ext cx="3913825" cy="292100"/>
          </a:xfrm>
          <a:prstGeom prst="rect">
            <a:avLst/>
          </a:prstGeom>
          <a:noFill/>
        </p:spPr>
        <p:txBody>
          <a:bodyPr wrap="square" lIns="0" tIns="0" rIns="0" bIns="0" rtlCol="0" anchor="t">
            <a:normAutofit fontScale="92500"/>
          </a:bodyPr>
          <a:lstStyle/>
          <a:p>
            <a:pPr>
              <a:lnSpc>
                <a:spcPts val="2100"/>
              </a:lnSpc>
            </a:pPr>
            <a:r>
              <a:rPr lang="en-US" sz="1500" b="1">
                <a:solidFill>
                  <a:srgbClr val="F7F5EF"/>
                </a:solidFill>
                <a:latin typeface="DM Sans"/>
              </a:rPr>
              <a:t>[DESKTOP GUI APPLICATION(JAVA SWING)]</a:t>
            </a:r>
            <a:endParaRPr lang="en-US" sz="1500">
              <a:latin typeface="DM Sans"/>
            </a:endParaRPr>
          </a:p>
        </p:txBody>
      </p:sp>
      <p:sp>
        <p:nvSpPr>
          <p:cNvPr id="9" name="Text 7"/>
          <p:cNvSpPr/>
          <p:nvPr/>
        </p:nvSpPr>
        <p:spPr>
          <a:xfrm>
            <a:off x="8135598" y="3030091"/>
            <a:ext cx="3913825" cy="238720"/>
          </a:xfrm>
          <a:prstGeom prst="rect">
            <a:avLst/>
          </a:prstGeom>
          <a:noFill/>
        </p:spPr>
        <p:txBody>
          <a:bodyPr wrap="square" lIns="0" tIns="0" rIns="0" bIns="0" rtlCol="0" anchor="t">
            <a:normAutofit/>
          </a:bodyPr>
          <a:lstStyle/>
          <a:p>
            <a:pPr marL="0" indent="0" algn="l">
              <a:lnSpc>
                <a:spcPts val="1680"/>
              </a:lnSpc>
              <a:buNone/>
            </a:pPr>
            <a:r>
              <a:rPr lang="en-US" sz="1200">
                <a:solidFill>
                  <a:srgbClr val="C9D1E3"/>
                </a:solidFill>
                <a:latin typeface="DM Sans" pitchFamily="34" charset="0"/>
                <a:ea typeface="DM Sans" pitchFamily="34" charset="-122"/>
                <a:cs typeface="DM Sans" pitchFamily="34" charset="-120"/>
              </a:rPr>
              <a:t>Language</a:t>
            </a:r>
            <a:endParaRPr lang="en-US" sz="1200"/>
          </a:p>
        </p:txBody>
      </p:sp>
      <p:sp>
        <p:nvSpPr>
          <p:cNvPr id="10" name="Text 8"/>
          <p:cNvSpPr/>
          <p:nvPr/>
        </p:nvSpPr>
        <p:spPr>
          <a:xfrm>
            <a:off x="7981269" y="3288102"/>
            <a:ext cx="3913825" cy="292100"/>
          </a:xfrm>
          <a:prstGeom prst="rect">
            <a:avLst/>
          </a:prstGeom>
          <a:noFill/>
        </p:spPr>
        <p:txBody>
          <a:bodyPr wrap="square" lIns="0" tIns="0" rIns="0" bIns="0" rtlCol="0" anchor="t">
            <a:normAutofit/>
          </a:bodyPr>
          <a:lstStyle/>
          <a:p>
            <a:pPr marL="0" indent="0" algn="l">
              <a:lnSpc>
                <a:spcPts val="2100"/>
              </a:lnSpc>
              <a:buNone/>
            </a:pPr>
            <a:r>
              <a:rPr lang="en-US" sz="1500" b="1">
                <a:solidFill>
                  <a:srgbClr val="F7F5EF"/>
                </a:solidFill>
                <a:latin typeface="DM Sans" pitchFamily="34" charset="0"/>
                <a:ea typeface="DM Sans" pitchFamily="34" charset="-122"/>
                <a:cs typeface="DM Sans" pitchFamily="34" charset="-120"/>
              </a:rPr>
              <a:t>Java [JDK 17+]</a:t>
            </a:r>
            <a:endParaRPr lang="en-US" sz="1500"/>
          </a:p>
        </p:txBody>
      </p:sp>
      <p:sp>
        <p:nvSpPr>
          <p:cNvPr id="11" name="Text 9"/>
          <p:cNvSpPr/>
          <p:nvPr/>
        </p:nvSpPr>
        <p:spPr>
          <a:xfrm>
            <a:off x="7894459" y="3672157"/>
            <a:ext cx="3913825" cy="238720"/>
          </a:xfrm>
          <a:prstGeom prst="rect">
            <a:avLst/>
          </a:prstGeom>
          <a:noFill/>
        </p:spPr>
        <p:txBody>
          <a:bodyPr wrap="square" lIns="0" tIns="0" rIns="0" bIns="0" rtlCol="0" anchor="t">
            <a:normAutofit/>
          </a:bodyPr>
          <a:lstStyle/>
          <a:p>
            <a:pPr marL="0" indent="0" algn="l">
              <a:lnSpc>
                <a:spcPts val="1680"/>
              </a:lnSpc>
              <a:buNone/>
            </a:pPr>
            <a:r>
              <a:rPr lang="en-US" sz="1200">
                <a:solidFill>
                  <a:srgbClr val="C9D1E3"/>
                </a:solidFill>
                <a:latin typeface="DM Sans" pitchFamily="34" charset="0"/>
                <a:ea typeface="DM Sans" pitchFamily="34" charset="-122"/>
                <a:cs typeface="DM Sans" pitchFamily="34" charset="-120"/>
              </a:rPr>
              <a:t>Data storage</a:t>
            </a:r>
            <a:endParaRPr lang="en-US" sz="1200"/>
          </a:p>
        </p:txBody>
      </p:sp>
      <p:sp>
        <p:nvSpPr>
          <p:cNvPr id="12" name="Text 10"/>
          <p:cNvSpPr/>
          <p:nvPr/>
        </p:nvSpPr>
        <p:spPr>
          <a:xfrm>
            <a:off x="7981269" y="3997687"/>
            <a:ext cx="3913825" cy="292100"/>
          </a:xfrm>
          <a:prstGeom prst="rect">
            <a:avLst/>
          </a:prstGeom>
          <a:noFill/>
        </p:spPr>
        <p:txBody>
          <a:bodyPr wrap="square" lIns="0" tIns="0" rIns="0" bIns="0" rtlCol="0" anchor="t">
            <a:normAutofit/>
          </a:bodyPr>
          <a:lstStyle/>
          <a:p>
            <a:pPr>
              <a:lnSpc>
                <a:spcPts val="2100"/>
              </a:lnSpc>
            </a:pPr>
            <a:r>
              <a:rPr lang="en-US" sz="1500" b="1">
                <a:solidFill>
                  <a:srgbClr val="F7F5EF"/>
                </a:solidFill>
                <a:latin typeface="DM Sans"/>
              </a:rPr>
              <a:t>[JAVA SWING.QR SERVER API]</a:t>
            </a:r>
            <a:endParaRPr lang="en-US" sz="1500">
              <a:latin typeface="DM Sans"/>
            </a:endParaRPr>
          </a:p>
        </p:txBody>
      </p:sp>
      <p:sp>
        <p:nvSpPr>
          <p:cNvPr id="13" name="Text 11"/>
          <p:cNvSpPr/>
          <p:nvPr/>
        </p:nvSpPr>
        <p:spPr>
          <a:xfrm>
            <a:off x="7981269" y="4294932"/>
            <a:ext cx="3913825" cy="238720"/>
          </a:xfrm>
          <a:prstGeom prst="rect">
            <a:avLst/>
          </a:prstGeom>
          <a:noFill/>
        </p:spPr>
        <p:txBody>
          <a:bodyPr wrap="square" lIns="0" tIns="0" rIns="0" bIns="0" rtlCol="0" anchor="t">
            <a:normAutofit/>
          </a:bodyPr>
          <a:lstStyle/>
          <a:p>
            <a:pPr marL="0" indent="0" algn="l">
              <a:lnSpc>
                <a:spcPts val="1680"/>
              </a:lnSpc>
              <a:buNone/>
            </a:pPr>
            <a:r>
              <a:rPr lang="en-US" sz="1200">
                <a:solidFill>
                  <a:srgbClr val="C9D1E3"/>
                </a:solidFill>
                <a:latin typeface="DM Sans" pitchFamily="34" charset="0"/>
                <a:ea typeface="DM Sans" pitchFamily="34" charset="-122"/>
                <a:cs typeface="DM Sans" pitchFamily="34" charset="-120"/>
              </a:rPr>
              <a:t>Users</a:t>
            </a:r>
            <a:endParaRPr lang="en-US" sz="1200"/>
          </a:p>
        </p:txBody>
      </p:sp>
      <p:sp>
        <p:nvSpPr>
          <p:cNvPr id="14" name="Text 12"/>
          <p:cNvSpPr/>
          <p:nvPr/>
        </p:nvSpPr>
        <p:spPr>
          <a:xfrm>
            <a:off x="7894459" y="4533652"/>
            <a:ext cx="3913825" cy="292100"/>
          </a:xfrm>
          <a:prstGeom prst="rect">
            <a:avLst/>
          </a:prstGeom>
          <a:noFill/>
        </p:spPr>
        <p:txBody>
          <a:bodyPr wrap="square" lIns="0" tIns="0" rIns="0" bIns="0" rtlCol="0" anchor="t">
            <a:normAutofit/>
          </a:bodyPr>
          <a:lstStyle/>
          <a:p>
            <a:pPr>
              <a:lnSpc>
                <a:spcPts val="2100"/>
              </a:lnSpc>
            </a:pPr>
            <a:r>
              <a:rPr lang="en-US" sz="1500" b="1">
                <a:solidFill>
                  <a:srgbClr val="F7F5EF"/>
                </a:solidFill>
                <a:latin typeface="DM Sans"/>
                <a:ea typeface="DM Sans" pitchFamily="34" charset="-122"/>
                <a:cs typeface="DM Sans" pitchFamily="34" charset="-120"/>
              </a:rPr>
              <a:t>[SMALL BUSINESSMAN  · GENERAL PUBLIC]</a:t>
            </a:r>
            <a:endParaRPr lang="en-US" sz="1500">
              <a:latin typeface="DM Sans"/>
            </a:endParaRPr>
          </a:p>
        </p:txBody>
      </p:sp>
      <p:sp>
        <p:nvSpPr>
          <p:cNvPr id="15" name="Text 13"/>
          <p:cNvSpPr/>
          <p:nvPr/>
        </p:nvSpPr>
        <p:spPr>
          <a:xfrm>
            <a:off x="812800" y="6238280"/>
            <a:ext cx="7848600" cy="238720"/>
          </a:xfrm>
          <a:prstGeom prst="rect">
            <a:avLst/>
          </a:prstGeom>
          <a:noFill/>
        </p:spPr>
        <p:txBody>
          <a:bodyPr wrap="square" lIns="0" tIns="0" rIns="0" bIns="0" rtlCol="0" anchor="t">
            <a:normAutofit/>
          </a:bodyPr>
          <a:lstStyle/>
          <a:p>
            <a:pPr>
              <a:lnSpc>
                <a:spcPts val="1680"/>
              </a:lnSpc>
            </a:pPr>
            <a:r>
              <a:rPr lang="en-US" sz="1200">
                <a:solidFill>
                  <a:srgbClr val="4A5568"/>
                </a:solidFill>
                <a:latin typeface="DM Sans"/>
                <a:ea typeface="DM Sans" pitchFamily="34" charset="-122"/>
                <a:cs typeface="DM Sans" pitchFamily="34" charset="-120"/>
              </a:rPr>
              <a:t>03 · [FRZIII-PAY]</a:t>
            </a:r>
            <a:endParaRPr lang="en-US" sz="1200">
              <a:latin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a:solidFill>
                  <a:srgbClr val="E8772E"/>
                </a:solidFill>
                <a:latin typeface="DM Sans" pitchFamily="34" charset="0"/>
                <a:ea typeface="DM Sans" pitchFamily="34" charset="-122"/>
                <a:cs typeface="DM Sans" pitchFamily="34" charset="-120"/>
              </a:rPr>
              <a:t>PART 1 · PROBLEM &amp; GOALS</a:t>
            </a:r>
            <a:endParaRPr lang="en-US" sz="1200"/>
          </a:p>
        </p:txBody>
      </p:sp>
      <p:sp>
        <p:nvSpPr>
          <p:cNvPr id="3" name="Text 1"/>
          <p:cNvSpPr>
            <a:spLocks noGrp="1"/>
          </p:cNvSpPr>
          <p:nvPr>
            <p:ph type="title"/>
          </p:nvPr>
        </p:nvSpPr>
        <p:spPr>
          <a:xfrm>
            <a:off x="812800" y="1102320"/>
            <a:ext cx="10883392" cy="472430"/>
          </a:xfrm>
          <a:prstGeom prst="rect">
            <a:avLst/>
          </a:prstGeom>
          <a:noFill/>
        </p:spPr>
        <p:txBody>
          <a:bodyPr wrap="square" lIns="0" tIns="0" rIns="0" bIns="0" rtlCol="0" anchor="t">
            <a:normAutofit/>
          </a:bodyPr>
          <a:lstStyle/>
          <a:p>
            <a:pPr marL="0" indent="0" algn="l">
              <a:lnSpc>
                <a:spcPts val="3520"/>
              </a:lnSpc>
              <a:buNone/>
            </a:pPr>
            <a:r>
              <a:rPr lang="en-US" sz="3200" b="1" i="0">
                <a:solidFill>
                  <a:srgbClr val="F7F5EF"/>
                </a:solidFill>
                <a:latin typeface="DM Sans" pitchFamily="34" charset="0"/>
                <a:ea typeface="DM Sans" pitchFamily="34" charset="-122"/>
                <a:cs typeface="DM Sans" pitchFamily="34" charset="-120"/>
              </a:rPr>
              <a:t>Problem Statement</a:t>
            </a:r>
            <a:endParaRPr lang="en-US" sz="3200"/>
          </a:p>
        </p:txBody>
      </p:sp>
      <p:sp>
        <p:nvSpPr>
          <p:cNvPr id="4" name="Text 2"/>
          <p:cNvSpPr/>
          <p:nvPr/>
        </p:nvSpPr>
        <p:spPr>
          <a:xfrm>
            <a:off x="812800" y="1803350"/>
            <a:ext cx="10883392" cy="711200"/>
          </a:xfrm>
          <a:prstGeom prst="rect">
            <a:avLst/>
          </a:prstGeom>
          <a:noFill/>
        </p:spPr>
        <p:txBody>
          <a:bodyPr wrap="square" lIns="0" tIns="0" rIns="0" bIns="0" rtlCol="0" anchor="t">
            <a:normAutofit/>
          </a:bodyPr>
          <a:lstStyle/>
          <a:p>
            <a:pPr marL="0" indent="0" algn="l">
              <a:lnSpc>
                <a:spcPts val="2700"/>
              </a:lnSpc>
              <a:buNone/>
            </a:pPr>
            <a:r>
              <a:rPr lang="en-US" sz="2000">
                <a:solidFill>
                  <a:srgbClr val="F7F5EF"/>
                </a:solidFill>
                <a:latin typeface="DM Sans" pitchFamily="34" charset="0"/>
                <a:ea typeface="DM Sans" pitchFamily="34" charset="-122"/>
                <a:cs typeface="DM Sans" pitchFamily="34" charset="-120"/>
              </a:rPr>
              <a:t>[Describe the problem in 2–3 lines. Example: Manual record keeping in [domain] is slow, error-prone and difficult to search.]</a:t>
            </a:r>
            <a:endParaRPr lang="en-US" sz="2000"/>
          </a:p>
        </p:txBody>
      </p:sp>
      <p:sp>
        <p:nvSpPr>
          <p:cNvPr id="5" name="Shape 3"/>
          <p:cNvSpPr/>
          <p:nvPr/>
        </p:nvSpPr>
        <p:spPr>
          <a:xfrm>
            <a:off x="812800" y="2743150"/>
            <a:ext cx="3420517" cy="1255764"/>
          </a:xfrm>
          <a:prstGeom prst="roundRect">
            <a:avLst>
              <a:gd name="adj" fmla="val 11065"/>
            </a:avLst>
          </a:prstGeom>
          <a:solidFill>
            <a:srgbClr val="1F2F54"/>
          </a:solidFill>
        </p:spPr>
      </p:sp>
      <p:sp>
        <p:nvSpPr>
          <p:cNvPr id="6" name="Text 4"/>
          <p:cNvSpPr/>
          <p:nvPr/>
        </p:nvSpPr>
        <p:spPr>
          <a:xfrm>
            <a:off x="1016000" y="2946350"/>
            <a:ext cx="3104540" cy="238720"/>
          </a:xfrm>
          <a:prstGeom prst="rect">
            <a:avLst/>
          </a:prstGeom>
          <a:noFill/>
        </p:spPr>
        <p:txBody>
          <a:bodyPr wrap="square" lIns="0" tIns="0" rIns="0" bIns="0" rtlCol="0" anchor="t">
            <a:normAutofit/>
          </a:bodyPr>
          <a:lstStyle/>
          <a:p>
            <a:pPr marL="0" indent="0" algn="l">
              <a:lnSpc>
                <a:spcPts val="1680"/>
              </a:lnSpc>
              <a:buNone/>
            </a:pPr>
            <a:r>
              <a:rPr lang="en-US" sz="1200" b="1" kern="0" spc="100">
                <a:solidFill>
                  <a:srgbClr val="E8772E"/>
                </a:solidFill>
                <a:latin typeface="DM Sans" pitchFamily="34" charset="0"/>
                <a:ea typeface="DM Sans" pitchFamily="34" charset="-122"/>
                <a:cs typeface="DM Sans" pitchFamily="34" charset="-120"/>
              </a:rPr>
              <a:t>PAIN POINT 1</a:t>
            </a:r>
            <a:endParaRPr lang="en-US" sz="1200"/>
          </a:p>
        </p:txBody>
      </p:sp>
      <p:sp>
        <p:nvSpPr>
          <p:cNvPr id="7" name="Text 5"/>
          <p:cNvSpPr/>
          <p:nvPr/>
        </p:nvSpPr>
        <p:spPr>
          <a:xfrm>
            <a:off x="1016000" y="3210471"/>
            <a:ext cx="3104540" cy="273050"/>
          </a:xfrm>
          <a:prstGeom prst="rect">
            <a:avLst/>
          </a:prstGeom>
          <a:noFill/>
        </p:spPr>
        <p:txBody>
          <a:bodyPr wrap="square" lIns="0" tIns="0" rIns="0" bIns="0" rtlCol="0" anchor="t">
            <a:normAutofit fontScale="92500"/>
          </a:bodyPr>
          <a:lstStyle/>
          <a:p>
            <a:pPr>
              <a:lnSpc>
                <a:spcPts val="1950"/>
              </a:lnSpc>
            </a:pPr>
            <a:r>
              <a:rPr lang="en-US" sz="1500">
                <a:solidFill>
                  <a:srgbClr val="F7F5EF"/>
                </a:solidFill>
                <a:latin typeface="DM Sans"/>
                <a:ea typeface="DM Sans" pitchFamily="34" charset="-122"/>
                <a:cs typeface="DM Sans" pitchFamily="34" charset="-120"/>
              </a:rPr>
              <a:t>[TIME CONSUMING MANUAL ENTRY]</a:t>
            </a:r>
            <a:endParaRPr lang="en-US" sz="1500">
              <a:latin typeface="DM Sans"/>
            </a:endParaRPr>
          </a:p>
        </p:txBody>
      </p:sp>
      <p:sp>
        <p:nvSpPr>
          <p:cNvPr id="8" name="Shape 6"/>
          <p:cNvSpPr/>
          <p:nvPr/>
        </p:nvSpPr>
        <p:spPr>
          <a:xfrm>
            <a:off x="4385717" y="2743150"/>
            <a:ext cx="3420566" cy="1246119"/>
          </a:xfrm>
          <a:prstGeom prst="roundRect">
            <a:avLst>
              <a:gd name="adj" fmla="val 11065"/>
            </a:avLst>
          </a:prstGeom>
          <a:solidFill>
            <a:srgbClr val="1F2F54"/>
          </a:solidFill>
        </p:spPr>
      </p:sp>
      <p:sp>
        <p:nvSpPr>
          <p:cNvPr id="9" name="Text 7"/>
          <p:cNvSpPr/>
          <p:nvPr/>
        </p:nvSpPr>
        <p:spPr>
          <a:xfrm>
            <a:off x="4588917" y="2946350"/>
            <a:ext cx="3104591" cy="238720"/>
          </a:xfrm>
          <a:prstGeom prst="rect">
            <a:avLst/>
          </a:prstGeom>
          <a:noFill/>
        </p:spPr>
        <p:txBody>
          <a:bodyPr wrap="square" lIns="0" tIns="0" rIns="0" bIns="0" rtlCol="0" anchor="t">
            <a:normAutofit/>
          </a:bodyPr>
          <a:lstStyle/>
          <a:p>
            <a:pPr marL="0" indent="0" algn="l">
              <a:lnSpc>
                <a:spcPts val="1680"/>
              </a:lnSpc>
              <a:buNone/>
            </a:pPr>
            <a:r>
              <a:rPr lang="en-US" sz="1200" b="1" kern="0" spc="100">
                <a:solidFill>
                  <a:srgbClr val="E8772E"/>
                </a:solidFill>
                <a:latin typeface="DM Sans" pitchFamily="34" charset="0"/>
                <a:ea typeface="DM Sans" pitchFamily="34" charset="-122"/>
                <a:cs typeface="DM Sans" pitchFamily="34" charset="-120"/>
              </a:rPr>
              <a:t>PAIN POINT 2</a:t>
            </a:r>
            <a:endParaRPr lang="en-US" sz="1200"/>
          </a:p>
        </p:txBody>
      </p:sp>
      <p:sp>
        <p:nvSpPr>
          <p:cNvPr id="10" name="Text 8"/>
          <p:cNvSpPr/>
          <p:nvPr/>
        </p:nvSpPr>
        <p:spPr>
          <a:xfrm>
            <a:off x="4588917" y="3191180"/>
            <a:ext cx="3104591" cy="697454"/>
          </a:xfrm>
          <a:prstGeom prst="rect">
            <a:avLst/>
          </a:prstGeom>
          <a:noFill/>
        </p:spPr>
        <p:txBody>
          <a:bodyPr wrap="square" lIns="0" tIns="0" rIns="0" bIns="0" rtlCol="0" anchor="t">
            <a:normAutofit/>
          </a:bodyPr>
          <a:lstStyle/>
          <a:p>
            <a:pPr>
              <a:lnSpc>
                <a:spcPts val="1950"/>
              </a:lnSpc>
            </a:pPr>
            <a:r>
              <a:rPr lang="en-US" sz="1500">
                <a:solidFill>
                  <a:srgbClr val="F7F5EF"/>
                </a:solidFill>
                <a:latin typeface="DM Sans"/>
              </a:rPr>
              <a:t>[HIGH RISK OF INPUT ERROR ]</a:t>
            </a:r>
            <a:endParaRPr lang="en-US" sz="1500" dirty="0">
              <a:latin typeface="DM Sans"/>
            </a:endParaRPr>
          </a:p>
        </p:txBody>
      </p:sp>
      <p:sp>
        <p:nvSpPr>
          <p:cNvPr id="11" name="Shape 9"/>
          <p:cNvSpPr/>
          <p:nvPr/>
        </p:nvSpPr>
        <p:spPr>
          <a:xfrm>
            <a:off x="7958683" y="2743150"/>
            <a:ext cx="3420517" cy="1236473"/>
          </a:xfrm>
          <a:prstGeom prst="roundRect">
            <a:avLst>
              <a:gd name="adj" fmla="val 11065"/>
            </a:avLst>
          </a:prstGeom>
          <a:solidFill>
            <a:srgbClr val="1F2F54"/>
          </a:solidFill>
        </p:spPr>
      </p:sp>
      <p:sp>
        <p:nvSpPr>
          <p:cNvPr id="12" name="Text 10"/>
          <p:cNvSpPr/>
          <p:nvPr/>
        </p:nvSpPr>
        <p:spPr>
          <a:xfrm>
            <a:off x="8161883" y="2946350"/>
            <a:ext cx="3104540" cy="238720"/>
          </a:xfrm>
          <a:prstGeom prst="rect">
            <a:avLst/>
          </a:prstGeom>
          <a:noFill/>
        </p:spPr>
        <p:txBody>
          <a:bodyPr wrap="square" lIns="0" tIns="0" rIns="0" bIns="0" rtlCol="0" anchor="t">
            <a:normAutofit/>
          </a:bodyPr>
          <a:lstStyle/>
          <a:p>
            <a:pPr marL="0" indent="0" algn="l">
              <a:lnSpc>
                <a:spcPts val="1680"/>
              </a:lnSpc>
              <a:buNone/>
            </a:pPr>
            <a:r>
              <a:rPr lang="en-US" sz="1200" b="1" kern="0" spc="100">
                <a:solidFill>
                  <a:srgbClr val="E8772E"/>
                </a:solidFill>
                <a:latin typeface="DM Sans" pitchFamily="34" charset="0"/>
                <a:ea typeface="DM Sans" pitchFamily="34" charset="-122"/>
                <a:cs typeface="DM Sans" pitchFamily="34" charset="-120"/>
              </a:rPr>
              <a:t>PAIN POINT 3</a:t>
            </a:r>
            <a:endParaRPr lang="en-US" sz="1200"/>
          </a:p>
        </p:txBody>
      </p:sp>
      <p:sp>
        <p:nvSpPr>
          <p:cNvPr id="13" name="Text 11"/>
          <p:cNvSpPr/>
          <p:nvPr/>
        </p:nvSpPr>
        <p:spPr>
          <a:xfrm>
            <a:off x="8161883" y="3210471"/>
            <a:ext cx="3104540" cy="273050"/>
          </a:xfrm>
          <a:prstGeom prst="rect">
            <a:avLst/>
          </a:prstGeom>
          <a:noFill/>
        </p:spPr>
        <p:txBody>
          <a:bodyPr wrap="square" lIns="0" tIns="0" rIns="0" bIns="0" rtlCol="0" anchor="t">
            <a:normAutofit fontScale="70000" lnSpcReduction="20000"/>
          </a:bodyPr>
          <a:lstStyle/>
          <a:p>
            <a:pPr>
              <a:lnSpc>
                <a:spcPts val="1950"/>
              </a:lnSpc>
            </a:pPr>
            <a:r>
              <a:rPr lang="en-US" sz="1500" dirty="0">
                <a:solidFill>
                  <a:srgbClr val="F7F5EF"/>
                </a:solidFill>
                <a:latin typeface="DM Sans"/>
              </a:rPr>
              <a:t>[LACK OF </a:t>
            </a:r>
            <a:r>
              <a:rPr lang="en-US" sz="1500" dirty="0" err="1">
                <a:solidFill>
                  <a:srgbClr val="F7F5EF"/>
                </a:solidFill>
                <a:latin typeface="DM Sans"/>
              </a:rPr>
              <a:t>REAL LIFE</a:t>
            </a:r>
            <a:r>
              <a:rPr lang="en-US" sz="1500" dirty="0">
                <a:solidFill>
                  <a:srgbClr val="F7F5EF"/>
                </a:solidFill>
                <a:latin typeface="DM Sans"/>
              </a:rPr>
              <a:t> PROOF&amp;FIXED AMOUNT]</a:t>
            </a:r>
            <a:endParaRPr lang="en-US" sz="1500" dirty="0">
              <a:latin typeface="DM Sans"/>
            </a:endParaRPr>
          </a:p>
        </p:txBody>
      </p:sp>
      <p:sp>
        <p:nvSpPr>
          <p:cNvPr id="14" name="Text 12"/>
          <p:cNvSpPr/>
          <p:nvPr/>
        </p:nvSpPr>
        <p:spPr>
          <a:xfrm>
            <a:off x="812800" y="6238280"/>
            <a:ext cx="7848600" cy="238720"/>
          </a:xfrm>
          <a:prstGeom prst="rect">
            <a:avLst/>
          </a:prstGeom>
          <a:noFill/>
        </p:spPr>
        <p:txBody>
          <a:bodyPr wrap="square" lIns="0" tIns="0" rIns="0" bIns="0" rtlCol="0" anchor="t">
            <a:normAutofit/>
          </a:bodyPr>
          <a:lstStyle/>
          <a:p>
            <a:pPr marL="0" indent="0" algn="l">
              <a:lnSpc>
                <a:spcPts val="1680"/>
              </a:lnSpc>
              <a:buNone/>
            </a:pPr>
            <a:r>
              <a:rPr lang="en-US" sz="1200">
                <a:solidFill>
                  <a:srgbClr val="C9D1E3"/>
                </a:solidFill>
                <a:latin typeface="DM Sans"/>
                <a:ea typeface="DM Sans" pitchFamily="34" charset="-122"/>
                <a:cs typeface="DM Sans" pitchFamily="34" charset="-120"/>
              </a:rPr>
              <a:t>04 · [FRZII-PAY]</a:t>
            </a:r>
            <a:endParaRPr lang="en-US" sz="1200">
              <a:latin typeface="DM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a:solidFill>
                  <a:srgbClr val="B4490F"/>
                </a:solidFill>
                <a:latin typeface="DM Sans" pitchFamily="34" charset="0"/>
                <a:ea typeface="DM Sans" pitchFamily="34" charset="-122"/>
                <a:cs typeface="DM Sans" pitchFamily="34" charset="-120"/>
              </a:rPr>
              <a:t>PART 1 · PROBLEM &amp; GOALS</a:t>
            </a:r>
            <a:endParaRPr lang="en-US" sz="1200"/>
          </a:p>
        </p:txBody>
      </p:sp>
      <p:sp>
        <p:nvSpPr>
          <p:cNvPr id="3" name="Text 1"/>
          <p:cNvSpPr>
            <a:spLocks noGrp="1"/>
          </p:cNvSpPr>
          <p:nvPr>
            <p:ph type="title"/>
          </p:nvPr>
        </p:nvSpPr>
        <p:spPr>
          <a:xfrm>
            <a:off x="812800" y="1102320"/>
            <a:ext cx="10883392" cy="472430"/>
          </a:xfrm>
          <a:prstGeom prst="rect">
            <a:avLst/>
          </a:prstGeom>
          <a:noFill/>
        </p:spPr>
        <p:txBody>
          <a:bodyPr wrap="square" lIns="0" tIns="0" rIns="0" bIns="0" rtlCol="0" anchor="t">
            <a:normAutofit/>
          </a:bodyPr>
          <a:lstStyle/>
          <a:p>
            <a:pPr marL="0" indent="0" algn="l">
              <a:lnSpc>
                <a:spcPts val="3520"/>
              </a:lnSpc>
              <a:buNone/>
            </a:pPr>
            <a:r>
              <a:rPr lang="en-US" sz="3200" b="1" i="0">
                <a:solidFill>
                  <a:srgbClr val="14213D"/>
                </a:solidFill>
                <a:latin typeface="DM Sans" pitchFamily="34" charset="0"/>
                <a:ea typeface="DM Sans" pitchFamily="34" charset="-122"/>
                <a:cs typeface="DM Sans" pitchFamily="34" charset="-120"/>
              </a:rPr>
              <a:t>Objectives &amp; Scope</a:t>
            </a:r>
            <a:endParaRPr lang="en-US" sz="3200"/>
          </a:p>
        </p:txBody>
      </p:sp>
      <p:sp>
        <p:nvSpPr>
          <p:cNvPr id="4" name="Shape 2"/>
          <p:cNvSpPr/>
          <p:nvPr/>
        </p:nvSpPr>
        <p:spPr>
          <a:xfrm>
            <a:off x="507317" y="1710069"/>
            <a:ext cx="6371623" cy="3257053"/>
          </a:xfrm>
          <a:prstGeom prst="roundRect">
            <a:avLst>
              <a:gd name="adj" fmla="val 3742"/>
            </a:avLst>
          </a:prstGeom>
          <a:solidFill>
            <a:srgbClr val="FFFFFF"/>
          </a:solidFill>
          <a:ln w="6350">
            <a:solidFill>
              <a:srgbClr val="DDD8CC"/>
            </a:solidFill>
            <a:prstDash val="solid"/>
          </a:ln>
        </p:spPr>
      </p:sp>
      <p:sp>
        <p:nvSpPr>
          <p:cNvPr id="5" name="Text 3"/>
          <p:cNvSpPr/>
          <p:nvPr/>
        </p:nvSpPr>
        <p:spPr>
          <a:xfrm>
            <a:off x="1073150" y="2063700"/>
            <a:ext cx="6082665" cy="238720"/>
          </a:xfrm>
          <a:prstGeom prst="rect">
            <a:avLst/>
          </a:prstGeom>
          <a:noFill/>
        </p:spPr>
        <p:txBody>
          <a:bodyPr wrap="square" lIns="0" tIns="0" rIns="0" bIns="0" rtlCol="0" anchor="t">
            <a:normAutofit/>
          </a:bodyPr>
          <a:lstStyle/>
          <a:p>
            <a:pPr marL="0" indent="0" algn="l">
              <a:lnSpc>
                <a:spcPts val="1680"/>
              </a:lnSpc>
              <a:buNone/>
            </a:pPr>
            <a:r>
              <a:rPr lang="en-US" sz="1200" b="1" kern="0" spc="100">
                <a:solidFill>
                  <a:srgbClr val="B4490F"/>
                </a:solidFill>
                <a:latin typeface="DM Sans" pitchFamily="34" charset="0"/>
                <a:ea typeface="DM Sans" pitchFamily="34" charset="-122"/>
                <a:cs typeface="DM Sans" pitchFamily="34" charset="-120"/>
              </a:rPr>
              <a:t>OBJECTIVES</a:t>
            </a:r>
            <a:endParaRPr lang="en-US" sz="1200"/>
          </a:p>
        </p:txBody>
      </p:sp>
      <p:sp>
        <p:nvSpPr>
          <p:cNvPr id="6" name="Text 4"/>
          <p:cNvSpPr/>
          <p:nvPr/>
        </p:nvSpPr>
        <p:spPr>
          <a:xfrm>
            <a:off x="1083929" y="2407557"/>
            <a:ext cx="6073911" cy="2253527"/>
          </a:xfrm>
          <a:prstGeom prst="rect">
            <a:avLst/>
          </a:prstGeom>
          <a:noFill/>
        </p:spPr>
        <p:txBody>
          <a:bodyPr wrap="square" lIns="0" tIns="0" rIns="0" bIns="0" rtlCol="0" anchor="t">
            <a:normAutofit/>
          </a:bodyPr>
          <a:lstStyle/>
          <a:p>
            <a:pPr marL="204470" indent="-204470">
              <a:lnSpc>
                <a:spcPts val="2400"/>
              </a:lnSpc>
              <a:buSzPct val="100000"/>
              <a:buFontTx/>
              <a:buAutoNum type="arabicPeriod"/>
            </a:pPr>
            <a:r>
              <a:rPr lang="en-US" sz="1500">
                <a:solidFill>
                  <a:srgbClr val="14213D"/>
                </a:solidFill>
                <a:latin typeface="DM Sans"/>
              </a:rPr>
              <a:t>[DESIGNED A </a:t>
            </a:r>
            <a:r>
              <a:rPr lang="en-US" sz="1500" err="1">
                <a:solidFill>
                  <a:srgbClr val="14213D"/>
                </a:solidFill>
                <a:latin typeface="DM Sans"/>
              </a:rPr>
              <a:t>USER FRIENDLY</a:t>
            </a:r>
            <a:r>
              <a:rPr lang="en-US" sz="1500">
                <a:solidFill>
                  <a:srgbClr val="14213D"/>
                </a:solidFill>
                <a:latin typeface="DM Sans"/>
              </a:rPr>
              <a:t> JAVA APPLICATION TO GENERATE FAST AND ACCURATE QR CODE]</a:t>
            </a:r>
            <a:endParaRPr lang="en-US" sz="1500">
              <a:latin typeface="DM Sans"/>
            </a:endParaRPr>
          </a:p>
          <a:p>
            <a:pPr marL="204470" indent="-204470" algn="l">
              <a:lnSpc>
                <a:spcPts val="2400"/>
              </a:lnSpc>
              <a:buSzPct val="100000"/>
              <a:buFontTx/>
              <a:buAutoNum type="arabicPeriod"/>
            </a:pPr>
            <a:r>
              <a:rPr lang="en-US" sz="1500">
                <a:solidFill>
                  <a:srgbClr val="14213D"/>
                </a:solidFill>
                <a:latin typeface="DM Sans" pitchFamily="34" charset="0"/>
                <a:ea typeface="DM Sans" pitchFamily="34" charset="-122"/>
                <a:cs typeface="DM Sans" pitchFamily="34" charset="-120"/>
              </a:rPr>
              <a:t>[Apply OOP concepts: classes, inheritance, polymorphism]</a:t>
            </a:r>
            <a:endParaRPr lang="en-US" sz="1500"/>
          </a:p>
          <a:p>
            <a:pPr marL="204470" indent="-204470">
              <a:lnSpc>
                <a:spcPts val="2400"/>
              </a:lnSpc>
              <a:buSzPct val="100000"/>
              <a:buFontTx/>
              <a:buAutoNum type="arabicPeriod"/>
            </a:pPr>
            <a:r>
              <a:rPr lang="en-US" sz="1500">
                <a:solidFill>
                  <a:srgbClr val="14213D"/>
                </a:solidFill>
                <a:latin typeface="DM Sans"/>
              </a:rPr>
              <a:t>[IT IMPLIMENTS A TIME BOUND FOR PAYMENT]</a:t>
            </a:r>
            <a:endParaRPr lang="en-US" sz="1500">
              <a:latin typeface="DM Sans"/>
            </a:endParaRPr>
          </a:p>
          <a:p>
            <a:pPr marL="204470" indent="-204470" algn="l">
              <a:lnSpc>
                <a:spcPts val="2400"/>
              </a:lnSpc>
              <a:buSzPct val="100000"/>
              <a:buFontTx/>
              <a:buAutoNum type="arabicPeriod"/>
            </a:pPr>
            <a:r>
              <a:rPr lang="en-US" sz="1500">
                <a:solidFill>
                  <a:srgbClr val="14213D"/>
                </a:solidFill>
                <a:latin typeface="DM Sans" pitchFamily="34" charset="0"/>
                <a:ea typeface="DM Sans" pitchFamily="34" charset="-122"/>
                <a:cs typeface="DM Sans" pitchFamily="34" charset="-120"/>
              </a:rPr>
              <a:t>[Build a simple, user-friendly interface]</a:t>
            </a:r>
            <a:endParaRPr lang="en-US" sz="1500"/>
          </a:p>
          <a:p>
            <a:pPr marL="204470" indent="-204470">
              <a:lnSpc>
                <a:spcPts val="2400"/>
              </a:lnSpc>
              <a:buSzPct val="100000"/>
              <a:buFontTx/>
              <a:buAutoNum type="arabicPeriod"/>
            </a:pPr>
            <a:r>
              <a:rPr lang="en-US" sz="1500">
                <a:solidFill>
                  <a:srgbClr val="14213D"/>
                </a:solidFill>
                <a:latin typeface="DM Sans"/>
              </a:rPr>
              <a:t>[HANDLING INVALID INPUT AND FILE SAVING ERROR SMOOTHLY]</a:t>
            </a:r>
            <a:endParaRPr lang="en-US" sz="1500">
              <a:latin typeface="DM Sans"/>
            </a:endParaRPr>
          </a:p>
        </p:txBody>
      </p:sp>
      <p:sp>
        <p:nvSpPr>
          <p:cNvPr id="7" name="Shape 5"/>
          <p:cNvSpPr/>
          <p:nvPr/>
        </p:nvSpPr>
        <p:spPr>
          <a:xfrm>
            <a:off x="7445375" y="1526804"/>
            <a:ext cx="3930650" cy="1804757"/>
          </a:xfrm>
          <a:prstGeom prst="roundRect">
            <a:avLst>
              <a:gd name="adj" fmla="val 7965"/>
            </a:avLst>
          </a:prstGeom>
          <a:solidFill>
            <a:srgbClr val="FFFFFF"/>
          </a:solidFill>
          <a:ln w="6350">
            <a:solidFill>
              <a:srgbClr val="DDD8CC"/>
            </a:solidFill>
            <a:prstDash val="solid"/>
          </a:ln>
        </p:spPr>
      </p:sp>
      <p:sp>
        <p:nvSpPr>
          <p:cNvPr id="8" name="Text 6"/>
          <p:cNvSpPr/>
          <p:nvPr/>
        </p:nvSpPr>
        <p:spPr>
          <a:xfrm>
            <a:off x="7651750" y="2012900"/>
            <a:ext cx="3623437" cy="238720"/>
          </a:xfrm>
          <a:prstGeom prst="rect">
            <a:avLst/>
          </a:prstGeom>
          <a:noFill/>
        </p:spPr>
        <p:txBody>
          <a:bodyPr wrap="square" lIns="0" tIns="0" rIns="0" bIns="0" rtlCol="0" anchor="t">
            <a:normAutofit/>
          </a:bodyPr>
          <a:lstStyle/>
          <a:p>
            <a:pPr marL="0" indent="0" algn="l">
              <a:lnSpc>
                <a:spcPts val="1680"/>
              </a:lnSpc>
              <a:buNone/>
            </a:pPr>
            <a:r>
              <a:rPr lang="en-US" sz="1200" b="1" kern="0" spc="100">
                <a:solidFill>
                  <a:srgbClr val="B4490F"/>
                </a:solidFill>
                <a:latin typeface="DM Sans" pitchFamily="34" charset="0"/>
                <a:ea typeface="DM Sans" pitchFamily="34" charset="-122"/>
                <a:cs typeface="DM Sans" pitchFamily="34" charset="-120"/>
              </a:rPr>
              <a:t>SCOPE</a:t>
            </a:r>
            <a:endParaRPr lang="en-US" sz="1200"/>
          </a:p>
        </p:txBody>
      </p:sp>
      <p:sp>
        <p:nvSpPr>
          <p:cNvPr id="9" name="Text 7"/>
          <p:cNvSpPr/>
          <p:nvPr/>
        </p:nvSpPr>
        <p:spPr>
          <a:xfrm>
            <a:off x="7668815" y="2244549"/>
            <a:ext cx="3608397" cy="1282217"/>
          </a:xfrm>
          <a:prstGeom prst="rect">
            <a:avLst/>
          </a:prstGeom>
          <a:noFill/>
        </p:spPr>
        <p:txBody>
          <a:bodyPr wrap="square" lIns="0" tIns="0" rIns="0" bIns="0" rtlCol="0" anchor="t">
            <a:normAutofit/>
          </a:bodyPr>
          <a:lstStyle/>
          <a:p>
            <a:pPr marL="168910" indent="-168910">
              <a:lnSpc>
                <a:spcPts val="2100"/>
              </a:lnSpc>
              <a:buSzPct val="100000"/>
              <a:buChar char="•"/>
            </a:pPr>
            <a:r>
              <a:rPr lang="en-US" sz="1400">
                <a:solidFill>
                  <a:srgbClr val="14213D"/>
                </a:solidFill>
                <a:latin typeface="DM Sans"/>
              </a:rPr>
              <a:t>[GENERATE DYNAMIC UPI QR CODES USING PAYMENT DETAILS]</a:t>
            </a:r>
            <a:endParaRPr lang="en-US" sz="1400">
              <a:latin typeface="DM Sans"/>
            </a:endParaRPr>
          </a:p>
          <a:p>
            <a:pPr marL="168910" indent="-168910">
              <a:lnSpc>
                <a:spcPts val="2100"/>
              </a:lnSpc>
              <a:buSzPct val="100000"/>
              <a:buChar char="•"/>
            </a:pPr>
            <a:r>
              <a:rPr lang="en-US" sz="1400">
                <a:solidFill>
                  <a:srgbClr val="14213D"/>
                </a:solidFill>
                <a:latin typeface="DM Sans"/>
              </a:rPr>
              <a:t>[SUPPORTS USERS:SMALL BUSINESS,AND GENERAL PUBLIC]</a:t>
            </a:r>
            <a:endParaRPr lang="en-US" sz="1400">
              <a:latin typeface="DM Sans"/>
            </a:endParaRPr>
          </a:p>
        </p:txBody>
      </p:sp>
      <p:sp>
        <p:nvSpPr>
          <p:cNvPr id="10" name="Shape 8"/>
          <p:cNvSpPr/>
          <p:nvPr/>
        </p:nvSpPr>
        <p:spPr>
          <a:xfrm>
            <a:off x="7445375" y="3683224"/>
            <a:ext cx="3930650" cy="1795113"/>
          </a:xfrm>
          <a:prstGeom prst="roundRect">
            <a:avLst>
              <a:gd name="adj" fmla="val 7965"/>
            </a:avLst>
          </a:prstGeom>
          <a:solidFill>
            <a:srgbClr val="FFFFFF"/>
          </a:solidFill>
          <a:ln w="6350">
            <a:solidFill>
              <a:srgbClr val="DDD8CC"/>
            </a:solidFill>
            <a:prstDash val="solid"/>
          </a:ln>
        </p:spPr>
      </p:sp>
      <p:sp>
        <p:nvSpPr>
          <p:cNvPr id="11" name="Text 9"/>
          <p:cNvSpPr/>
          <p:nvPr/>
        </p:nvSpPr>
        <p:spPr>
          <a:xfrm>
            <a:off x="7671041" y="3793144"/>
            <a:ext cx="3604147" cy="701707"/>
          </a:xfrm>
          <a:prstGeom prst="rect">
            <a:avLst/>
          </a:prstGeom>
          <a:noFill/>
        </p:spPr>
        <p:txBody>
          <a:bodyPr wrap="square" lIns="0" tIns="0" rIns="0" bIns="0" rtlCol="0" anchor="t">
            <a:normAutofit/>
          </a:bodyPr>
          <a:lstStyle/>
          <a:p>
            <a:pPr marL="0" indent="0" algn="l">
              <a:lnSpc>
                <a:spcPts val="1680"/>
              </a:lnSpc>
              <a:buNone/>
            </a:pPr>
            <a:r>
              <a:rPr lang="en-US" sz="1200" b="1" kern="0" spc="100">
                <a:solidFill>
                  <a:srgbClr val="B4490F"/>
                </a:solidFill>
                <a:latin typeface="DM Sans" pitchFamily="34" charset="0"/>
                <a:ea typeface="DM Sans" pitchFamily="34" charset="-122"/>
                <a:cs typeface="DM Sans" pitchFamily="34" charset="-120"/>
              </a:rPr>
              <a:t>LIMITATIONS</a:t>
            </a:r>
            <a:endParaRPr lang="en-US" sz="1200"/>
          </a:p>
        </p:txBody>
      </p:sp>
      <p:sp>
        <p:nvSpPr>
          <p:cNvPr id="12" name="Text 10"/>
          <p:cNvSpPr/>
          <p:nvPr/>
        </p:nvSpPr>
        <p:spPr>
          <a:xfrm>
            <a:off x="7649523" y="4140537"/>
            <a:ext cx="3627689" cy="1195407"/>
          </a:xfrm>
          <a:prstGeom prst="rect">
            <a:avLst/>
          </a:prstGeom>
          <a:noFill/>
        </p:spPr>
        <p:txBody>
          <a:bodyPr wrap="square" lIns="0" tIns="0" rIns="0" bIns="0" rtlCol="0" anchor="t">
            <a:normAutofit/>
          </a:bodyPr>
          <a:lstStyle/>
          <a:p>
            <a:pPr marL="168910" indent="-168910">
              <a:lnSpc>
                <a:spcPts val="2100"/>
              </a:lnSpc>
              <a:buSzPct val="100000"/>
              <a:buChar char="•"/>
            </a:pPr>
            <a:r>
              <a:rPr lang="en-US" sz="1400">
                <a:solidFill>
                  <a:srgbClr val="14213D"/>
                </a:solidFill>
                <a:latin typeface="DM Sans"/>
              </a:rPr>
              <a:t>[REQUIRES ACTIVE INTERNET CONNECTIVITY TO FETCH QR CODE]</a:t>
            </a:r>
            <a:endParaRPr lang="en-US" sz="1400">
              <a:latin typeface="DM Sans"/>
            </a:endParaRPr>
          </a:p>
          <a:p>
            <a:pPr marL="168910" indent="-168910">
              <a:lnSpc>
                <a:spcPts val="2100"/>
              </a:lnSpc>
              <a:buSzPct val="100000"/>
              <a:buChar char="•"/>
            </a:pPr>
            <a:r>
              <a:rPr lang="en-US" sz="1400">
                <a:solidFill>
                  <a:srgbClr val="14213D"/>
                </a:solidFill>
                <a:latin typeface="DM Sans"/>
              </a:rPr>
              <a:t>[PAYMENT BE INVALID ONES WHEN TIMER FINISH]</a:t>
            </a:r>
            <a:endParaRPr lang="en-US" sz="1400">
              <a:latin typeface="DM Sans"/>
            </a:endParaRPr>
          </a:p>
        </p:txBody>
      </p:sp>
      <p:sp>
        <p:nvSpPr>
          <p:cNvPr id="13" name="Text 11"/>
          <p:cNvSpPr/>
          <p:nvPr/>
        </p:nvSpPr>
        <p:spPr>
          <a:xfrm>
            <a:off x="812800" y="6238280"/>
            <a:ext cx="7848600" cy="238720"/>
          </a:xfrm>
          <a:prstGeom prst="rect">
            <a:avLst/>
          </a:prstGeom>
          <a:noFill/>
        </p:spPr>
        <p:txBody>
          <a:bodyPr wrap="square" lIns="0" tIns="0" rIns="0" bIns="0" rtlCol="0" anchor="t">
            <a:normAutofit/>
          </a:bodyPr>
          <a:lstStyle/>
          <a:p>
            <a:pPr marL="0" indent="0" algn="l">
              <a:lnSpc>
                <a:spcPts val="1680"/>
              </a:lnSpc>
              <a:buNone/>
            </a:pPr>
            <a:r>
              <a:rPr lang="en-US" sz="1200">
                <a:solidFill>
                  <a:srgbClr val="4A5568"/>
                </a:solidFill>
                <a:latin typeface="DM Sans"/>
                <a:ea typeface="DM Sans" pitchFamily="34" charset="-122"/>
                <a:cs typeface="DM Sans" pitchFamily="34" charset="-120"/>
              </a:rPr>
              <a:t>05 · [FRZIII-PAY]</a:t>
            </a:r>
            <a:endParaRPr lang="en-US" sz="1200">
              <a:latin typeface="DM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CE8D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a:solidFill>
                  <a:srgbClr val="B4490F"/>
                </a:solidFill>
                <a:latin typeface="DM Sans" pitchFamily="34" charset="0"/>
                <a:ea typeface="DM Sans" pitchFamily="34" charset="-122"/>
                <a:cs typeface="DM Sans" pitchFamily="34" charset="-120"/>
              </a:rPr>
              <a:t>PART 1 · PROBLEM &amp; GOALS</a:t>
            </a:r>
            <a:endParaRPr lang="en-US" sz="1200"/>
          </a:p>
        </p:txBody>
      </p:sp>
      <p:sp>
        <p:nvSpPr>
          <p:cNvPr id="3" name="Text 1"/>
          <p:cNvSpPr>
            <a:spLocks noGrp="1"/>
          </p:cNvSpPr>
          <p:nvPr>
            <p:ph type="title"/>
          </p:nvPr>
        </p:nvSpPr>
        <p:spPr>
          <a:xfrm>
            <a:off x="812800" y="1102320"/>
            <a:ext cx="10883392" cy="472430"/>
          </a:xfrm>
          <a:prstGeom prst="rect">
            <a:avLst/>
          </a:prstGeom>
          <a:noFill/>
        </p:spPr>
        <p:txBody>
          <a:bodyPr wrap="square" lIns="0" tIns="0" rIns="0" bIns="0" rtlCol="0" anchor="t">
            <a:normAutofit/>
          </a:bodyPr>
          <a:lstStyle/>
          <a:p>
            <a:pPr marL="0" indent="0" algn="l">
              <a:lnSpc>
                <a:spcPts val="3520"/>
              </a:lnSpc>
              <a:buNone/>
            </a:pPr>
            <a:r>
              <a:rPr lang="en-US" sz="3200" b="1" i="0">
                <a:solidFill>
                  <a:srgbClr val="14213D"/>
                </a:solidFill>
                <a:latin typeface="DM Sans" pitchFamily="34" charset="0"/>
                <a:ea typeface="DM Sans" pitchFamily="34" charset="-122"/>
                <a:cs typeface="DM Sans" pitchFamily="34" charset="-120"/>
              </a:rPr>
              <a:t>Existing vs Proposed System</a:t>
            </a:r>
            <a:endParaRPr lang="en-US" sz="3200"/>
          </a:p>
        </p:txBody>
      </p:sp>
      <p:sp>
        <p:nvSpPr>
          <p:cNvPr id="4" name="Shape 2"/>
          <p:cNvSpPr/>
          <p:nvPr/>
        </p:nvSpPr>
        <p:spPr>
          <a:xfrm>
            <a:off x="815975" y="1806525"/>
            <a:ext cx="4902200" cy="2348111"/>
          </a:xfrm>
          <a:prstGeom prst="roundRect">
            <a:avLst>
              <a:gd name="adj" fmla="val 4192"/>
            </a:avLst>
          </a:prstGeom>
          <a:solidFill>
            <a:srgbClr val="FFFFFF"/>
          </a:solidFill>
          <a:ln w="6350">
            <a:solidFill>
              <a:srgbClr val="DDD8CC"/>
            </a:solidFill>
            <a:prstDash val="solid"/>
          </a:ln>
        </p:spPr>
      </p:sp>
      <p:sp>
        <p:nvSpPr>
          <p:cNvPr id="5" name="Text 3"/>
          <p:cNvSpPr/>
          <p:nvPr/>
        </p:nvSpPr>
        <p:spPr>
          <a:xfrm>
            <a:off x="1073150" y="2063700"/>
            <a:ext cx="4519486" cy="238720"/>
          </a:xfrm>
          <a:prstGeom prst="rect">
            <a:avLst/>
          </a:prstGeom>
          <a:noFill/>
        </p:spPr>
        <p:txBody>
          <a:bodyPr wrap="square" lIns="0" tIns="0" rIns="0" bIns="0" rtlCol="0" anchor="t">
            <a:normAutofit/>
          </a:bodyPr>
          <a:lstStyle/>
          <a:p>
            <a:pPr marL="0" indent="0" algn="l">
              <a:lnSpc>
                <a:spcPts val="1680"/>
              </a:lnSpc>
              <a:buNone/>
            </a:pPr>
            <a:r>
              <a:rPr lang="en-US" sz="1200" b="1" kern="0" spc="100">
                <a:solidFill>
                  <a:srgbClr val="4A5568"/>
                </a:solidFill>
                <a:latin typeface="DM Sans" pitchFamily="34" charset="0"/>
                <a:ea typeface="DM Sans" pitchFamily="34" charset="-122"/>
                <a:cs typeface="DM Sans" pitchFamily="34" charset="-120"/>
              </a:rPr>
              <a:t>BEFORE</a:t>
            </a:r>
            <a:endParaRPr lang="en-US" sz="1200"/>
          </a:p>
        </p:txBody>
      </p:sp>
      <p:sp>
        <p:nvSpPr>
          <p:cNvPr id="6" name="Text 4"/>
          <p:cNvSpPr/>
          <p:nvPr/>
        </p:nvSpPr>
        <p:spPr>
          <a:xfrm>
            <a:off x="1073150" y="2378621"/>
            <a:ext cx="4519486" cy="304800"/>
          </a:xfrm>
          <a:prstGeom prst="rect">
            <a:avLst/>
          </a:prstGeom>
          <a:noFill/>
        </p:spPr>
        <p:txBody>
          <a:bodyPr wrap="square" lIns="0" tIns="0" rIns="0" bIns="0" rtlCol="0" anchor="t">
            <a:normAutofit/>
          </a:bodyPr>
          <a:lstStyle/>
          <a:p>
            <a:pPr marL="0" indent="0" algn="l">
              <a:lnSpc>
                <a:spcPts val="2200"/>
              </a:lnSpc>
              <a:buNone/>
            </a:pPr>
            <a:r>
              <a:rPr lang="en-US" sz="2000" b="1">
                <a:solidFill>
                  <a:srgbClr val="14213D"/>
                </a:solidFill>
                <a:latin typeface="DM Sans" pitchFamily="34" charset="0"/>
                <a:ea typeface="DM Sans" pitchFamily="34" charset="-122"/>
                <a:cs typeface="DM Sans" pitchFamily="34" charset="-120"/>
              </a:rPr>
              <a:t>Existing System</a:t>
            </a:r>
            <a:endParaRPr lang="en-US" sz="2000"/>
          </a:p>
        </p:txBody>
      </p:sp>
      <p:sp>
        <p:nvSpPr>
          <p:cNvPr id="7" name="Text 5"/>
          <p:cNvSpPr/>
          <p:nvPr/>
        </p:nvSpPr>
        <p:spPr>
          <a:xfrm>
            <a:off x="1157732" y="2759621"/>
            <a:ext cx="4427283" cy="1163241"/>
          </a:xfrm>
          <a:prstGeom prst="rect">
            <a:avLst/>
          </a:prstGeom>
          <a:noFill/>
        </p:spPr>
        <p:txBody>
          <a:bodyPr wrap="square" lIns="0" tIns="0" rIns="0" bIns="0" rtlCol="0" anchor="t">
            <a:normAutofit/>
          </a:bodyPr>
          <a:lstStyle/>
          <a:p>
            <a:pPr marL="168910" indent="-168910">
              <a:lnSpc>
                <a:spcPts val="2240"/>
              </a:lnSpc>
              <a:buSzPct val="100000"/>
              <a:buChar char="•"/>
            </a:pPr>
            <a:r>
              <a:rPr lang="en-US" sz="1400">
                <a:solidFill>
                  <a:srgbClr val="14213D"/>
                </a:solidFill>
                <a:latin typeface="DM Sans"/>
                <a:ea typeface="DM Sans" pitchFamily="34" charset="-122"/>
                <a:cs typeface="DM Sans" pitchFamily="34" charset="-120"/>
              </a:rPr>
              <a:t>[MANUAL UPI TYPING]</a:t>
            </a:r>
            <a:endParaRPr lang="en-US" sz="1400">
              <a:latin typeface="DM Sans"/>
            </a:endParaRPr>
          </a:p>
          <a:p>
            <a:pPr marL="168910" indent="-168910">
              <a:lnSpc>
                <a:spcPts val="2240"/>
              </a:lnSpc>
              <a:buSzPct val="100000"/>
              <a:buChar char="•"/>
            </a:pPr>
            <a:r>
              <a:rPr lang="en-US" sz="1400">
                <a:solidFill>
                  <a:srgbClr val="14213D"/>
                </a:solidFill>
                <a:latin typeface="DM Sans"/>
                <a:ea typeface="DM Sans" pitchFamily="34" charset="-122"/>
                <a:cs typeface="DM Sans" pitchFamily="34" charset="-120"/>
              </a:rPr>
              <a:t>[NO TIME LIMITATION ON PAYMENT SESSION ]</a:t>
            </a:r>
            <a:endParaRPr lang="en-US" sz="1400">
              <a:latin typeface="DM Sans"/>
            </a:endParaRPr>
          </a:p>
          <a:p>
            <a:pPr marL="168910" indent="-168910">
              <a:lnSpc>
                <a:spcPts val="2240"/>
              </a:lnSpc>
              <a:buSzPct val="100000"/>
              <a:buChar char="•"/>
            </a:pPr>
            <a:r>
              <a:rPr lang="en-US" sz="1400">
                <a:solidFill>
                  <a:srgbClr val="14213D"/>
                </a:solidFill>
                <a:latin typeface="DM Sans"/>
              </a:rPr>
              <a:t>[UNCLEAR PAYMENT CONFIGRATION FOR USER]</a:t>
            </a:r>
            <a:endParaRPr lang="en-US" sz="1400">
              <a:latin typeface="DM Sans"/>
            </a:endParaRPr>
          </a:p>
          <a:p>
            <a:pPr marL="168910" indent="-168910">
              <a:lnSpc>
                <a:spcPts val="2240"/>
              </a:lnSpc>
              <a:buSzPct val="100000"/>
              <a:buChar char="•"/>
            </a:pPr>
            <a:r>
              <a:rPr lang="en-US" sz="1400">
                <a:solidFill>
                  <a:srgbClr val="14213D"/>
                </a:solidFill>
                <a:latin typeface="DM Sans"/>
              </a:rPr>
              <a:t>[NO DIGITAL RECEIPT EXPORT]</a:t>
            </a:r>
            <a:endParaRPr lang="en-US" sz="1400">
              <a:latin typeface="DM Sans"/>
            </a:endParaRPr>
          </a:p>
        </p:txBody>
      </p:sp>
      <p:pic>
        <p:nvPicPr>
          <p:cNvPr id="8" name="Image 0" descr="arrow-right"/>
          <p:cNvPicPr>
            <a:picLocks noChangeAspect="1"/>
          </p:cNvPicPr>
          <p:nvPr/>
        </p:nvPicPr>
        <p:blipFill>
          <a:blip r:embed="rId1"/>
          <a:srcRect/>
          <a:stretch>
            <a:fillRect/>
          </a:stretch>
        </p:blipFill>
        <p:spPr>
          <a:xfrm>
            <a:off x="5873750" y="2866281"/>
            <a:ext cx="457200" cy="228600"/>
          </a:xfrm>
          <a:prstGeom prst="rect">
            <a:avLst/>
          </a:prstGeom>
        </p:spPr>
      </p:pic>
      <p:sp>
        <p:nvSpPr>
          <p:cNvPr id="9" name="Shape 6"/>
          <p:cNvSpPr/>
          <p:nvPr/>
        </p:nvSpPr>
        <p:spPr>
          <a:xfrm>
            <a:off x="6483350" y="1809700"/>
            <a:ext cx="4895850" cy="2341761"/>
          </a:xfrm>
          <a:prstGeom prst="roundRect">
            <a:avLst>
              <a:gd name="adj" fmla="val 4339"/>
            </a:avLst>
          </a:prstGeom>
          <a:solidFill>
            <a:srgbClr val="14213D"/>
          </a:solidFill>
        </p:spPr>
      </p:sp>
      <p:sp>
        <p:nvSpPr>
          <p:cNvPr id="10" name="Text 7"/>
          <p:cNvSpPr/>
          <p:nvPr/>
        </p:nvSpPr>
        <p:spPr>
          <a:xfrm>
            <a:off x="6737350" y="2063700"/>
            <a:ext cx="4519486" cy="238720"/>
          </a:xfrm>
          <a:prstGeom prst="rect">
            <a:avLst/>
          </a:prstGeom>
          <a:noFill/>
        </p:spPr>
        <p:txBody>
          <a:bodyPr wrap="square" lIns="0" tIns="0" rIns="0" bIns="0" rtlCol="0" anchor="t">
            <a:normAutofit/>
          </a:bodyPr>
          <a:lstStyle/>
          <a:p>
            <a:pPr marL="0" indent="0" algn="l">
              <a:lnSpc>
                <a:spcPts val="1680"/>
              </a:lnSpc>
              <a:buNone/>
            </a:pPr>
            <a:r>
              <a:rPr lang="en-US" sz="1200" b="1" kern="0" spc="100">
                <a:solidFill>
                  <a:srgbClr val="E8772E"/>
                </a:solidFill>
                <a:latin typeface="DM Sans" pitchFamily="34" charset="0"/>
                <a:ea typeface="DM Sans" pitchFamily="34" charset="-122"/>
                <a:cs typeface="DM Sans" pitchFamily="34" charset="-120"/>
              </a:rPr>
              <a:t>AFTER</a:t>
            </a:r>
            <a:endParaRPr lang="en-US" sz="1200"/>
          </a:p>
        </p:txBody>
      </p:sp>
      <p:sp>
        <p:nvSpPr>
          <p:cNvPr id="11" name="Text 8"/>
          <p:cNvSpPr/>
          <p:nvPr/>
        </p:nvSpPr>
        <p:spPr>
          <a:xfrm>
            <a:off x="6737350" y="2378621"/>
            <a:ext cx="4519486" cy="304800"/>
          </a:xfrm>
          <a:prstGeom prst="rect">
            <a:avLst/>
          </a:prstGeom>
          <a:noFill/>
        </p:spPr>
        <p:txBody>
          <a:bodyPr wrap="square" lIns="0" tIns="0" rIns="0" bIns="0" rtlCol="0" anchor="t">
            <a:normAutofit/>
          </a:bodyPr>
          <a:lstStyle/>
          <a:p>
            <a:pPr marL="0" indent="0" algn="l">
              <a:lnSpc>
                <a:spcPts val="2200"/>
              </a:lnSpc>
              <a:buNone/>
            </a:pPr>
            <a:r>
              <a:rPr lang="en-US" sz="2000" b="1">
                <a:solidFill>
                  <a:srgbClr val="F7F5EF"/>
                </a:solidFill>
                <a:latin typeface="DM Sans" pitchFamily="34" charset="0"/>
                <a:ea typeface="DM Sans" pitchFamily="34" charset="-122"/>
                <a:cs typeface="DM Sans" pitchFamily="34" charset="-120"/>
              </a:rPr>
              <a:t>Proposed System</a:t>
            </a:r>
            <a:endParaRPr lang="en-US" sz="2000"/>
          </a:p>
        </p:txBody>
      </p:sp>
      <p:sp>
        <p:nvSpPr>
          <p:cNvPr id="12" name="Text 9"/>
          <p:cNvSpPr/>
          <p:nvPr/>
        </p:nvSpPr>
        <p:spPr>
          <a:xfrm>
            <a:off x="6821932" y="2759621"/>
            <a:ext cx="4427283" cy="1163241"/>
          </a:xfrm>
          <a:prstGeom prst="rect">
            <a:avLst/>
          </a:prstGeom>
          <a:noFill/>
        </p:spPr>
        <p:txBody>
          <a:bodyPr wrap="square" lIns="0" tIns="0" rIns="0" bIns="0" rtlCol="0" anchor="t">
            <a:normAutofit fontScale="85000" lnSpcReduction="10000"/>
          </a:bodyPr>
          <a:lstStyle/>
          <a:p>
            <a:pPr marL="168910" indent="-168910">
              <a:lnSpc>
                <a:spcPts val="2240"/>
              </a:lnSpc>
              <a:buSzPct val="100000"/>
              <a:buChar char="•"/>
            </a:pPr>
            <a:r>
              <a:rPr lang="en-US" sz="1400">
                <a:solidFill>
                  <a:srgbClr val="F7F5EF"/>
                </a:solidFill>
                <a:latin typeface="DM Sans"/>
                <a:ea typeface="DM Sans" pitchFamily="34" charset="-122"/>
                <a:cs typeface="DM Sans" pitchFamily="34" charset="-120"/>
              </a:rPr>
              <a:t>[AUTOMATED DYNAMIC QR CODE ]</a:t>
            </a:r>
            <a:endParaRPr lang="en-US" sz="1400">
              <a:latin typeface="DM Sans"/>
            </a:endParaRPr>
          </a:p>
          <a:p>
            <a:pPr marL="168910" indent="-168910">
              <a:lnSpc>
                <a:spcPts val="2240"/>
              </a:lnSpc>
              <a:buSzPct val="100000"/>
              <a:buChar char="•"/>
            </a:pPr>
            <a:r>
              <a:rPr lang="en-US" sz="1400">
                <a:solidFill>
                  <a:srgbClr val="F7F5EF"/>
                </a:solidFill>
                <a:latin typeface="DM Sans"/>
              </a:rPr>
              <a:t>[TIME BOUND TRANSACTION WITH COUNTDOWN TIMER]</a:t>
            </a:r>
            <a:endParaRPr lang="en-US" sz="1400">
              <a:latin typeface="DM Sans"/>
            </a:endParaRPr>
          </a:p>
          <a:p>
            <a:pPr marL="168910" indent="-168910">
              <a:lnSpc>
                <a:spcPts val="2240"/>
              </a:lnSpc>
              <a:buSzPct val="100000"/>
              <a:buChar char="•"/>
            </a:pPr>
            <a:r>
              <a:rPr lang="en-US" sz="1400">
                <a:solidFill>
                  <a:srgbClr val="F7F5EF"/>
                </a:solidFill>
                <a:latin typeface="DM Sans"/>
              </a:rPr>
              <a:t>[INSTANT  "PAYMENT SUCCESSFUL" CONFIRMATION STATUS]</a:t>
            </a:r>
            <a:endParaRPr lang="en-US" sz="1400">
              <a:latin typeface="DM Sans"/>
            </a:endParaRPr>
          </a:p>
          <a:p>
            <a:pPr marL="168910" indent="-168910">
              <a:lnSpc>
                <a:spcPts val="2240"/>
              </a:lnSpc>
              <a:buSzPct val="100000"/>
              <a:buChar char="•"/>
            </a:pPr>
            <a:r>
              <a:rPr lang="en-US" sz="1400">
                <a:solidFill>
                  <a:srgbClr val="F7F5EF"/>
                </a:solidFill>
                <a:latin typeface="DM Sans"/>
                <a:ea typeface="DM Sans" pitchFamily="34" charset="-122"/>
                <a:cs typeface="DM Sans" pitchFamily="34" charset="-120"/>
              </a:rPr>
              <a:t>[INSTANT PAYMENT CONFIRMATION &amp; RECIPT EXPORT</a:t>
            </a:r>
            <a:endParaRPr lang="en-US" sz="1400"/>
          </a:p>
        </p:txBody>
      </p:sp>
      <p:sp>
        <p:nvSpPr>
          <p:cNvPr id="13" name="Text 10"/>
          <p:cNvSpPr/>
          <p:nvPr/>
        </p:nvSpPr>
        <p:spPr>
          <a:xfrm>
            <a:off x="812800" y="6238280"/>
            <a:ext cx="7848600" cy="238720"/>
          </a:xfrm>
          <a:prstGeom prst="rect">
            <a:avLst/>
          </a:prstGeom>
          <a:noFill/>
        </p:spPr>
        <p:txBody>
          <a:bodyPr wrap="square" lIns="0" tIns="0" rIns="0" bIns="0" rtlCol="0" anchor="t">
            <a:normAutofit/>
          </a:bodyPr>
          <a:lstStyle/>
          <a:p>
            <a:pPr marL="0" indent="0" algn="l">
              <a:lnSpc>
                <a:spcPts val="1680"/>
              </a:lnSpc>
              <a:buNone/>
            </a:pPr>
            <a:r>
              <a:rPr lang="en-US" sz="1200">
                <a:solidFill>
                  <a:srgbClr val="4A5568"/>
                </a:solidFill>
                <a:latin typeface="DM Sans"/>
                <a:ea typeface="DM Sans" pitchFamily="34" charset="-122"/>
                <a:cs typeface="DM Sans" pitchFamily="34" charset="-120"/>
              </a:rPr>
              <a:t>06 · [FRZIII-PAY]</a:t>
            </a:r>
            <a:endParaRPr lang="en-US" sz="1200">
              <a:latin typeface="DM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a:solidFill>
                  <a:srgbClr val="B4490F"/>
                </a:solidFill>
                <a:latin typeface="DM Sans" pitchFamily="34" charset="0"/>
                <a:ea typeface="DM Sans" pitchFamily="34" charset="-122"/>
                <a:cs typeface="DM Sans" pitchFamily="34" charset="-120"/>
              </a:rPr>
              <a:t>PART 2 · TOOLS</a:t>
            </a:r>
            <a:endParaRPr lang="en-US" sz="1200"/>
          </a:p>
        </p:txBody>
      </p:sp>
      <p:sp>
        <p:nvSpPr>
          <p:cNvPr id="3" name="Text 1"/>
          <p:cNvSpPr>
            <a:spLocks noGrp="1"/>
          </p:cNvSpPr>
          <p:nvPr>
            <p:ph type="title"/>
          </p:nvPr>
        </p:nvSpPr>
        <p:spPr>
          <a:xfrm>
            <a:off x="812800" y="1102320"/>
            <a:ext cx="10883392" cy="472430"/>
          </a:xfrm>
          <a:prstGeom prst="rect">
            <a:avLst/>
          </a:prstGeom>
          <a:noFill/>
        </p:spPr>
        <p:txBody>
          <a:bodyPr wrap="square" lIns="0" tIns="0" rIns="0" bIns="0" rtlCol="0" anchor="t">
            <a:normAutofit/>
          </a:bodyPr>
          <a:lstStyle/>
          <a:p>
            <a:pPr marL="0" indent="0" algn="l">
              <a:lnSpc>
                <a:spcPts val="3520"/>
              </a:lnSpc>
              <a:buNone/>
            </a:pPr>
            <a:r>
              <a:rPr lang="en-US" sz="3200" b="1" i="0">
                <a:solidFill>
                  <a:srgbClr val="14213D"/>
                </a:solidFill>
                <a:latin typeface="DM Sans" pitchFamily="34" charset="0"/>
                <a:ea typeface="DM Sans" pitchFamily="34" charset="-122"/>
                <a:cs typeface="DM Sans" pitchFamily="34" charset="-120"/>
              </a:rPr>
              <a:t>System Requirements</a:t>
            </a:r>
            <a:endParaRPr lang="en-US" sz="3200"/>
          </a:p>
        </p:txBody>
      </p:sp>
      <p:sp>
        <p:nvSpPr>
          <p:cNvPr id="4" name="Shape 2"/>
          <p:cNvSpPr/>
          <p:nvPr/>
        </p:nvSpPr>
        <p:spPr>
          <a:xfrm>
            <a:off x="815975" y="1806525"/>
            <a:ext cx="5175250" cy="2838103"/>
          </a:xfrm>
          <a:prstGeom prst="roundRect">
            <a:avLst>
              <a:gd name="adj" fmla="val 3468"/>
            </a:avLst>
          </a:prstGeom>
          <a:solidFill>
            <a:srgbClr val="FFFFFF"/>
          </a:solidFill>
          <a:ln w="6350">
            <a:solidFill>
              <a:srgbClr val="DDD8CC"/>
            </a:solidFill>
            <a:prstDash val="solid"/>
          </a:ln>
        </p:spPr>
      </p:sp>
      <p:sp>
        <p:nvSpPr>
          <p:cNvPr id="5" name="Text 3"/>
          <p:cNvSpPr/>
          <p:nvPr/>
        </p:nvSpPr>
        <p:spPr>
          <a:xfrm>
            <a:off x="1073150" y="2063700"/>
            <a:ext cx="4800727" cy="304800"/>
          </a:xfrm>
          <a:prstGeom prst="rect">
            <a:avLst/>
          </a:prstGeom>
          <a:noFill/>
        </p:spPr>
        <p:txBody>
          <a:bodyPr wrap="square" lIns="0" tIns="0" rIns="0" bIns="0" rtlCol="0" anchor="t">
            <a:normAutofit/>
          </a:bodyPr>
          <a:lstStyle/>
          <a:p>
            <a:pPr marL="0" indent="0" algn="l">
              <a:lnSpc>
                <a:spcPts val="2200"/>
              </a:lnSpc>
              <a:buNone/>
            </a:pPr>
            <a:r>
              <a:rPr lang="en-US" sz="2000" b="1">
                <a:solidFill>
                  <a:srgbClr val="14213D"/>
                </a:solidFill>
                <a:latin typeface="DM Sans" pitchFamily="34" charset="0"/>
                <a:ea typeface="DM Sans" pitchFamily="34" charset="-122"/>
                <a:cs typeface="DM Sans" pitchFamily="34" charset="-120"/>
              </a:rPr>
              <a:t>Software</a:t>
            </a:r>
            <a:endParaRPr lang="en-US" sz="2000"/>
          </a:p>
        </p:txBody>
      </p:sp>
      <p:graphicFrame>
        <p:nvGraphicFramePr>
          <p:cNvPr id="6" name="Table 0"/>
          <p:cNvGraphicFramePr>
            <a:graphicFrameLocks noGrp="1"/>
          </p:cNvGraphicFramePr>
          <p:nvPr/>
        </p:nvGraphicFramePr>
        <p:xfrm>
          <a:off x="1085850" y="2457400"/>
          <a:ext cx="4648200" cy="1544044"/>
        </p:xfrm>
        <a:graphic>
          <a:graphicData uri="http://schemas.openxmlformats.org/drawingml/2006/table">
            <a:tbl>
              <a:tblPr/>
              <a:tblGrid>
                <a:gridCol w="1626870"/>
                <a:gridCol w="3021330"/>
              </a:tblGrid>
              <a:tr h="386011">
                <a:tc>
                  <a:txBody>
                    <a:bodyPr/>
                    <a:lstStyle/>
                    <a:p>
                      <a:pPr marL="0" indent="0">
                        <a:lnSpc>
                          <a:spcPts val="1960"/>
                        </a:lnSpc>
                        <a:buNone/>
                      </a:pPr>
                      <a:r>
                        <a:rPr lang="en-US" sz="1400" b="1">
                          <a:solidFill>
                            <a:srgbClr val="14213D"/>
                          </a:solidFill>
                          <a:latin typeface="DM Sans" pitchFamily="34" charset="0"/>
                          <a:ea typeface="DM Sans" pitchFamily="34" charset="-122"/>
                          <a:cs typeface="DM Sans" pitchFamily="34" charset="-120"/>
                        </a:rPr>
                        <a:t>Item</a:t>
                      </a:r>
                      <a:endParaRPr lang="en-US" sz="1400">
                        <a:latin typeface="DM Sans" pitchFamily="34" charset="0"/>
                        <a:ea typeface="DM Sans" pitchFamily="34" charset="0"/>
                        <a:cs typeface="DM Sans" pitchFamily="34"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960"/>
                        </a:lnSpc>
                        <a:buNone/>
                      </a:pPr>
                      <a:r>
                        <a:rPr lang="en-US" sz="1400" b="1">
                          <a:solidFill>
                            <a:srgbClr val="14213D"/>
                          </a:solidFill>
                          <a:latin typeface="DM Sans" pitchFamily="34" charset="0"/>
                          <a:ea typeface="DM Sans" pitchFamily="34" charset="-122"/>
                          <a:cs typeface="DM Sans" pitchFamily="34" charset="-120"/>
                        </a:rPr>
                        <a:t>Requirement</a:t>
                      </a:r>
                      <a:endParaRPr lang="en-US" sz="1400">
                        <a:latin typeface="DM Sans" pitchFamily="34" charset="0"/>
                        <a:ea typeface="DM Sans" pitchFamily="34" charset="0"/>
                        <a:cs typeface="DM Sans" pitchFamily="34" charset="0"/>
                      </a:endParaRPr>
                    </a:p>
                  </a:txBody>
                  <a:tcPr marL="62230" marR="62230" marT="62230" marB="6223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86011">
                <a:tc>
                  <a:txBody>
                    <a:bodyPr/>
                    <a:lstStyle/>
                    <a:p>
                      <a:pPr marL="0" indent="0">
                        <a:lnSpc>
                          <a:spcPts val="1960"/>
                        </a:lnSpc>
                        <a:buNone/>
                      </a:pPr>
                      <a:r>
                        <a:rPr lang="en-US" sz="1400">
                          <a:solidFill>
                            <a:srgbClr val="14213D"/>
                          </a:solidFill>
                          <a:latin typeface="DM Sans" pitchFamily="34" charset="0"/>
                          <a:ea typeface="DM Sans" pitchFamily="34" charset="-122"/>
                          <a:cs typeface="DM Sans" pitchFamily="34" charset="-120"/>
                        </a:rPr>
                        <a:t>Language</a:t>
                      </a:r>
                      <a:endParaRPr lang="en-US" sz="1400">
                        <a:latin typeface="DM Sans" pitchFamily="34" charset="0"/>
                        <a:ea typeface="DM Sans" pitchFamily="34" charset="0"/>
                        <a:cs typeface="DM Sans" pitchFamily="34"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a:solidFill>
                            <a:srgbClr val="14213D"/>
                          </a:solidFill>
                          <a:latin typeface="DM Sans" pitchFamily="34" charset="0"/>
                          <a:ea typeface="DM Sans" pitchFamily="34" charset="-122"/>
                          <a:cs typeface="DM Sans" pitchFamily="34" charset="-120"/>
                        </a:rPr>
                        <a:t>Java JDK [17 or above]</a:t>
                      </a:r>
                      <a:endParaRPr lang="en-US" sz="1400">
                        <a:latin typeface="DM Sans" pitchFamily="34" charset="0"/>
                        <a:ea typeface="DM Sans" pitchFamily="34" charset="0"/>
                        <a:cs typeface="DM Sans" pitchFamily="34"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6011">
                <a:tc>
                  <a:txBody>
                    <a:bodyPr/>
                    <a:lstStyle/>
                    <a:p>
                      <a:pPr marL="0" indent="0">
                        <a:lnSpc>
                          <a:spcPts val="1960"/>
                        </a:lnSpc>
                        <a:buNone/>
                      </a:pPr>
                      <a:r>
                        <a:rPr lang="en-US" sz="1400">
                          <a:solidFill>
                            <a:srgbClr val="14213D"/>
                          </a:solidFill>
                          <a:latin typeface="DM Sans" pitchFamily="34" charset="0"/>
                          <a:ea typeface="DM Sans" pitchFamily="34" charset="-122"/>
                          <a:cs typeface="DM Sans" pitchFamily="34" charset="-120"/>
                        </a:rPr>
                        <a:t>IDE</a:t>
                      </a:r>
                      <a:endParaRPr lang="en-US" sz="1400">
                        <a:latin typeface="DM Sans" pitchFamily="34" charset="0"/>
                        <a:ea typeface="DM Sans" pitchFamily="34" charset="0"/>
                        <a:cs typeface="DM Sans" pitchFamily="34"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a:solidFill>
                            <a:srgbClr val="14213D"/>
                          </a:solidFill>
                          <a:latin typeface="DM Sans"/>
                          <a:ea typeface="DM Sans" pitchFamily="34" charset="-122"/>
                          <a:cs typeface="DM Sans" pitchFamily="34" charset="-120"/>
                        </a:rPr>
                        <a:t>[Eclipse ]</a:t>
                      </a:r>
                      <a:endParaRPr lang="en-US" sz="1400">
                        <a:latin typeface="DM Sans"/>
                        <a:ea typeface="DM Sans" pitchFamily="34" charset="0"/>
                        <a:cs typeface="DM Sans" pitchFamily="34"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6011">
                <a:tc>
                  <a:txBody>
                    <a:bodyPr/>
                    <a:lstStyle/>
                    <a:p>
                      <a:pPr marL="0" indent="0">
                        <a:lnSpc>
                          <a:spcPts val="1960"/>
                        </a:lnSpc>
                        <a:buNone/>
                      </a:pPr>
                      <a:r>
                        <a:rPr lang="en-US" sz="1400">
                          <a:solidFill>
                            <a:srgbClr val="14213D"/>
                          </a:solidFill>
                          <a:latin typeface="DM Sans" pitchFamily="34" charset="0"/>
                          <a:ea typeface="DM Sans" pitchFamily="34" charset="-122"/>
                          <a:cs typeface="DM Sans" pitchFamily="34" charset="-120"/>
                        </a:rPr>
                        <a:t>OS</a:t>
                      </a:r>
                      <a:endParaRPr lang="en-US" sz="1400">
                        <a:latin typeface="DM Sans" pitchFamily="34" charset="0"/>
                        <a:ea typeface="DM Sans" pitchFamily="34" charset="0"/>
                        <a:cs typeface="DM Sans" pitchFamily="34"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a:solidFill>
                            <a:srgbClr val="14213D"/>
                          </a:solidFill>
                          <a:latin typeface="DM Sans"/>
                          <a:ea typeface="DM Sans" pitchFamily="34" charset="-122"/>
                          <a:cs typeface="DM Sans" pitchFamily="34" charset="-120"/>
                        </a:rPr>
                        <a:t>[Windows 10/11 ]</a:t>
                      </a:r>
                      <a:endParaRPr lang="en-US" sz="1400">
                        <a:latin typeface="DM Sans"/>
                        <a:ea typeface="DM Sans" pitchFamily="34" charset="0"/>
                        <a:cs typeface="DM Sans" pitchFamily="34"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Shape 4"/>
          <p:cNvSpPr/>
          <p:nvPr/>
        </p:nvSpPr>
        <p:spPr>
          <a:xfrm>
            <a:off x="6200775" y="1806525"/>
            <a:ext cx="5175250" cy="2838103"/>
          </a:xfrm>
          <a:prstGeom prst="roundRect">
            <a:avLst>
              <a:gd name="adj" fmla="val 3468"/>
            </a:avLst>
          </a:prstGeom>
          <a:solidFill>
            <a:srgbClr val="FFFFFF"/>
          </a:solidFill>
          <a:ln w="6350">
            <a:solidFill>
              <a:srgbClr val="DDD8CC"/>
            </a:solidFill>
            <a:prstDash val="solid"/>
          </a:ln>
        </p:spPr>
      </p:sp>
      <p:sp>
        <p:nvSpPr>
          <p:cNvPr id="8" name="Text 5"/>
          <p:cNvSpPr/>
          <p:nvPr/>
        </p:nvSpPr>
        <p:spPr>
          <a:xfrm>
            <a:off x="6457950" y="2063700"/>
            <a:ext cx="4800727" cy="304800"/>
          </a:xfrm>
          <a:prstGeom prst="rect">
            <a:avLst/>
          </a:prstGeom>
          <a:noFill/>
        </p:spPr>
        <p:txBody>
          <a:bodyPr wrap="square" lIns="0" tIns="0" rIns="0" bIns="0" rtlCol="0" anchor="t">
            <a:normAutofit/>
          </a:bodyPr>
          <a:lstStyle/>
          <a:p>
            <a:pPr marL="0" indent="0" algn="l">
              <a:lnSpc>
                <a:spcPts val="2200"/>
              </a:lnSpc>
              <a:buNone/>
            </a:pPr>
            <a:r>
              <a:rPr lang="en-US" sz="2000" b="1">
                <a:solidFill>
                  <a:srgbClr val="14213D"/>
                </a:solidFill>
                <a:latin typeface="DM Sans" pitchFamily="34" charset="0"/>
                <a:ea typeface="DM Sans" pitchFamily="34" charset="-122"/>
                <a:cs typeface="DM Sans" pitchFamily="34" charset="-120"/>
              </a:rPr>
              <a:t>Hardware</a:t>
            </a:r>
            <a:endParaRPr lang="en-US" sz="2000"/>
          </a:p>
        </p:txBody>
      </p:sp>
      <p:graphicFrame>
        <p:nvGraphicFramePr>
          <p:cNvPr id="9" name="Table 1"/>
          <p:cNvGraphicFramePr>
            <a:graphicFrameLocks noGrp="1"/>
          </p:cNvGraphicFramePr>
          <p:nvPr/>
        </p:nvGraphicFramePr>
        <p:xfrm>
          <a:off x="6470650" y="2457400"/>
          <a:ext cx="4648200" cy="1930055"/>
        </p:xfrm>
        <a:graphic>
          <a:graphicData uri="http://schemas.openxmlformats.org/drawingml/2006/table">
            <a:tbl>
              <a:tblPr/>
              <a:tblGrid>
                <a:gridCol w="1626870"/>
                <a:gridCol w="3021330"/>
              </a:tblGrid>
              <a:tr h="386011">
                <a:tc>
                  <a:txBody>
                    <a:bodyPr/>
                    <a:lstStyle/>
                    <a:p>
                      <a:pPr marL="0" indent="0">
                        <a:lnSpc>
                          <a:spcPts val="1960"/>
                        </a:lnSpc>
                        <a:buNone/>
                      </a:pPr>
                      <a:r>
                        <a:rPr lang="en-US" sz="1400" b="1">
                          <a:solidFill>
                            <a:srgbClr val="14213D"/>
                          </a:solidFill>
                          <a:latin typeface="DM Sans" pitchFamily="34" charset="0"/>
                          <a:ea typeface="DM Sans" pitchFamily="34" charset="-122"/>
                          <a:cs typeface="DM Sans" pitchFamily="34" charset="-120"/>
                        </a:rPr>
                        <a:t>Item</a:t>
                      </a:r>
                      <a:endParaRPr lang="en-US" sz="1400">
                        <a:latin typeface="DM Sans" pitchFamily="34" charset="0"/>
                        <a:ea typeface="DM Sans" pitchFamily="34" charset="0"/>
                        <a:cs typeface="DM Sans" pitchFamily="34"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960"/>
                        </a:lnSpc>
                        <a:buNone/>
                      </a:pPr>
                      <a:r>
                        <a:rPr lang="en-US" sz="1400" b="1">
                          <a:solidFill>
                            <a:srgbClr val="14213D"/>
                          </a:solidFill>
                          <a:latin typeface="DM Sans" pitchFamily="34" charset="0"/>
                          <a:ea typeface="DM Sans" pitchFamily="34" charset="-122"/>
                          <a:cs typeface="DM Sans" pitchFamily="34" charset="-120"/>
                        </a:rPr>
                        <a:t>Requirement</a:t>
                      </a:r>
                      <a:endParaRPr lang="en-US" sz="1400">
                        <a:latin typeface="DM Sans" pitchFamily="34" charset="0"/>
                        <a:ea typeface="DM Sans" pitchFamily="34" charset="0"/>
                        <a:cs typeface="DM Sans" pitchFamily="34" charset="0"/>
                      </a:endParaRPr>
                    </a:p>
                  </a:txBody>
                  <a:tcPr marL="62230" marR="62230" marT="62230" marB="6223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86011">
                <a:tc>
                  <a:txBody>
                    <a:bodyPr/>
                    <a:lstStyle/>
                    <a:p>
                      <a:pPr marL="0" indent="0">
                        <a:lnSpc>
                          <a:spcPts val="1960"/>
                        </a:lnSpc>
                        <a:buNone/>
                      </a:pPr>
                      <a:r>
                        <a:rPr lang="en-US" sz="1400">
                          <a:solidFill>
                            <a:srgbClr val="14213D"/>
                          </a:solidFill>
                          <a:latin typeface="DM Sans" pitchFamily="34" charset="0"/>
                          <a:ea typeface="DM Sans" pitchFamily="34" charset="-122"/>
                          <a:cs typeface="DM Sans" pitchFamily="34" charset="-120"/>
                        </a:rPr>
                        <a:t>Processor</a:t>
                      </a:r>
                      <a:endParaRPr lang="en-US" sz="1400">
                        <a:latin typeface="DM Sans" pitchFamily="34" charset="0"/>
                        <a:ea typeface="DM Sans" pitchFamily="34" charset="0"/>
                        <a:cs typeface="DM Sans" pitchFamily="34"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a:solidFill>
                            <a:srgbClr val="14213D"/>
                          </a:solidFill>
                          <a:latin typeface="DM Sans" pitchFamily="34" charset="0"/>
                          <a:ea typeface="DM Sans" pitchFamily="34" charset="-122"/>
                          <a:cs typeface="DM Sans" pitchFamily="34" charset="-120"/>
                        </a:rPr>
                        <a:t>[Intel i3 or above]</a:t>
                      </a:r>
                      <a:endParaRPr lang="en-US" sz="1400">
                        <a:latin typeface="DM Sans" pitchFamily="34" charset="0"/>
                        <a:ea typeface="DM Sans" pitchFamily="34" charset="0"/>
                        <a:cs typeface="DM Sans" pitchFamily="34"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6011">
                <a:tc>
                  <a:txBody>
                    <a:bodyPr/>
                    <a:lstStyle/>
                    <a:p>
                      <a:pPr marL="0" indent="0">
                        <a:lnSpc>
                          <a:spcPts val="1960"/>
                        </a:lnSpc>
                        <a:buNone/>
                      </a:pPr>
                      <a:r>
                        <a:rPr lang="en-US" sz="1400">
                          <a:solidFill>
                            <a:srgbClr val="14213D"/>
                          </a:solidFill>
                          <a:latin typeface="DM Sans" pitchFamily="34" charset="0"/>
                          <a:ea typeface="DM Sans" pitchFamily="34" charset="-122"/>
                          <a:cs typeface="DM Sans" pitchFamily="34" charset="-120"/>
                        </a:rPr>
                        <a:t>RAM</a:t>
                      </a:r>
                      <a:endParaRPr lang="en-US" sz="1400">
                        <a:latin typeface="DM Sans" pitchFamily="34" charset="0"/>
                        <a:ea typeface="DM Sans" pitchFamily="34" charset="0"/>
                        <a:cs typeface="DM Sans" pitchFamily="34"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a:solidFill>
                            <a:srgbClr val="14213D"/>
                          </a:solidFill>
                          <a:latin typeface="DM Sans" pitchFamily="34" charset="0"/>
                          <a:ea typeface="DM Sans" pitchFamily="34" charset="-122"/>
                          <a:cs typeface="DM Sans" pitchFamily="34" charset="-120"/>
                        </a:rPr>
                        <a:t>[4 GB minimum]</a:t>
                      </a:r>
                      <a:endParaRPr lang="en-US" sz="1400">
                        <a:latin typeface="DM Sans" pitchFamily="34" charset="0"/>
                        <a:ea typeface="DM Sans" pitchFamily="34" charset="0"/>
                        <a:cs typeface="DM Sans" pitchFamily="34"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6011">
                <a:tc>
                  <a:txBody>
                    <a:bodyPr/>
                    <a:lstStyle/>
                    <a:p>
                      <a:pPr marL="0" indent="0">
                        <a:lnSpc>
                          <a:spcPts val="1960"/>
                        </a:lnSpc>
                        <a:buNone/>
                      </a:pPr>
                      <a:r>
                        <a:rPr lang="en-US" sz="1400">
                          <a:solidFill>
                            <a:srgbClr val="14213D"/>
                          </a:solidFill>
                          <a:latin typeface="DM Sans" pitchFamily="34" charset="0"/>
                          <a:ea typeface="DM Sans" pitchFamily="34" charset="-122"/>
                          <a:cs typeface="DM Sans" pitchFamily="34" charset="-120"/>
                        </a:rPr>
                        <a:t>Storage</a:t>
                      </a:r>
                      <a:endParaRPr lang="en-US" sz="1400">
                        <a:latin typeface="DM Sans" pitchFamily="34" charset="0"/>
                        <a:ea typeface="DM Sans" pitchFamily="34" charset="0"/>
                        <a:cs typeface="DM Sans" pitchFamily="34"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a:solidFill>
                            <a:srgbClr val="14213D"/>
                          </a:solidFill>
                          <a:latin typeface="DM Sans" pitchFamily="34" charset="0"/>
                          <a:ea typeface="DM Sans" pitchFamily="34" charset="-122"/>
                          <a:cs typeface="DM Sans" pitchFamily="34" charset="-120"/>
                        </a:rPr>
                        <a:t>[500 MB free space]</a:t>
                      </a:r>
                      <a:endParaRPr lang="en-US" sz="1400">
                        <a:latin typeface="DM Sans" pitchFamily="34" charset="0"/>
                        <a:ea typeface="DM Sans" pitchFamily="34" charset="0"/>
                        <a:cs typeface="DM Sans" pitchFamily="34"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6011">
                <a:tc>
                  <a:txBody>
                    <a:bodyPr/>
                    <a:lstStyle/>
                    <a:p>
                      <a:pPr marL="0" indent="0">
                        <a:lnSpc>
                          <a:spcPts val="1960"/>
                        </a:lnSpc>
                        <a:buNone/>
                      </a:pPr>
                      <a:r>
                        <a:rPr lang="en-US" sz="1400">
                          <a:solidFill>
                            <a:srgbClr val="14213D"/>
                          </a:solidFill>
                          <a:latin typeface="DM Sans" pitchFamily="34" charset="0"/>
                          <a:ea typeface="DM Sans" pitchFamily="34" charset="-122"/>
                          <a:cs typeface="DM Sans" pitchFamily="34" charset="-120"/>
                        </a:rPr>
                        <a:t>Display</a:t>
                      </a:r>
                      <a:endParaRPr lang="en-US" sz="1400">
                        <a:latin typeface="DM Sans" pitchFamily="34" charset="0"/>
                        <a:ea typeface="DM Sans" pitchFamily="34" charset="0"/>
                        <a:cs typeface="DM Sans" pitchFamily="34"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a:solidFill>
                            <a:srgbClr val="14213D"/>
                          </a:solidFill>
                          <a:latin typeface="DM Sans" pitchFamily="34" charset="0"/>
                          <a:ea typeface="DM Sans" pitchFamily="34" charset="-122"/>
                          <a:cs typeface="DM Sans" pitchFamily="34" charset="-120"/>
                        </a:rPr>
                        <a:t>[1366×768 or higher]</a:t>
                      </a:r>
                      <a:endParaRPr lang="en-US" sz="1400">
                        <a:latin typeface="DM Sans" pitchFamily="34" charset="0"/>
                        <a:ea typeface="DM Sans" pitchFamily="34" charset="0"/>
                        <a:cs typeface="DM Sans" pitchFamily="34"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0" name="Text 6"/>
          <p:cNvSpPr/>
          <p:nvPr/>
        </p:nvSpPr>
        <p:spPr>
          <a:xfrm>
            <a:off x="812800" y="6238280"/>
            <a:ext cx="7848600" cy="238720"/>
          </a:xfrm>
          <a:prstGeom prst="rect">
            <a:avLst/>
          </a:prstGeom>
          <a:noFill/>
        </p:spPr>
        <p:txBody>
          <a:bodyPr wrap="square" lIns="0" tIns="0" rIns="0" bIns="0" rtlCol="0" anchor="t">
            <a:normAutofit/>
          </a:bodyPr>
          <a:lstStyle/>
          <a:p>
            <a:pPr marL="0" indent="0" algn="l">
              <a:lnSpc>
                <a:spcPts val="1680"/>
              </a:lnSpc>
              <a:buNone/>
            </a:pPr>
            <a:r>
              <a:rPr lang="en-US" sz="1200">
                <a:solidFill>
                  <a:srgbClr val="4A5568"/>
                </a:solidFill>
                <a:latin typeface="DM Sans"/>
                <a:ea typeface="DM Sans" pitchFamily="34" charset="-122"/>
                <a:cs typeface="DM Sans" pitchFamily="34" charset="-120"/>
              </a:rPr>
              <a:t>07 · [FRZII-PAY]</a:t>
            </a:r>
            <a:endParaRPr lang="en-US" sz="1200">
              <a:latin typeface="DM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CE8D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a:solidFill>
                  <a:srgbClr val="B4490F"/>
                </a:solidFill>
                <a:latin typeface="DM Sans" pitchFamily="34" charset="0"/>
                <a:ea typeface="DM Sans" pitchFamily="34" charset="-122"/>
                <a:cs typeface="DM Sans" pitchFamily="34" charset="-120"/>
              </a:rPr>
              <a:t>PART 2 · TOOLS</a:t>
            </a:r>
            <a:endParaRPr lang="en-US" sz="1200"/>
          </a:p>
        </p:txBody>
      </p:sp>
      <p:sp>
        <p:nvSpPr>
          <p:cNvPr id="3" name="Text 1"/>
          <p:cNvSpPr>
            <a:spLocks noGrp="1"/>
          </p:cNvSpPr>
          <p:nvPr>
            <p:ph type="title"/>
          </p:nvPr>
        </p:nvSpPr>
        <p:spPr>
          <a:xfrm>
            <a:off x="812800" y="1102320"/>
            <a:ext cx="10883392" cy="472430"/>
          </a:xfrm>
          <a:prstGeom prst="rect">
            <a:avLst/>
          </a:prstGeom>
          <a:noFill/>
        </p:spPr>
        <p:txBody>
          <a:bodyPr wrap="square" lIns="0" tIns="0" rIns="0" bIns="0" rtlCol="0" anchor="t">
            <a:normAutofit/>
          </a:bodyPr>
          <a:lstStyle/>
          <a:p>
            <a:pPr marL="0" indent="0" algn="l">
              <a:lnSpc>
                <a:spcPts val="3520"/>
              </a:lnSpc>
              <a:buNone/>
            </a:pPr>
            <a:r>
              <a:rPr lang="en-US" sz="3200" b="1" i="0">
                <a:solidFill>
                  <a:srgbClr val="14213D"/>
                </a:solidFill>
                <a:latin typeface="DM Sans" pitchFamily="34" charset="0"/>
                <a:ea typeface="DM Sans" pitchFamily="34" charset="-122"/>
                <a:cs typeface="DM Sans" pitchFamily="34" charset="-120"/>
              </a:rPr>
              <a:t>Technology Stack</a:t>
            </a:r>
            <a:endParaRPr lang="en-US" sz="3200"/>
          </a:p>
        </p:txBody>
      </p:sp>
      <p:sp>
        <p:nvSpPr>
          <p:cNvPr id="4" name="Shape 2"/>
          <p:cNvSpPr/>
          <p:nvPr/>
        </p:nvSpPr>
        <p:spPr>
          <a:xfrm>
            <a:off x="815975" y="1806525"/>
            <a:ext cx="3414167" cy="1330920"/>
          </a:xfrm>
          <a:prstGeom prst="roundRect">
            <a:avLst>
              <a:gd name="adj" fmla="val 7395"/>
            </a:avLst>
          </a:prstGeom>
          <a:solidFill>
            <a:srgbClr val="FFFFFF"/>
          </a:solidFill>
          <a:ln w="6350">
            <a:solidFill>
              <a:srgbClr val="DDD8CC"/>
            </a:solidFill>
            <a:prstDash val="solid"/>
          </a:ln>
        </p:spPr>
      </p:sp>
      <p:pic>
        <p:nvPicPr>
          <p:cNvPr id="5" name="Image 0" descr="Code"/>
          <p:cNvPicPr>
            <a:picLocks noChangeAspect="1"/>
          </p:cNvPicPr>
          <p:nvPr/>
        </p:nvPicPr>
        <p:blipFill>
          <a:blip r:embed="rId1"/>
          <a:srcRect/>
          <a:stretch>
            <a:fillRect/>
          </a:stretch>
        </p:blipFill>
        <p:spPr>
          <a:xfrm>
            <a:off x="1022350" y="2012900"/>
            <a:ext cx="304800" cy="304800"/>
          </a:xfrm>
          <a:prstGeom prst="rect">
            <a:avLst/>
          </a:prstGeom>
        </p:spPr>
      </p:pic>
      <p:sp>
        <p:nvSpPr>
          <p:cNvPr id="6" name="Text 3"/>
          <p:cNvSpPr/>
          <p:nvPr/>
        </p:nvSpPr>
        <p:spPr>
          <a:xfrm>
            <a:off x="1022350" y="2393900"/>
            <a:ext cx="3091459" cy="238720"/>
          </a:xfrm>
          <a:prstGeom prst="rect">
            <a:avLst/>
          </a:prstGeom>
          <a:noFill/>
        </p:spPr>
        <p:txBody>
          <a:bodyPr wrap="square" lIns="0" tIns="0" rIns="0" bIns="0" rtlCol="0" anchor="t">
            <a:normAutofit/>
          </a:bodyPr>
          <a:lstStyle/>
          <a:p>
            <a:pPr marL="0" indent="0" algn="l">
              <a:lnSpc>
                <a:spcPts val="1680"/>
              </a:lnSpc>
              <a:buNone/>
            </a:pPr>
            <a:r>
              <a:rPr lang="en-US" sz="1200" b="1" kern="0" spc="100">
                <a:solidFill>
                  <a:srgbClr val="4A5568"/>
                </a:solidFill>
                <a:latin typeface="DM Sans" pitchFamily="34" charset="0"/>
                <a:ea typeface="DM Sans" pitchFamily="34" charset="-122"/>
                <a:cs typeface="DM Sans" pitchFamily="34" charset="-120"/>
              </a:rPr>
              <a:t>LANGUAGE</a:t>
            </a:r>
            <a:endParaRPr lang="en-US" sz="1200"/>
          </a:p>
        </p:txBody>
      </p:sp>
      <p:sp>
        <p:nvSpPr>
          <p:cNvPr id="7" name="Text 4"/>
          <p:cNvSpPr/>
          <p:nvPr/>
        </p:nvSpPr>
        <p:spPr>
          <a:xfrm>
            <a:off x="1022350" y="2683421"/>
            <a:ext cx="3091459" cy="273050"/>
          </a:xfrm>
          <a:prstGeom prst="rect">
            <a:avLst/>
          </a:prstGeom>
          <a:noFill/>
        </p:spPr>
        <p:txBody>
          <a:bodyPr wrap="square" lIns="0" tIns="0" rIns="0" bIns="0" rtlCol="0" anchor="t">
            <a:normAutofit/>
          </a:bodyPr>
          <a:lstStyle/>
          <a:p>
            <a:pPr marL="0" indent="0" algn="l">
              <a:lnSpc>
                <a:spcPts val="1950"/>
              </a:lnSpc>
              <a:buNone/>
            </a:pPr>
            <a:r>
              <a:rPr lang="en-US" sz="1500" b="1">
                <a:solidFill>
                  <a:srgbClr val="14213D"/>
                </a:solidFill>
                <a:latin typeface="DM Sans"/>
                <a:ea typeface="DM Sans" pitchFamily="34" charset="-122"/>
                <a:cs typeface="DM Sans" pitchFamily="34" charset="-120"/>
              </a:rPr>
              <a:t>Java [JDK 17]</a:t>
            </a:r>
            <a:endParaRPr lang="en-US" sz="1500"/>
          </a:p>
        </p:txBody>
      </p:sp>
      <p:sp>
        <p:nvSpPr>
          <p:cNvPr id="8" name="Shape 5"/>
          <p:cNvSpPr/>
          <p:nvPr/>
        </p:nvSpPr>
        <p:spPr>
          <a:xfrm>
            <a:off x="4388892" y="1806525"/>
            <a:ext cx="3414167" cy="1330920"/>
          </a:xfrm>
          <a:prstGeom prst="roundRect">
            <a:avLst>
              <a:gd name="adj" fmla="val 7395"/>
            </a:avLst>
          </a:prstGeom>
          <a:solidFill>
            <a:srgbClr val="FFFFFF"/>
          </a:solidFill>
          <a:ln w="6350">
            <a:solidFill>
              <a:srgbClr val="DDD8CC"/>
            </a:solidFill>
            <a:prstDash val="solid"/>
          </a:ln>
        </p:spPr>
      </p:sp>
      <p:pic>
        <p:nvPicPr>
          <p:cNvPr id="9" name="Image 1" descr="Tool"/>
          <p:cNvPicPr>
            <a:picLocks noChangeAspect="1"/>
          </p:cNvPicPr>
          <p:nvPr/>
        </p:nvPicPr>
        <p:blipFill>
          <a:blip r:embed="rId2"/>
          <a:srcRect/>
          <a:stretch>
            <a:fillRect/>
          </a:stretch>
        </p:blipFill>
        <p:spPr>
          <a:xfrm>
            <a:off x="4595267" y="2012900"/>
            <a:ext cx="304800" cy="304800"/>
          </a:xfrm>
          <a:prstGeom prst="rect">
            <a:avLst/>
          </a:prstGeom>
        </p:spPr>
      </p:pic>
      <p:sp>
        <p:nvSpPr>
          <p:cNvPr id="10" name="Text 6"/>
          <p:cNvSpPr/>
          <p:nvPr/>
        </p:nvSpPr>
        <p:spPr>
          <a:xfrm>
            <a:off x="4595267" y="2393900"/>
            <a:ext cx="3091459" cy="238720"/>
          </a:xfrm>
          <a:prstGeom prst="rect">
            <a:avLst/>
          </a:prstGeom>
          <a:noFill/>
        </p:spPr>
        <p:txBody>
          <a:bodyPr wrap="square" lIns="0" tIns="0" rIns="0" bIns="0" rtlCol="0" anchor="t">
            <a:normAutofit/>
          </a:bodyPr>
          <a:lstStyle/>
          <a:p>
            <a:pPr marL="0" indent="0" algn="l">
              <a:lnSpc>
                <a:spcPts val="1680"/>
              </a:lnSpc>
              <a:buNone/>
            </a:pPr>
            <a:r>
              <a:rPr lang="en-US" sz="1200" b="1" kern="0" spc="100">
                <a:solidFill>
                  <a:srgbClr val="4A5568"/>
                </a:solidFill>
                <a:latin typeface="DM Sans" pitchFamily="34" charset="0"/>
                <a:ea typeface="DM Sans" pitchFamily="34" charset="-122"/>
                <a:cs typeface="DM Sans" pitchFamily="34" charset="-120"/>
              </a:rPr>
              <a:t>IDE</a:t>
            </a:r>
            <a:endParaRPr lang="en-US" sz="1200"/>
          </a:p>
        </p:txBody>
      </p:sp>
      <p:sp>
        <p:nvSpPr>
          <p:cNvPr id="11" name="Text 7"/>
          <p:cNvSpPr/>
          <p:nvPr/>
        </p:nvSpPr>
        <p:spPr>
          <a:xfrm>
            <a:off x="4595267" y="2683421"/>
            <a:ext cx="3091459" cy="273050"/>
          </a:xfrm>
          <a:prstGeom prst="rect">
            <a:avLst/>
          </a:prstGeom>
          <a:noFill/>
        </p:spPr>
        <p:txBody>
          <a:bodyPr wrap="square" lIns="0" tIns="0" rIns="0" bIns="0" rtlCol="0" anchor="t">
            <a:normAutofit/>
          </a:bodyPr>
          <a:lstStyle/>
          <a:p>
            <a:pPr marL="0" indent="0" algn="l">
              <a:lnSpc>
                <a:spcPts val="1950"/>
              </a:lnSpc>
              <a:buNone/>
            </a:pPr>
            <a:r>
              <a:rPr lang="en-US" sz="1500" b="1">
                <a:solidFill>
                  <a:srgbClr val="14213D"/>
                </a:solidFill>
                <a:latin typeface="DM Sans"/>
                <a:ea typeface="DM Sans" pitchFamily="34" charset="-122"/>
                <a:cs typeface="DM Sans" pitchFamily="34" charset="-120"/>
              </a:rPr>
              <a:t>[Eclipse ]</a:t>
            </a:r>
            <a:endParaRPr lang="en-US" sz="1500">
              <a:latin typeface="DM Sans"/>
            </a:endParaRPr>
          </a:p>
        </p:txBody>
      </p:sp>
      <p:sp>
        <p:nvSpPr>
          <p:cNvPr id="12" name="Shape 8"/>
          <p:cNvSpPr/>
          <p:nvPr/>
        </p:nvSpPr>
        <p:spPr>
          <a:xfrm>
            <a:off x="7961809" y="1806525"/>
            <a:ext cx="3414216" cy="1330920"/>
          </a:xfrm>
          <a:prstGeom prst="roundRect">
            <a:avLst>
              <a:gd name="adj" fmla="val 7395"/>
            </a:avLst>
          </a:prstGeom>
          <a:solidFill>
            <a:srgbClr val="FFFFFF"/>
          </a:solidFill>
          <a:ln w="6350">
            <a:solidFill>
              <a:srgbClr val="DDD8CC"/>
            </a:solidFill>
            <a:prstDash val="solid"/>
          </a:ln>
        </p:spPr>
      </p:sp>
      <p:pic>
        <p:nvPicPr>
          <p:cNvPr id="13" name="Image 2" descr="Database"/>
          <p:cNvPicPr>
            <a:picLocks noChangeAspect="1"/>
          </p:cNvPicPr>
          <p:nvPr/>
        </p:nvPicPr>
        <p:blipFill>
          <a:blip r:embed="rId3"/>
          <a:srcRect/>
          <a:stretch>
            <a:fillRect/>
          </a:stretch>
        </p:blipFill>
        <p:spPr>
          <a:xfrm>
            <a:off x="8168184" y="2012900"/>
            <a:ext cx="304800" cy="304800"/>
          </a:xfrm>
          <a:prstGeom prst="rect">
            <a:avLst/>
          </a:prstGeom>
        </p:spPr>
      </p:pic>
      <p:sp>
        <p:nvSpPr>
          <p:cNvPr id="14" name="Text 9"/>
          <p:cNvSpPr/>
          <p:nvPr/>
        </p:nvSpPr>
        <p:spPr>
          <a:xfrm>
            <a:off x="8168184" y="2393900"/>
            <a:ext cx="3091510" cy="238720"/>
          </a:xfrm>
          <a:prstGeom prst="rect">
            <a:avLst/>
          </a:prstGeom>
          <a:noFill/>
        </p:spPr>
        <p:txBody>
          <a:bodyPr wrap="square" lIns="0" tIns="0" rIns="0" bIns="0" rtlCol="0" anchor="t">
            <a:normAutofit/>
          </a:bodyPr>
          <a:lstStyle/>
          <a:p>
            <a:pPr marL="0" indent="0" algn="l">
              <a:lnSpc>
                <a:spcPts val="1680"/>
              </a:lnSpc>
              <a:buNone/>
            </a:pPr>
            <a:r>
              <a:rPr lang="en-US" sz="1200" b="1" kern="0" spc="100">
                <a:solidFill>
                  <a:srgbClr val="4A5568"/>
                </a:solidFill>
                <a:latin typeface="DM Sans" pitchFamily="34" charset="0"/>
                <a:ea typeface="DM Sans" pitchFamily="34" charset="-122"/>
                <a:cs typeface="DM Sans" pitchFamily="34" charset="-120"/>
              </a:rPr>
              <a:t>DATABASE</a:t>
            </a:r>
            <a:endParaRPr lang="en-US" sz="1200"/>
          </a:p>
        </p:txBody>
      </p:sp>
      <p:sp>
        <p:nvSpPr>
          <p:cNvPr id="15" name="Text 10"/>
          <p:cNvSpPr/>
          <p:nvPr/>
        </p:nvSpPr>
        <p:spPr>
          <a:xfrm>
            <a:off x="8168184" y="2683421"/>
            <a:ext cx="3091510" cy="273050"/>
          </a:xfrm>
          <a:prstGeom prst="rect">
            <a:avLst/>
          </a:prstGeom>
          <a:noFill/>
        </p:spPr>
        <p:txBody>
          <a:bodyPr wrap="square" lIns="0" tIns="0" rIns="0" bIns="0" rtlCol="0" anchor="t">
            <a:normAutofit/>
          </a:bodyPr>
          <a:lstStyle/>
          <a:p>
            <a:pPr>
              <a:lnSpc>
                <a:spcPts val="1950"/>
              </a:lnSpc>
            </a:pPr>
            <a:r>
              <a:rPr lang="en-US" sz="1500" b="1">
                <a:solidFill>
                  <a:srgbClr val="14213D"/>
                </a:solidFill>
                <a:latin typeface="DM Sans"/>
              </a:rPr>
              <a:t>[QRSERVER API &amp; FILE SYSTEM]</a:t>
            </a:r>
            <a:endParaRPr lang="en-US" sz="1500"/>
          </a:p>
        </p:txBody>
      </p:sp>
      <p:sp>
        <p:nvSpPr>
          <p:cNvPr id="16" name="Shape 11"/>
          <p:cNvSpPr/>
          <p:nvPr/>
        </p:nvSpPr>
        <p:spPr>
          <a:xfrm>
            <a:off x="815975" y="3296196"/>
            <a:ext cx="3414167" cy="1330920"/>
          </a:xfrm>
          <a:prstGeom prst="roundRect">
            <a:avLst>
              <a:gd name="adj" fmla="val 7395"/>
            </a:avLst>
          </a:prstGeom>
          <a:solidFill>
            <a:srgbClr val="FFFFFF"/>
          </a:solidFill>
          <a:ln w="6350">
            <a:solidFill>
              <a:srgbClr val="DDD8CC"/>
            </a:solidFill>
            <a:prstDash val="solid"/>
          </a:ln>
        </p:spPr>
      </p:sp>
      <p:pic>
        <p:nvPicPr>
          <p:cNvPr id="17" name="Image 3" descr="Globe"/>
          <p:cNvPicPr>
            <a:picLocks noChangeAspect="1"/>
          </p:cNvPicPr>
          <p:nvPr/>
        </p:nvPicPr>
        <p:blipFill>
          <a:blip r:embed="rId4"/>
          <a:srcRect/>
          <a:stretch>
            <a:fillRect/>
          </a:stretch>
        </p:blipFill>
        <p:spPr>
          <a:xfrm>
            <a:off x="1022350" y="3502571"/>
            <a:ext cx="304800" cy="304800"/>
          </a:xfrm>
          <a:prstGeom prst="rect">
            <a:avLst/>
          </a:prstGeom>
        </p:spPr>
      </p:pic>
      <p:sp>
        <p:nvSpPr>
          <p:cNvPr id="18" name="Text 12"/>
          <p:cNvSpPr/>
          <p:nvPr/>
        </p:nvSpPr>
        <p:spPr>
          <a:xfrm>
            <a:off x="1022350" y="3883571"/>
            <a:ext cx="3091459" cy="238720"/>
          </a:xfrm>
          <a:prstGeom prst="rect">
            <a:avLst/>
          </a:prstGeom>
          <a:noFill/>
        </p:spPr>
        <p:txBody>
          <a:bodyPr wrap="square" lIns="0" tIns="0" rIns="0" bIns="0" rtlCol="0" anchor="t">
            <a:normAutofit/>
          </a:bodyPr>
          <a:lstStyle/>
          <a:p>
            <a:pPr marL="0" indent="0" algn="l">
              <a:lnSpc>
                <a:spcPts val="1680"/>
              </a:lnSpc>
              <a:buNone/>
            </a:pPr>
            <a:r>
              <a:rPr lang="en-US" sz="1200" b="1" kern="0" spc="100">
                <a:solidFill>
                  <a:srgbClr val="4A5568"/>
                </a:solidFill>
                <a:latin typeface="DM Sans" pitchFamily="34" charset="0"/>
                <a:ea typeface="DM Sans" pitchFamily="34" charset="-122"/>
                <a:cs typeface="DM Sans" pitchFamily="34" charset="-120"/>
              </a:rPr>
              <a:t>INTERFACE</a:t>
            </a:r>
            <a:endParaRPr lang="en-US" sz="1200"/>
          </a:p>
        </p:txBody>
      </p:sp>
      <p:sp>
        <p:nvSpPr>
          <p:cNvPr id="19" name="Text 13"/>
          <p:cNvSpPr/>
          <p:nvPr/>
        </p:nvSpPr>
        <p:spPr>
          <a:xfrm>
            <a:off x="1022350" y="4173091"/>
            <a:ext cx="3091459" cy="273050"/>
          </a:xfrm>
          <a:prstGeom prst="rect">
            <a:avLst/>
          </a:prstGeom>
          <a:noFill/>
        </p:spPr>
        <p:txBody>
          <a:bodyPr wrap="square" lIns="0" tIns="0" rIns="0" bIns="0" rtlCol="0" anchor="t">
            <a:normAutofit/>
          </a:bodyPr>
          <a:lstStyle/>
          <a:p>
            <a:pPr>
              <a:lnSpc>
                <a:spcPts val="1950"/>
              </a:lnSpc>
            </a:pPr>
            <a:r>
              <a:rPr lang="en-US" sz="1500" b="1">
                <a:solidFill>
                  <a:srgbClr val="14213D"/>
                </a:solidFill>
                <a:latin typeface="DM Sans"/>
                <a:ea typeface="DM Sans" pitchFamily="34" charset="-122"/>
                <a:cs typeface="DM Sans" pitchFamily="34" charset="-120"/>
              </a:rPr>
              <a:t>[JAVA Swing / AWT]</a:t>
            </a:r>
            <a:endParaRPr lang="en-US" sz="1500">
              <a:latin typeface="DM Sans"/>
            </a:endParaRPr>
          </a:p>
        </p:txBody>
      </p:sp>
      <p:sp>
        <p:nvSpPr>
          <p:cNvPr id="20" name="Shape 14"/>
          <p:cNvSpPr/>
          <p:nvPr/>
        </p:nvSpPr>
        <p:spPr>
          <a:xfrm>
            <a:off x="4388892" y="3296196"/>
            <a:ext cx="3414167" cy="1330920"/>
          </a:xfrm>
          <a:prstGeom prst="roundRect">
            <a:avLst>
              <a:gd name="adj" fmla="val 7395"/>
            </a:avLst>
          </a:prstGeom>
          <a:solidFill>
            <a:srgbClr val="FFFFFF"/>
          </a:solidFill>
          <a:ln w="6350">
            <a:solidFill>
              <a:srgbClr val="DDD8CC"/>
            </a:solidFill>
            <a:prstDash val="solid"/>
          </a:ln>
        </p:spPr>
      </p:sp>
      <p:pic>
        <p:nvPicPr>
          <p:cNvPr id="21" name="Image 4" descr="Link"/>
          <p:cNvPicPr>
            <a:picLocks noChangeAspect="1"/>
          </p:cNvPicPr>
          <p:nvPr/>
        </p:nvPicPr>
        <p:blipFill>
          <a:blip r:embed="rId5"/>
          <a:srcRect/>
          <a:stretch>
            <a:fillRect/>
          </a:stretch>
        </p:blipFill>
        <p:spPr>
          <a:xfrm>
            <a:off x="4595267" y="3502571"/>
            <a:ext cx="304800" cy="304800"/>
          </a:xfrm>
          <a:prstGeom prst="rect">
            <a:avLst/>
          </a:prstGeom>
        </p:spPr>
      </p:pic>
      <p:sp>
        <p:nvSpPr>
          <p:cNvPr id="22" name="Text 15"/>
          <p:cNvSpPr/>
          <p:nvPr/>
        </p:nvSpPr>
        <p:spPr>
          <a:xfrm>
            <a:off x="4595267" y="3883571"/>
            <a:ext cx="3091459" cy="238720"/>
          </a:xfrm>
          <a:prstGeom prst="rect">
            <a:avLst/>
          </a:prstGeom>
          <a:noFill/>
        </p:spPr>
        <p:txBody>
          <a:bodyPr wrap="square" lIns="0" tIns="0" rIns="0" bIns="0" rtlCol="0" anchor="t">
            <a:normAutofit/>
          </a:bodyPr>
          <a:lstStyle/>
          <a:p>
            <a:pPr marL="0" indent="0" algn="l">
              <a:lnSpc>
                <a:spcPts val="1680"/>
              </a:lnSpc>
              <a:buNone/>
            </a:pPr>
            <a:r>
              <a:rPr lang="en-US" sz="1200" b="1" kern="0" spc="100">
                <a:solidFill>
                  <a:srgbClr val="4A5568"/>
                </a:solidFill>
                <a:latin typeface="DM Sans" pitchFamily="34" charset="0"/>
                <a:ea typeface="DM Sans" pitchFamily="34" charset="-122"/>
                <a:cs typeface="DM Sans" pitchFamily="34" charset="-120"/>
              </a:rPr>
              <a:t>VERSION CONTROL</a:t>
            </a:r>
            <a:endParaRPr lang="en-US" sz="1200"/>
          </a:p>
        </p:txBody>
      </p:sp>
      <p:sp>
        <p:nvSpPr>
          <p:cNvPr id="23" name="Text 16"/>
          <p:cNvSpPr/>
          <p:nvPr/>
        </p:nvSpPr>
        <p:spPr>
          <a:xfrm>
            <a:off x="4595267" y="4173091"/>
            <a:ext cx="3091459" cy="273050"/>
          </a:xfrm>
          <a:prstGeom prst="rect">
            <a:avLst/>
          </a:prstGeom>
          <a:noFill/>
        </p:spPr>
        <p:txBody>
          <a:bodyPr wrap="square" lIns="0" tIns="0" rIns="0" bIns="0" rtlCol="0" anchor="t">
            <a:normAutofit/>
          </a:bodyPr>
          <a:lstStyle/>
          <a:p>
            <a:pPr marL="0" indent="0" algn="l">
              <a:lnSpc>
                <a:spcPts val="1950"/>
              </a:lnSpc>
              <a:buNone/>
            </a:pPr>
            <a:r>
              <a:rPr lang="en-US" sz="1500" b="1">
                <a:solidFill>
                  <a:srgbClr val="14213D"/>
                </a:solidFill>
                <a:latin typeface="DM Sans" pitchFamily="34" charset="0"/>
                <a:ea typeface="DM Sans" pitchFamily="34" charset="-122"/>
                <a:cs typeface="DM Sans" pitchFamily="34" charset="-120"/>
              </a:rPr>
              <a:t>Git &amp; GitHub</a:t>
            </a:r>
            <a:endParaRPr lang="en-US" sz="1500"/>
          </a:p>
        </p:txBody>
      </p:sp>
      <p:sp>
        <p:nvSpPr>
          <p:cNvPr id="24" name="Shape 17"/>
          <p:cNvSpPr/>
          <p:nvPr/>
        </p:nvSpPr>
        <p:spPr>
          <a:xfrm>
            <a:off x="7961809" y="3296196"/>
            <a:ext cx="3414216" cy="1330920"/>
          </a:xfrm>
          <a:prstGeom prst="roundRect">
            <a:avLst>
              <a:gd name="adj" fmla="val 7395"/>
            </a:avLst>
          </a:prstGeom>
          <a:solidFill>
            <a:srgbClr val="FFFFFF"/>
          </a:solidFill>
          <a:ln w="6350">
            <a:solidFill>
              <a:srgbClr val="DDD8CC"/>
            </a:solidFill>
            <a:prstDash val="solid"/>
          </a:ln>
        </p:spPr>
      </p:sp>
      <p:pic>
        <p:nvPicPr>
          <p:cNvPr id="25" name="Image 5" descr="CheckCircle"/>
          <p:cNvPicPr>
            <a:picLocks noChangeAspect="1"/>
          </p:cNvPicPr>
          <p:nvPr/>
        </p:nvPicPr>
        <p:blipFill>
          <a:blip r:embed="rId6"/>
          <a:srcRect/>
          <a:stretch>
            <a:fillRect/>
          </a:stretch>
        </p:blipFill>
        <p:spPr>
          <a:xfrm>
            <a:off x="8168184" y="3502571"/>
            <a:ext cx="304800" cy="304800"/>
          </a:xfrm>
          <a:prstGeom prst="rect">
            <a:avLst/>
          </a:prstGeom>
        </p:spPr>
      </p:pic>
      <p:sp>
        <p:nvSpPr>
          <p:cNvPr id="26" name="Text 18"/>
          <p:cNvSpPr/>
          <p:nvPr/>
        </p:nvSpPr>
        <p:spPr>
          <a:xfrm>
            <a:off x="8168184" y="3883571"/>
            <a:ext cx="3091510" cy="238720"/>
          </a:xfrm>
          <a:prstGeom prst="rect">
            <a:avLst/>
          </a:prstGeom>
          <a:noFill/>
        </p:spPr>
        <p:txBody>
          <a:bodyPr wrap="square" lIns="0" tIns="0" rIns="0" bIns="0" rtlCol="0" anchor="t">
            <a:normAutofit/>
          </a:bodyPr>
          <a:lstStyle/>
          <a:p>
            <a:pPr marL="0" indent="0" algn="l">
              <a:lnSpc>
                <a:spcPts val="1680"/>
              </a:lnSpc>
              <a:buNone/>
            </a:pPr>
            <a:r>
              <a:rPr lang="en-US" sz="1200" b="1" kern="0" spc="100">
                <a:solidFill>
                  <a:srgbClr val="4A5568"/>
                </a:solidFill>
                <a:latin typeface="DM Sans" pitchFamily="34" charset="0"/>
                <a:ea typeface="DM Sans" pitchFamily="34" charset="-122"/>
                <a:cs typeface="DM Sans" pitchFamily="34" charset="-120"/>
              </a:rPr>
              <a:t>TESTING</a:t>
            </a:r>
            <a:endParaRPr lang="en-US" sz="1200"/>
          </a:p>
        </p:txBody>
      </p:sp>
      <p:sp>
        <p:nvSpPr>
          <p:cNvPr id="27" name="Text 19"/>
          <p:cNvSpPr/>
          <p:nvPr/>
        </p:nvSpPr>
        <p:spPr>
          <a:xfrm>
            <a:off x="8168184" y="4173091"/>
            <a:ext cx="3091510" cy="273050"/>
          </a:xfrm>
          <a:prstGeom prst="rect">
            <a:avLst/>
          </a:prstGeom>
          <a:noFill/>
        </p:spPr>
        <p:txBody>
          <a:bodyPr wrap="square" lIns="0" tIns="0" rIns="0" bIns="0" rtlCol="0" anchor="t">
            <a:normAutofit/>
          </a:bodyPr>
          <a:lstStyle/>
          <a:p>
            <a:pPr marL="0" indent="0" algn="l">
              <a:lnSpc>
                <a:spcPts val="1950"/>
              </a:lnSpc>
              <a:buNone/>
            </a:pPr>
            <a:r>
              <a:rPr lang="en-US" sz="1500" b="1">
                <a:solidFill>
                  <a:srgbClr val="14213D"/>
                </a:solidFill>
                <a:latin typeface="DM Sans"/>
                <a:ea typeface="DM Sans" pitchFamily="34" charset="-122"/>
                <a:cs typeface="DM Sans" pitchFamily="34" charset="-120"/>
              </a:rPr>
              <a:t>[ Manual testing]</a:t>
            </a:r>
            <a:endParaRPr lang="en-US" sz="1500">
              <a:latin typeface="DM Sans"/>
            </a:endParaRPr>
          </a:p>
        </p:txBody>
      </p:sp>
      <p:sp>
        <p:nvSpPr>
          <p:cNvPr id="28" name="Text 20"/>
          <p:cNvSpPr/>
          <p:nvPr/>
        </p:nvSpPr>
        <p:spPr>
          <a:xfrm>
            <a:off x="976775" y="6180406"/>
            <a:ext cx="7848600" cy="238720"/>
          </a:xfrm>
          <a:prstGeom prst="rect">
            <a:avLst/>
          </a:prstGeom>
          <a:noFill/>
        </p:spPr>
        <p:txBody>
          <a:bodyPr wrap="square" lIns="0" tIns="0" rIns="0" bIns="0" rtlCol="0" anchor="t">
            <a:normAutofit/>
          </a:bodyPr>
          <a:lstStyle/>
          <a:p>
            <a:pPr marL="0" indent="0" algn="l">
              <a:lnSpc>
                <a:spcPts val="1680"/>
              </a:lnSpc>
              <a:buNone/>
            </a:pPr>
            <a:r>
              <a:rPr lang="en-US" sz="1200">
                <a:solidFill>
                  <a:srgbClr val="4A5568"/>
                </a:solidFill>
                <a:latin typeface="DM Sans"/>
                <a:ea typeface="DM Sans" pitchFamily="34" charset="-122"/>
                <a:cs typeface="DM Sans" pitchFamily="34" charset="-120"/>
              </a:rPr>
              <a:t>08 · [FRZIII-PAY]</a:t>
            </a:r>
            <a:endParaRPr lang="en-US" sz="12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a:solidFill>
                  <a:srgbClr val="B4490F"/>
                </a:solidFill>
                <a:latin typeface="DM Sans" pitchFamily="34" charset="0"/>
                <a:ea typeface="DM Sans" pitchFamily="34" charset="-122"/>
                <a:cs typeface="DM Sans" pitchFamily="34" charset="-120"/>
              </a:rPr>
              <a:t>PART 3 · DESIGN</a:t>
            </a:r>
            <a:endParaRPr lang="en-US" sz="1200"/>
          </a:p>
        </p:txBody>
      </p:sp>
      <p:sp>
        <p:nvSpPr>
          <p:cNvPr id="3" name="Text 1"/>
          <p:cNvSpPr>
            <a:spLocks noGrp="1"/>
          </p:cNvSpPr>
          <p:nvPr>
            <p:ph type="title"/>
          </p:nvPr>
        </p:nvSpPr>
        <p:spPr>
          <a:xfrm>
            <a:off x="812800" y="1102320"/>
            <a:ext cx="10883392" cy="472430"/>
          </a:xfrm>
          <a:prstGeom prst="rect">
            <a:avLst/>
          </a:prstGeom>
          <a:noFill/>
        </p:spPr>
        <p:txBody>
          <a:bodyPr wrap="square" lIns="0" tIns="0" rIns="0" bIns="0" rtlCol="0" anchor="t">
            <a:normAutofit/>
          </a:bodyPr>
          <a:lstStyle/>
          <a:p>
            <a:pPr marL="0" indent="0" algn="l">
              <a:lnSpc>
                <a:spcPts val="3520"/>
              </a:lnSpc>
              <a:buNone/>
            </a:pPr>
            <a:r>
              <a:rPr lang="en-US" sz="3200" b="1" i="0">
                <a:solidFill>
                  <a:srgbClr val="14213D"/>
                </a:solidFill>
                <a:latin typeface="DM Sans" pitchFamily="34" charset="0"/>
                <a:ea typeface="DM Sans" pitchFamily="34" charset="-122"/>
                <a:cs typeface="DM Sans" pitchFamily="34" charset="-120"/>
              </a:rPr>
              <a:t>System Architecture</a:t>
            </a:r>
            <a:endParaRPr lang="en-US" sz="3200"/>
          </a:p>
        </p:txBody>
      </p:sp>
      <p:sp>
        <p:nvSpPr>
          <p:cNvPr id="4" name="Shape 2"/>
          <p:cNvSpPr/>
          <p:nvPr/>
        </p:nvSpPr>
        <p:spPr>
          <a:xfrm>
            <a:off x="815975" y="1905546"/>
            <a:ext cx="1662410" cy="788640"/>
          </a:xfrm>
          <a:prstGeom prst="roundRect">
            <a:avLst>
              <a:gd name="adj" fmla="val 12480"/>
            </a:avLst>
          </a:prstGeom>
          <a:solidFill>
            <a:srgbClr val="FFFFFF"/>
          </a:solidFill>
          <a:ln w="6350">
            <a:solidFill>
              <a:srgbClr val="DDD8CC"/>
            </a:solidFill>
            <a:prstDash val="solid"/>
          </a:ln>
        </p:spPr>
      </p:sp>
      <p:sp>
        <p:nvSpPr>
          <p:cNvPr id="5" name="Text 3"/>
          <p:cNvSpPr/>
          <p:nvPr/>
        </p:nvSpPr>
        <p:spPr>
          <a:xfrm>
            <a:off x="946150" y="2061121"/>
            <a:ext cx="1402060" cy="254000"/>
          </a:xfrm>
          <a:prstGeom prst="rect">
            <a:avLst/>
          </a:prstGeom>
          <a:noFill/>
        </p:spPr>
        <p:txBody>
          <a:bodyPr wrap="square" lIns="0" tIns="0" rIns="0" bIns="0" rtlCol="0" anchor="t">
            <a:normAutofit/>
          </a:bodyPr>
          <a:lstStyle/>
          <a:p>
            <a:pPr marL="0" indent="0" algn="ctr">
              <a:lnSpc>
                <a:spcPts val="1800"/>
              </a:lnSpc>
              <a:buNone/>
            </a:pPr>
            <a:r>
              <a:rPr lang="en-US" sz="1500" b="1">
                <a:solidFill>
                  <a:srgbClr val="14213D"/>
                </a:solidFill>
                <a:latin typeface="DM Sans" pitchFamily="34" charset="0"/>
                <a:ea typeface="DM Sans" pitchFamily="34" charset="-122"/>
                <a:cs typeface="DM Sans" pitchFamily="34" charset="-120"/>
              </a:rPr>
              <a:t>User</a:t>
            </a:r>
            <a:endParaRPr lang="en-US" sz="1500"/>
          </a:p>
        </p:txBody>
      </p:sp>
      <p:sp>
        <p:nvSpPr>
          <p:cNvPr id="6" name="Text 4"/>
          <p:cNvSpPr/>
          <p:nvPr/>
        </p:nvSpPr>
        <p:spPr>
          <a:xfrm>
            <a:off x="946150" y="2340521"/>
            <a:ext cx="1402060" cy="223490"/>
          </a:xfrm>
          <a:prstGeom prst="rect">
            <a:avLst/>
          </a:prstGeom>
          <a:noFill/>
        </p:spPr>
        <p:txBody>
          <a:bodyPr wrap="square" lIns="0" tIns="0" rIns="0" bIns="0" rtlCol="0" anchor="t">
            <a:normAutofit/>
          </a:bodyPr>
          <a:lstStyle/>
          <a:p>
            <a:pPr marL="0" indent="0" algn="ctr">
              <a:lnSpc>
                <a:spcPts val="1560"/>
              </a:lnSpc>
              <a:buNone/>
            </a:pPr>
            <a:r>
              <a:rPr lang="en-US" sz="1200">
                <a:solidFill>
                  <a:srgbClr val="4A5568"/>
                </a:solidFill>
                <a:latin typeface="DM Sans"/>
              </a:rPr>
              <a:t>[PAYER]</a:t>
            </a:r>
            <a:endParaRPr lang="en-US" sz="1200"/>
          </a:p>
        </p:txBody>
      </p:sp>
      <p:pic>
        <p:nvPicPr>
          <p:cNvPr id="7" name="Image 0" descr="arrow-right"/>
          <p:cNvPicPr>
            <a:picLocks noChangeAspect="1"/>
          </p:cNvPicPr>
          <p:nvPr/>
        </p:nvPicPr>
        <p:blipFill>
          <a:blip r:embed="rId1"/>
          <a:srcRect/>
          <a:stretch>
            <a:fillRect/>
          </a:stretch>
        </p:blipFill>
        <p:spPr>
          <a:xfrm>
            <a:off x="2583160" y="2210991"/>
            <a:ext cx="355600" cy="177800"/>
          </a:xfrm>
          <a:prstGeom prst="rect">
            <a:avLst/>
          </a:prstGeom>
        </p:spPr>
      </p:pic>
      <p:sp>
        <p:nvSpPr>
          <p:cNvPr id="8" name="Shape 5"/>
          <p:cNvSpPr/>
          <p:nvPr/>
        </p:nvSpPr>
        <p:spPr>
          <a:xfrm>
            <a:off x="3043535" y="1905546"/>
            <a:ext cx="1662460" cy="788640"/>
          </a:xfrm>
          <a:prstGeom prst="roundRect">
            <a:avLst>
              <a:gd name="adj" fmla="val 12480"/>
            </a:avLst>
          </a:prstGeom>
          <a:solidFill>
            <a:srgbClr val="FFFFFF"/>
          </a:solidFill>
          <a:ln w="6350">
            <a:solidFill>
              <a:srgbClr val="DDD8CC"/>
            </a:solidFill>
            <a:prstDash val="solid"/>
          </a:ln>
        </p:spPr>
      </p:sp>
      <p:sp>
        <p:nvSpPr>
          <p:cNvPr id="9" name="Text 6"/>
          <p:cNvSpPr/>
          <p:nvPr/>
        </p:nvSpPr>
        <p:spPr>
          <a:xfrm>
            <a:off x="3173710" y="2061121"/>
            <a:ext cx="1402110" cy="254000"/>
          </a:xfrm>
          <a:prstGeom prst="rect">
            <a:avLst/>
          </a:prstGeom>
          <a:noFill/>
        </p:spPr>
        <p:txBody>
          <a:bodyPr wrap="square" lIns="0" tIns="0" rIns="0" bIns="0" rtlCol="0" anchor="t">
            <a:normAutofit/>
          </a:bodyPr>
          <a:lstStyle/>
          <a:p>
            <a:pPr marL="0" indent="0" algn="ctr">
              <a:lnSpc>
                <a:spcPts val="1800"/>
              </a:lnSpc>
              <a:buNone/>
            </a:pPr>
            <a:r>
              <a:rPr lang="en-US" sz="1500" b="1">
                <a:solidFill>
                  <a:srgbClr val="14213D"/>
                </a:solidFill>
                <a:latin typeface="DM Sans" pitchFamily="34" charset="0"/>
                <a:ea typeface="DM Sans" pitchFamily="34" charset="-122"/>
                <a:cs typeface="DM Sans" pitchFamily="34" charset="-120"/>
              </a:rPr>
              <a:t>UI Layer</a:t>
            </a:r>
            <a:endParaRPr lang="en-US" sz="1500"/>
          </a:p>
        </p:txBody>
      </p:sp>
      <p:sp>
        <p:nvSpPr>
          <p:cNvPr id="10" name="Text 7"/>
          <p:cNvSpPr/>
          <p:nvPr/>
        </p:nvSpPr>
        <p:spPr>
          <a:xfrm>
            <a:off x="3173710" y="2340521"/>
            <a:ext cx="1402110" cy="223490"/>
          </a:xfrm>
          <a:prstGeom prst="rect">
            <a:avLst/>
          </a:prstGeom>
          <a:noFill/>
        </p:spPr>
        <p:txBody>
          <a:bodyPr wrap="square" lIns="0" tIns="0" rIns="0" bIns="0" rtlCol="0" anchor="t">
            <a:normAutofit/>
          </a:bodyPr>
          <a:lstStyle/>
          <a:p>
            <a:pPr algn="ctr">
              <a:lnSpc>
                <a:spcPts val="1560"/>
              </a:lnSpc>
            </a:pPr>
            <a:r>
              <a:rPr lang="en-US" sz="1200">
                <a:solidFill>
                  <a:srgbClr val="4A5568"/>
                </a:solidFill>
                <a:latin typeface="DM Sans"/>
                <a:ea typeface="DM Sans" pitchFamily="34" charset="-122"/>
                <a:cs typeface="DM Sans" pitchFamily="34" charset="-120"/>
              </a:rPr>
              <a:t>[Java Swing GUI ]</a:t>
            </a:r>
            <a:endParaRPr lang="en-US" sz="1200">
              <a:latin typeface="DM Sans"/>
            </a:endParaRPr>
          </a:p>
        </p:txBody>
      </p:sp>
      <p:pic>
        <p:nvPicPr>
          <p:cNvPr id="11" name="Image 1" descr="arrow-right"/>
          <p:cNvPicPr>
            <a:picLocks noChangeAspect="1"/>
          </p:cNvPicPr>
          <p:nvPr/>
        </p:nvPicPr>
        <p:blipFill>
          <a:blip r:embed="rId1"/>
          <a:srcRect/>
          <a:stretch>
            <a:fillRect/>
          </a:stretch>
        </p:blipFill>
        <p:spPr>
          <a:xfrm>
            <a:off x="4810770" y="2210991"/>
            <a:ext cx="355600" cy="177800"/>
          </a:xfrm>
          <a:prstGeom prst="rect">
            <a:avLst/>
          </a:prstGeom>
        </p:spPr>
      </p:pic>
      <p:sp>
        <p:nvSpPr>
          <p:cNvPr id="12" name="Shape 8"/>
          <p:cNvSpPr/>
          <p:nvPr/>
        </p:nvSpPr>
        <p:spPr>
          <a:xfrm>
            <a:off x="5271145" y="1806525"/>
            <a:ext cx="1662410" cy="986730"/>
          </a:xfrm>
          <a:prstGeom prst="roundRect">
            <a:avLst>
              <a:gd name="adj" fmla="val 9975"/>
            </a:avLst>
          </a:prstGeom>
          <a:solidFill>
            <a:srgbClr val="FFFFFF"/>
          </a:solidFill>
          <a:ln w="6350">
            <a:solidFill>
              <a:srgbClr val="DDD8CC"/>
            </a:solidFill>
            <a:prstDash val="solid"/>
          </a:ln>
        </p:spPr>
      </p:sp>
      <p:sp>
        <p:nvSpPr>
          <p:cNvPr id="13" name="Text 9"/>
          <p:cNvSpPr/>
          <p:nvPr/>
        </p:nvSpPr>
        <p:spPr>
          <a:xfrm>
            <a:off x="5401320" y="1962100"/>
            <a:ext cx="1402060" cy="254000"/>
          </a:xfrm>
          <a:prstGeom prst="rect">
            <a:avLst/>
          </a:prstGeom>
          <a:noFill/>
        </p:spPr>
        <p:txBody>
          <a:bodyPr wrap="square" lIns="0" tIns="0" rIns="0" bIns="0" rtlCol="0" anchor="t">
            <a:normAutofit/>
          </a:bodyPr>
          <a:lstStyle/>
          <a:p>
            <a:pPr marL="0" indent="0" algn="ctr">
              <a:lnSpc>
                <a:spcPts val="1800"/>
              </a:lnSpc>
              <a:buNone/>
            </a:pPr>
            <a:r>
              <a:rPr lang="en-US" sz="1500" b="1">
                <a:solidFill>
                  <a:srgbClr val="14213D"/>
                </a:solidFill>
                <a:latin typeface="DM Sans" pitchFamily="34" charset="0"/>
                <a:ea typeface="DM Sans" pitchFamily="34" charset="-122"/>
                <a:cs typeface="DM Sans" pitchFamily="34" charset="-120"/>
              </a:rPr>
              <a:t>Logic Layer</a:t>
            </a:r>
            <a:endParaRPr lang="en-US" sz="1500"/>
          </a:p>
        </p:txBody>
      </p:sp>
      <p:sp>
        <p:nvSpPr>
          <p:cNvPr id="14" name="Text 10"/>
          <p:cNvSpPr/>
          <p:nvPr/>
        </p:nvSpPr>
        <p:spPr>
          <a:xfrm>
            <a:off x="5401320" y="2241500"/>
            <a:ext cx="1402060" cy="421580"/>
          </a:xfrm>
          <a:prstGeom prst="rect">
            <a:avLst/>
          </a:prstGeom>
          <a:noFill/>
        </p:spPr>
        <p:txBody>
          <a:bodyPr wrap="square" lIns="0" tIns="0" rIns="0" bIns="0" rtlCol="0" anchor="t">
            <a:normAutofit/>
          </a:bodyPr>
          <a:lstStyle/>
          <a:p>
            <a:pPr algn="ctr">
              <a:lnSpc>
                <a:spcPts val="1560"/>
              </a:lnSpc>
            </a:pPr>
            <a:r>
              <a:rPr lang="en-US" sz="1200" dirty="0">
                <a:solidFill>
                  <a:srgbClr val="4A5568"/>
                </a:solidFill>
                <a:latin typeface="DM Sans"/>
              </a:rPr>
              <a:t>[VALIDATION </a:t>
            </a:r>
            <a:r>
              <a:rPr lang="en-US" sz="1200">
                <a:solidFill>
                  <a:srgbClr val="4A5568"/>
                </a:solidFill>
                <a:latin typeface="DM Sans"/>
              </a:rPr>
              <a:t>ENGINE &amp;TIMER</a:t>
            </a:r>
            <a:endParaRPr lang="en-US" sz="1200" dirty="0">
              <a:solidFill>
                <a:srgbClr val="4A5568"/>
              </a:solidFill>
              <a:latin typeface="DM Sans"/>
            </a:endParaRPr>
          </a:p>
        </p:txBody>
      </p:sp>
      <p:pic>
        <p:nvPicPr>
          <p:cNvPr id="15" name="Image 2" descr="arrow-right"/>
          <p:cNvPicPr>
            <a:picLocks noChangeAspect="1"/>
          </p:cNvPicPr>
          <p:nvPr/>
        </p:nvPicPr>
        <p:blipFill>
          <a:blip r:embed="rId1"/>
          <a:srcRect/>
          <a:stretch>
            <a:fillRect/>
          </a:stretch>
        </p:blipFill>
        <p:spPr>
          <a:xfrm>
            <a:off x="7038330" y="2210991"/>
            <a:ext cx="355600" cy="177800"/>
          </a:xfrm>
          <a:prstGeom prst="rect">
            <a:avLst/>
          </a:prstGeom>
        </p:spPr>
      </p:pic>
      <p:sp>
        <p:nvSpPr>
          <p:cNvPr id="16" name="Shape 11"/>
          <p:cNvSpPr/>
          <p:nvPr/>
        </p:nvSpPr>
        <p:spPr>
          <a:xfrm>
            <a:off x="7498705" y="1803946"/>
            <a:ext cx="1662460" cy="991840"/>
          </a:xfrm>
          <a:prstGeom prst="roundRect">
            <a:avLst>
              <a:gd name="adj" fmla="val 12480"/>
            </a:avLst>
          </a:prstGeom>
          <a:solidFill>
            <a:srgbClr val="FFFFFF"/>
          </a:solidFill>
          <a:ln w="6350">
            <a:solidFill>
              <a:srgbClr val="DDD8CC"/>
            </a:solidFill>
            <a:prstDash val="solid"/>
          </a:ln>
        </p:spPr>
      </p:sp>
      <p:sp>
        <p:nvSpPr>
          <p:cNvPr id="17" name="Text 12"/>
          <p:cNvSpPr/>
          <p:nvPr/>
        </p:nvSpPr>
        <p:spPr>
          <a:xfrm>
            <a:off x="7628880" y="2061121"/>
            <a:ext cx="1402110" cy="254000"/>
          </a:xfrm>
          <a:prstGeom prst="rect">
            <a:avLst/>
          </a:prstGeom>
          <a:noFill/>
        </p:spPr>
        <p:txBody>
          <a:bodyPr wrap="square" lIns="0" tIns="0" rIns="0" bIns="0" rtlCol="0" anchor="t">
            <a:normAutofit/>
          </a:bodyPr>
          <a:lstStyle/>
          <a:p>
            <a:pPr marL="0" indent="0" algn="ctr">
              <a:lnSpc>
                <a:spcPts val="1800"/>
              </a:lnSpc>
              <a:buNone/>
            </a:pPr>
            <a:r>
              <a:rPr lang="en-US" sz="1500" b="1">
                <a:solidFill>
                  <a:srgbClr val="14213D"/>
                </a:solidFill>
                <a:latin typeface="DM Sans" pitchFamily="34" charset="0"/>
                <a:ea typeface="DM Sans" pitchFamily="34" charset="-122"/>
                <a:cs typeface="DM Sans" pitchFamily="34" charset="-120"/>
              </a:rPr>
              <a:t>Data Layer</a:t>
            </a:r>
            <a:endParaRPr lang="en-US" sz="1500"/>
          </a:p>
        </p:txBody>
      </p:sp>
      <p:sp>
        <p:nvSpPr>
          <p:cNvPr id="18" name="Text 13"/>
          <p:cNvSpPr/>
          <p:nvPr/>
        </p:nvSpPr>
        <p:spPr>
          <a:xfrm>
            <a:off x="7628880" y="2320201"/>
            <a:ext cx="1402110" cy="457170"/>
          </a:xfrm>
          <a:prstGeom prst="rect">
            <a:avLst/>
          </a:prstGeom>
          <a:noFill/>
        </p:spPr>
        <p:txBody>
          <a:bodyPr wrap="square" lIns="0" tIns="0" rIns="0" bIns="0" rtlCol="0" anchor="t">
            <a:normAutofit/>
          </a:bodyPr>
          <a:lstStyle/>
          <a:p>
            <a:pPr algn="ctr">
              <a:lnSpc>
                <a:spcPts val="1560"/>
              </a:lnSpc>
            </a:pPr>
            <a:r>
              <a:rPr lang="en-US" sz="1200">
                <a:solidFill>
                  <a:srgbClr val="4A5568"/>
                </a:solidFill>
                <a:latin typeface="DM Sans"/>
              </a:rPr>
              <a:t>[QR GENERATOR API]</a:t>
            </a:r>
            <a:endParaRPr lang="en-US" sz="1200"/>
          </a:p>
        </p:txBody>
      </p:sp>
      <p:pic>
        <p:nvPicPr>
          <p:cNvPr id="19" name="Image 3" descr="arrow-right"/>
          <p:cNvPicPr>
            <a:picLocks noChangeAspect="1"/>
          </p:cNvPicPr>
          <p:nvPr/>
        </p:nvPicPr>
        <p:blipFill>
          <a:blip r:embed="rId1"/>
          <a:srcRect/>
          <a:stretch>
            <a:fillRect/>
          </a:stretch>
        </p:blipFill>
        <p:spPr>
          <a:xfrm>
            <a:off x="9265940" y="2210991"/>
            <a:ext cx="355600" cy="177800"/>
          </a:xfrm>
          <a:prstGeom prst="rect">
            <a:avLst/>
          </a:prstGeom>
        </p:spPr>
      </p:pic>
      <p:sp>
        <p:nvSpPr>
          <p:cNvPr id="20" name="Shape 14"/>
          <p:cNvSpPr/>
          <p:nvPr/>
        </p:nvSpPr>
        <p:spPr>
          <a:xfrm>
            <a:off x="9723140" y="1908721"/>
            <a:ext cx="1656060" cy="782290"/>
          </a:xfrm>
          <a:prstGeom prst="roundRect">
            <a:avLst>
              <a:gd name="adj" fmla="val 12988"/>
            </a:avLst>
          </a:prstGeom>
          <a:solidFill>
            <a:srgbClr val="14213D"/>
          </a:solidFill>
        </p:spPr>
      </p:sp>
      <p:sp>
        <p:nvSpPr>
          <p:cNvPr id="21" name="Text 15"/>
          <p:cNvSpPr/>
          <p:nvPr/>
        </p:nvSpPr>
        <p:spPr>
          <a:xfrm>
            <a:off x="9850140" y="2061121"/>
            <a:ext cx="1402060" cy="254000"/>
          </a:xfrm>
          <a:prstGeom prst="rect">
            <a:avLst/>
          </a:prstGeom>
          <a:noFill/>
        </p:spPr>
        <p:txBody>
          <a:bodyPr wrap="square" lIns="0" tIns="0" rIns="0" bIns="0" rtlCol="0" anchor="t">
            <a:normAutofit/>
          </a:bodyPr>
          <a:lstStyle/>
          <a:p>
            <a:pPr marL="0" indent="0" algn="ctr">
              <a:lnSpc>
                <a:spcPts val="1800"/>
              </a:lnSpc>
              <a:buNone/>
            </a:pPr>
            <a:r>
              <a:rPr lang="en-US" sz="1500" b="1">
                <a:solidFill>
                  <a:srgbClr val="F7F5EF"/>
                </a:solidFill>
                <a:latin typeface="DM Sans" pitchFamily="34" charset="0"/>
                <a:ea typeface="DM Sans" pitchFamily="34" charset="-122"/>
                <a:cs typeface="DM Sans" pitchFamily="34" charset="-120"/>
              </a:rPr>
              <a:t>Storage</a:t>
            </a:r>
            <a:endParaRPr lang="en-US" sz="1500"/>
          </a:p>
        </p:txBody>
      </p:sp>
      <p:sp>
        <p:nvSpPr>
          <p:cNvPr id="22" name="Text 16"/>
          <p:cNvSpPr/>
          <p:nvPr/>
        </p:nvSpPr>
        <p:spPr>
          <a:xfrm>
            <a:off x="9850140" y="2340521"/>
            <a:ext cx="1402060" cy="223490"/>
          </a:xfrm>
          <a:prstGeom prst="rect">
            <a:avLst/>
          </a:prstGeom>
          <a:noFill/>
        </p:spPr>
        <p:txBody>
          <a:bodyPr wrap="square" lIns="0" tIns="0" rIns="0" bIns="0" rtlCol="0" anchor="t">
            <a:normAutofit fontScale="85000" lnSpcReduction="10000"/>
          </a:bodyPr>
          <a:lstStyle/>
          <a:p>
            <a:pPr algn="ctr">
              <a:lnSpc>
                <a:spcPts val="1560"/>
              </a:lnSpc>
            </a:pPr>
            <a:r>
              <a:rPr lang="en-US" sz="1200">
                <a:solidFill>
                  <a:srgbClr val="C9D1E3"/>
                </a:solidFill>
                <a:latin typeface="DM Sans"/>
              </a:rPr>
              <a:t>[RECEIPT FILE EXPORT]</a:t>
            </a:r>
            <a:endParaRPr lang="en-US" sz="1200">
              <a:latin typeface="DM Sans"/>
            </a:endParaRPr>
          </a:p>
        </p:txBody>
      </p:sp>
      <p:sp>
        <p:nvSpPr>
          <p:cNvPr id="23" name="Shape 17"/>
          <p:cNvSpPr/>
          <p:nvPr/>
        </p:nvSpPr>
        <p:spPr>
          <a:xfrm>
            <a:off x="812800" y="3059956"/>
            <a:ext cx="3420517" cy="0"/>
          </a:xfrm>
          <a:prstGeom prst="line">
            <a:avLst/>
          </a:prstGeom>
          <a:noFill/>
          <a:ln w="19050">
            <a:solidFill>
              <a:srgbClr val="E8772E"/>
            </a:solidFill>
            <a:prstDash val="solid"/>
          </a:ln>
        </p:spPr>
      </p:sp>
      <p:sp>
        <p:nvSpPr>
          <p:cNvPr id="24" name="Text 18"/>
          <p:cNvSpPr/>
          <p:nvPr/>
        </p:nvSpPr>
        <p:spPr>
          <a:xfrm>
            <a:off x="812800" y="3196481"/>
            <a:ext cx="3523132" cy="238720"/>
          </a:xfrm>
          <a:prstGeom prst="rect">
            <a:avLst/>
          </a:prstGeom>
          <a:noFill/>
        </p:spPr>
        <p:txBody>
          <a:bodyPr wrap="square" lIns="0" tIns="0" rIns="0" bIns="0" rtlCol="0" anchor="t">
            <a:normAutofit/>
          </a:bodyPr>
          <a:lstStyle/>
          <a:p>
            <a:pPr marL="0" indent="0" algn="l">
              <a:lnSpc>
                <a:spcPts val="1680"/>
              </a:lnSpc>
              <a:buNone/>
            </a:pPr>
            <a:r>
              <a:rPr lang="en-US" sz="1200" b="1" kern="0" spc="100">
                <a:solidFill>
                  <a:srgbClr val="B4490F"/>
                </a:solidFill>
                <a:latin typeface="DM Sans" pitchFamily="34" charset="0"/>
                <a:ea typeface="DM Sans" pitchFamily="34" charset="-122"/>
                <a:cs typeface="DM Sans" pitchFamily="34" charset="-120"/>
              </a:rPr>
              <a:t>1 · INPUT</a:t>
            </a:r>
            <a:endParaRPr lang="en-US" sz="1200"/>
          </a:p>
        </p:txBody>
      </p:sp>
      <p:sp>
        <p:nvSpPr>
          <p:cNvPr id="25" name="Text 19"/>
          <p:cNvSpPr/>
          <p:nvPr/>
        </p:nvSpPr>
        <p:spPr>
          <a:xfrm>
            <a:off x="822446" y="3441310"/>
            <a:ext cx="3552068" cy="505783"/>
          </a:xfrm>
          <a:prstGeom prst="rect">
            <a:avLst/>
          </a:prstGeom>
          <a:noFill/>
        </p:spPr>
        <p:txBody>
          <a:bodyPr wrap="square" lIns="0" tIns="0" rIns="0" bIns="0" rtlCol="0" anchor="t">
            <a:normAutofit/>
          </a:bodyPr>
          <a:lstStyle/>
          <a:p>
            <a:pPr>
              <a:lnSpc>
                <a:spcPts val="1960"/>
              </a:lnSpc>
            </a:pPr>
            <a:r>
              <a:rPr lang="en-US" sz="1400" dirty="0">
                <a:solidFill>
                  <a:srgbClr val="14213D"/>
                </a:solidFill>
                <a:latin typeface="DM Sans"/>
                <a:ea typeface="DM Sans" pitchFamily="34" charset="-122"/>
                <a:cs typeface="DM Sans" pitchFamily="34" charset="-120"/>
              </a:rPr>
              <a:t>[User Enter Receiver </a:t>
            </a:r>
            <a:r>
              <a:rPr lang="en-US" sz="1400" dirty="0" err="1">
                <a:solidFill>
                  <a:srgbClr val="14213D"/>
                </a:solidFill>
                <a:latin typeface="DM Sans"/>
                <a:ea typeface="DM Sans" pitchFamily="34" charset="-122"/>
                <a:cs typeface="DM Sans" pitchFamily="34" charset="-120"/>
              </a:rPr>
              <a:t>Name,UPI</a:t>
            </a:r>
            <a:r>
              <a:rPr lang="en-US" sz="1400" dirty="0">
                <a:solidFill>
                  <a:srgbClr val="14213D"/>
                </a:solidFill>
                <a:latin typeface="DM Sans"/>
                <a:ea typeface="DM Sans" pitchFamily="34" charset="-122"/>
                <a:cs typeface="DM Sans" pitchFamily="34" charset="-120"/>
              </a:rPr>
              <a:t> Id &amp; Amount  on Swing Form]</a:t>
            </a:r>
            <a:endParaRPr lang="en-US" sz="1400" dirty="0">
              <a:latin typeface="DM Sans"/>
            </a:endParaRPr>
          </a:p>
        </p:txBody>
      </p:sp>
      <p:sp>
        <p:nvSpPr>
          <p:cNvPr id="26" name="Shape 20"/>
          <p:cNvSpPr/>
          <p:nvPr/>
        </p:nvSpPr>
        <p:spPr>
          <a:xfrm>
            <a:off x="4385717" y="3059956"/>
            <a:ext cx="3420566" cy="0"/>
          </a:xfrm>
          <a:prstGeom prst="line">
            <a:avLst/>
          </a:prstGeom>
          <a:noFill/>
          <a:ln w="19050">
            <a:solidFill>
              <a:srgbClr val="E8772E"/>
            </a:solidFill>
            <a:prstDash val="solid"/>
          </a:ln>
        </p:spPr>
      </p:sp>
      <p:sp>
        <p:nvSpPr>
          <p:cNvPr id="27" name="Text 21"/>
          <p:cNvSpPr/>
          <p:nvPr/>
        </p:nvSpPr>
        <p:spPr>
          <a:xfrm>
            <a:off x="4985157" y="3226961"/>
            <a:ext cx="3523183" cy="238720"/>
          </a:xfrm>
          <a:prstGeom prst="rect">
            <a:avLst/>
          </a:prstGeom>
          <a:noFill/>
        </p:spPr>
        <p:txBody>
          <a:bodyPr wrap="square" lIns="0" tIns="0" rIns="0" bIns="0" rtlCol="0" anchor="t">
            <a:normAutofit/>
          </a:bodyPr>
          <a:lstStyle/>
          <a:p>
            <a:pPr marL="0" indent="0" algn="l">
              <a:lnSpc>
                <a:spcPts val="1680"/>
              </a:lnSpc>
              <a:buNone/>
            </a:pPr>
            <a:r>
              <a:rPr lang="en-US" sz="1200" b="1" kern="0" spc="100">
                <a:solidFill>
                  <a:srgbClr val="B4490F"/>
                </a:solidFill>
                <a:latin typeface="DM Sans" pitchFamily="34" charset="0"/>
                <a:ea typeface="DM Sans" pitchFamily="34" charset="-122"/>
                <a:cs typeface="DM Sans" pitchFamily="34" charset="-120"/>
              </a:rPr>
              <a:t>2 · PROCESS</a:t>
            </a:r>
            <a:endParaRPr lang="en-US" sz="1200"/>
          </a:p>
        </p:txBody>
      </p:sp>
      <p:sp>
        <p:nvSpPr>
          <p:cNvPr id="28" name="Text 22"/>
          <p:cNvSpPr/>
          <p:nvPr/>
        </p:nvSpPr>
        <p:spPr>
          <a:xfrm>
            <a:off x="4284117" y="3460601"/>
            <a:ext cx="3523183" cy="274290"/>
          </a:xfrm>
          <a:prstGeom prst="rect">
            <a:avLst/>
          </a:prstGeom>
          <a:noFill/>
        </p:spPr>
        <p:txBody>
          <a:bodyPr wrap="square" lIns="0" tIns="0" rIns="0" bIns="0" rtlCol="0" anchor="t">
            <a:normAutofit fontScale="92500"/>
          </a:bodyPr>
          <a:lstStyle/>
          <a:p>
            <a:pPr>
              <a:lnSpc>
                <a:spcPts val="1960"/>
              </a:lnSpc>
            </a:pPr>
            <a:r>
              <a:rPr lang="en-US" sz="1400" dirty="0">
                <a:solidFill>
                  <a:srgbClr val="14213D"/>
                </a:solidFill>
                <a:latin typeface="DM Sans"/>
              </a:rPr>
              <a:t>[Fet</a:t>
            </a:r>
            <a:r>
              <a:rPr lang="en-US" sz="1400">
                <a:solidFill>
                  <a:srgbClr val="14213D"/>
                </a:solidFill>
                <a:latin typeface="DM Sans"/>
              </a:rPr>
              <a:t>ch Dynamic UPI QR code With 60s timer]</a:t>
            </a:r>
            <a:endParaRPr lang="en-US" sz="1400">
              <a:latin typeface="DM Sans"/>
            </a:endParaRPr>
          </a:p>
        </p:txBody>
      </p:sp>
      <p:sp>
        <p:nvSpPr>
          <p:cNvPr id="29" name="Shape 23"/>
          <p:cNvSpPr/>
          <p:nvPr/>
        </p:nvSpPr>
        <p:spPr>
          <a:xfrm>
            <a:off x="7958683" y="3059956"/>
            <a:ext cx="3420517" cy="0"/>
          </a:xfrm>
          <a:prstGeom prst="line">
            <a:avLst/>
          </a:prstGeom>
          <a:noFill/>
          <a:ln w="19050">
            <a:solidFill>
              <a:srgbClr val="E8772E"/>
            </a:solidFill>
            <a:prstDash val="solid"/>
          </a:ln>
        </p:spPr>
      </p:sp>
      <p:sp>
        <p:nvSpPr>
          <p:cNvPr id="30" name="Text 24"/>
          <p:cNvSpPr/>
          <p:nvPr/>
        </p:nvSpPr>
        <p:spPr>
          <a:xfrm>
            <a:off x="7958683" y="3196481"/>
            <a:ext cx="3523132" cy="238720"/>
          </a:xfrm>
          <a:prstGeom prst="rect">
            <a:avLst/>
          </a:prstGeom>
          <a:noFill/>
        </p:spPr>
        <p:txBody>
          <a:bodyPr wrap="square" lIns="0" tIns="0" rIns="0" bIns="0" rtlCol="0" anchor="t">
            <a:normAutofit/>
          </a:bodyPr>
          <a:lstStyle/>
          <a:p>
            <a:pPr marL="0" indent="0" algn="l">
              <a:lnSpc>
                <a:spcPts val="1680"/>
              </a:lnSpc>
              <a:buNone/>
            </a:pPr>
            <a:r>
              <a:rPr lang="en-US" sz="1200" b="1" kern="0" spc="100">
                <a:solidFill>
                  <a:srgbClr val="B4490F"/>
                </a:solidFill>
                <a:latin typeface="DM Sans" pitchFamily="34" charset="0"/>
                <a:ea typeface="DM Sans" pitchFamily="34" charset="-122"/>
                <a:cs typeface="DM Sans" pitchFamily="34" charset="-120"/>
              </a:rPr>
              <a:t>3 · OUTPUT</a:t>
            </a:r>
            <a:endParaRPr lang="en-US" sz="1200"/>
          </a:p>
        </p:txBody>
      </p:sp>
      <p:sp>
        <p:nvSpPr>
          <p:cNvPr id="31" name="Text 25"/>
          <p:cNvSpPr/>
          <p:nvPr/>
        </p:nvSpPr>
        <p:spPr>
          <a:xfrm>
            <a:off x="7958683" y="3450956"/>
            <a:ext cx="3523132" cy="496137"/>
          </a:xfrm>
          <a:prstGeom prst="rect">
            <a:avLst/>
          </a:prstGeom>
          <a:noFill/>
        </p:spPr>
        <p:txBody>
          <a:bodyPr wrap="square" lIns="0" tIns="0" rIns="0" bIns="0" rtlCol="0" anchor="t">
            <a:normAutofit/>
          </a:bodyPr>
          <a:lstStyle/>
          <a:p>
            <a:pPr>
              <a:lnSpc>
                <a:spcPts val="1960"/>
              </a:lnSpc>
            </a:pPr>
            <a:r>
              <a:rPr lang="en-US" sz="1400" dirty="0">
                <a:solidFill>
                  <a:srgbClr val="14213D"/>
                </a:solidFill>
                <a:latin typeface="DM Sans"/>
              </a:rPr>
              <a:t>[Display  active QR for payment ,verifies </a:t>
            </a:r>
            <a:r>
              <a:rPr lang="en-US" sz="1400" dirty="0" err="1">
                <a:solidFill>
                  <a:srgbClr val="14213D"/>
                </a:solidFill>
                <a:latin typeface="DM Sans"/>
              </a:rPr>
              <a:t>status&amp;export</a:t>
            </a:r>
            <a:r>
              <a:rPr lang="en-US" sz="1400" dirty="0">
                <a:solidFill>
                  <a:srgbClr val="14213D"/>
                </a:solidFill>
                <a:latin typeface="DM Sans"/>
              </a:rPr>
              <a:t> Receipt]</a:t>
            </a:r>
            <a:endParaRPr lang="en-US" sz="1400" dirty="0">
              <a:latin typeface="DM Sans"/>
            </a:endParaRPr>
          </a:p>
        </p:txBody>
      </p:sp>
      <p:sp>
        <p:nvSpPr>
          <p:cNvPr id="32" name="Text 26"/>
          <p:cNvSpPr/>
          <p:nvPr/>
        </p:nvSpPr>
        <p:spPr>
          <a:xfrm>
            <a:off x="812800" y="6238280"/>
            <a:ext cx="7848600" cy="238720"/>
          </a:xfrm>
          <a:prstGeom prst="rect">
            <a:avLst/>
          </a:prstGeom>
          <a:noFill/>
        </p:spPr>
        <p:txBody>
          <a:bodyPr wrap="square" lIns="0" tIns="0" rIns="0" bIns="0" rtlCol="0" anchor="t">
            <a:normAutofit/>
          </a:bodyPr>
          <a:lstStyle/>
          <a:p>
            <a:pPr marL="0" indent="0" algn="l">
              <a:lnSpc>
                <a:spcPts val="1680"/>
              </a:lnSpc>
              <a:buNone/>
            </a:pPr>
            <a:r>
              <a:rPr lang="en-US" sz="1200">
                <a:solidFill>
                  <a:srgbClr val="4A5568"/>
                </a:solidFill>
                <a:latin typeface="DM Sans"/>
                <a:ea typeface="DM Sans" pitchFamily="34" charset="-122"/>
                <a:cs typeface="DM Sans" pitchFamily="34" charset="-120"/>
              </a:rPr>
              <a:t>09 · [FRZIII-PAY]</a:t>
            </a:r>
            <a:endParaRPr lang="en-US" sz="1200">
              <a:latin typeface="DM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CE8D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a:solidFill>
                  <a:srgbClr val="B4490F"/>
                </a:solidFill>
                <a:latin typeface="DM Sans" pitchFamily="34" charset="0"/>
                <a:ea typeface="DM Sans" pitchFamily="34" charset="-122"/>
                <a:cs typeface="DM Sans" pitchFamily="34" charset="-120"/>
              </a:rPr>
              <a:t>PART 3 · DESIGN</a:t>
            </a:r>
            <a:endParaRPr lang="en-US" sz="1200"/>
          </a:p>
        </p:txBody>
      </p:sp>
      <p:sp>
        <p:nvSpPr>
          <p:cNvPr id="3" name="Text 1"/>
          <p:cNvSpPr>
            <a:spLocks noGrp="1"/>
          </p:cNvSpPr>
          <p:nvPr>
            <p:ph type="title"/>
          </p:nvPr>
        </p:nvSpPr>
        <p:spPr>
          <a:xfrm>
            <a:off x="812800" y="1102320"/>
            <a:ext cx="10883392" cy="472430"/>
          </a:xfrm>
          <a:prstGeom prst="rect">
            <a:avLst/>
          </a:prstGeom>
          <a:noFill/>
        </p:spPr>
        <p:txBody>
          <a:bodyPr wrap="square" lIns="0" tIns="0" rIns="0" bIns="0" rtlCol="0" anchor="t">
            <a:normAutofit/>
          </a:bodyPr>
          <a:lstStyle/>
          <a:p>
            <a:pPr marL="0" indent="0" algn="l">
              <a:lnSpc>
                <a:spcPts val="3520"/>
              </a:lnSpc>
              <a:buNone/>
            </a:pPr>
            <a:r>
              <a:rPr lang="en-US" sz="3200" b="1" i="0">
                <a:solidFill>
                  <a:srgbClr val="14213D"/>
                </a:solidFill>
                <a:latin typeface="DM Sans" pitchFamily="34" charset="0"/>
                <a:ea typeface="DM Sans" pitchFamily="34" charset="-122"/>
                <a:cs typeface="DM Sans" pitchFamily="34" charset="-120"/>
              </a:rPr>
              <a:t>Modules</a:t>
            </a:r>
            <a:endParaRPr lang="en-US" sz="3200"/>
          </a:p>
        </p:txBody>
      </p:sp>
      <p:sp>
        <p:nvSpPr>
          <p:cNvPr id="4" name="Shape 2"/>
          <p:cNvSpPr/>
          <p:nvPr/>
        </p:nvSpPr>
        <p:spPr>
          <a:xfrm>
            <a:off x="812800" y="1803350"/>
            <a:ext cx="5207000" cy="1217861"/>
          </a:xfrm>
          <a:prstGeom prst="roundRect">
            <a:avLst>
              <a:gd name="adj" fmla="val 8342"/>
            </a:avLst>
          </a:prstGeom>
          <a:solidFill>
            <a:srgbClr val="FFFFFF"/>
          </a:solidFill>
        </p:spPr>
      </p:sp>
      <p:sp>
        <p:nvSpPr>
          <p:cNvPr id="5" name="Shape 3"/>
          <p:cNvSpPr/>
          <p:nvPr/>
        </p:nvSpPr>
        <p:spPr>
          <a:xfrm>
            <a:off x="812800" y="1803350"/>
            <a:ext cx="5158773" cy="1372190"/>
          </a:xfrm>
          <a:custGeom>
            <a:avLst/>
            <a:gdLst/>
            <a:ahLst/>
            <a:cxnLst/>
            <a:rect l="l" t="t" r="r" b="b"/>
            <a:pathLst>
              <a:path w="5207000" h="1217861">
                <a:moveTo>
                  <a:pt x="101600" y="1217861"/>
                </a:moveTo>
                <a:lnTo>
                  <a:pt x="101600" y="1217861"/>
                </a:lnTo>
                <a:arcTo wR="101600" hR="101600" stAng="5400000" swAng="5400000"/>
                <a:lnTo>
                  <a:pt x="0" y="101600"/>
                </a:lnTo>
                <a:arcTo wR="101600" hR="101600" stAng="10800000" swAng="5400000"/>
                <a:lnTo>
                  <a:pt x="101600" y="0"/>
                </a:lnTo>
                <a:arcTo wR="50800" hR="101600" stAng="16200000" swAng="-5400000"/>
                <a:lnTo>
                  <a:pt x="50800" y="1116261"/>
                </a:lnTo>
                <a:arcTo wR="50800" hR="101600" stAng="10800000" swAng="-5400000"/>
                <a:close/>
              </a:path>
            </a:pathLst>
          </a:custGeom>
          <a:solidFill>
            <a:srgbClr val="E8772E"/>
          </a:solidFill>
        </p:spPr>
      </p:sp>
      <p:sp>
        <p:nvSpPr>
          <p:cNvPr id="6" name="Text 4"/>
          <p:cNvSpPr/>
          <p:nvPr/>
        </p:nvSpPr>
        <p:spPr>
          <a:xfrm>
            <a:off x="1066800" y="2006550"/>
            <a:ext cx="4892294" cy="238720"/>
          </a:xfrm>
          <a:prstGeom prst="rect">
            <a:avLst/>
          </a:prstGeom>
          <a:noFill/>
        </p:spPr>
        <p:txBody>
          <a:bodyPr wrap="square" lIns="0" tIns="0" rIns="0" bIns="0" rtlCol="0" anchor="t">
            <a:normAutofit/>
          </a:bodyPr>
          <a:lstStyle/>
          <a:p>
            <a:pPr marL="0" indent="0" algn="l">
              <a:lnSpc>
                <a:spcPts val="1680"/>
              </a:lnSpc>
              <a:buNone/>
            </a:pPr>
            <a:r>
              <a:rPr lang="en-US" sz="1200" b="1" kern="0" spc="100">
                <a:solidFill>
                  <a:srgbClr val="B4490F"/>
                </a:solidFill>
                <a:latin typeface="DM Sans" pitchFamily="34" charset="0"/>
                <a:ea typeface="DM Sans" pitchFamily="34" charset="-122"/>
                <a:cs typeface="DM Sans" pitchFamily="34" charset="-120"/>
              </a:rPr>
              <a:t>MODULE 1</a:t>
            </a:r>
            <a:endParaRPr lang="en-US" sz="1200"/>
          </a:p>
        </p:txBody>
      </p:sp>
      <p:sp>
        <p:nvSpPr>
          <p:cNvPr id="7" name="Text 5"/>
          <p:cNvSpPr/>
          <p:nvPr/>
        </p:nvSpPr>
        <p:spPr>
          <a:xfrm>
            <a:off x="1066800" y="2270671"/>
            <a:ext cx="4892294" cy="273050"/>
          </a:xfrm>
          <a:prstGeom prst="rect">
            <a:avLst/>
          </a:prstGeom>
          <a:noFill/>
        </p:spPr>
        <p:txBody>
          <a:bodyPr wrap="square" lIns="0" tIns="0" rIns="0" bIns="0" rtlCol="0" anchor="t">
            <a:normAutofit/>
          </a:bodyPr>
          <a:lstStyle/>
          <a:p>
            <a:pPr>
              <a:lnSpc>
                <a:spcPts val="1950"/>
              </a:lnSpc>
            </a:pPr>
            <a:r>
              <a:rPr lang="en-US" sz="1500" b="1">
                <a:solidFill>
                  <a:srgbClr val="14213D"/>
                </a:solidFill>
                <a:latin typeface="DM Sans"/>
              </a:rPr>
              <a:t>[USER INTERFACE &amp; BANK DETAIL INPUT]</a:t>
            </a:r>
            <a:endParaRPr lang="en-US" sz="1500">
              <a:latin typeface="DM Sans"/>
            </a:endParaRPr>
          </a:p>
        </p:txBody>
      </p:sp>
      <p:sp>
        <p:nvSpPr>
          <p:cNvPr id="8" name="Text 6"/>
          <p:cNvSpPr/>
          <p:nvPr/>
        </p:nvSpPr>
        <p:spPr>
          <a:xfrm>
            <a:off x="1066800" y="2569121"/>
            <a:ext cx="4892294" cy="274290"/>
          </a:xfrm>
          <a:prstGeom prst="rect">
            <a:avLst/>
          </a:prstGeom>
          <a:noFill/>
        </p:spPr>
        <p:txBody>
          <a:bodyPr wrap="square" lIns="0" tIns="0" rIns="0" bIns="0" rtlCol="0" anchor="t">
            <a:normAutofit fontScale="85000" lnSpcReduction="10000"/>
          </a:bodyPr>
          <a:lstStyle/>
          <a:p>
            <a:pPr>
              <a:lnSpc>
                <a:spcPts val="1960"/>
              </a:lnSpc>
            </a:pPr>
            <a:r>
              <a:rPr lang="en-US" sz="1400">
                <a:solidFill>
                  <a:srgbClr val="4A5568"/>
                </a:solidFill>
                <a:latin typeface="DM Sans"/>
              </a:rPr>
              <a:t>[TAKE BANK DETAIL FROM USER(NAME,ACCOUNT NO) AND AMOUNT]</a:t>
            </a:r>
            <a:endParaRPr lang="en-US" sz="1400">
              <a:latin typeface="DM Sans"/>
            </a:endParaRPr>
          </a:p>
        </p:txBody>
      </p:sp>
      <p:sp>
        <p:nvSpPr>
          <p:cNvPr id="9" name="Shape 7"/>
          <p:cNvSpPr/>
          <p:nvPr/>
        </p:nvSpPr>
        <p:spPr>
          <a:xfrm>
            <a:off x="6172200" y="1803350"/>
            <a:ext cx="5207000" cy="1217861"/>
          </a:xfrm>
          <a:prstGeom prst="roundRect">
            <a:avLst>
              <a:gd name="adj" fmla="val 8342"/>
            </a:avLst>
          </a:prstGeom>
          <a:solidFill>
            <a:srgbClr val="FFFFFF"/>
          </a:solidFill>
        </p:spPr>
      </p:sp>
      <p:sp>
        <p:nvSpPr>
          <p:cNvPr id="10" name="Shape 8"/>
          <p:cNvSpPr/>
          <p:nvPr/>
        </p:nvSpPr>
        <p:spPr>
          <a:xfrm>
            <a:off x="6172200" y="1803350"/>
            <a:ext cx="5207000" cy="1217861"/>
          </a:xfrm>
          <a:custGeom>
            <a:avLst/>
            <a:gdLst/>
            <a:ahLst/>
            <a:cxnLst/>
            <a:rect l="l" t="t" r="r" b="b"/>
            <a:pathLst>
              <a:path w="5207000" h="1217861">
                <a:moveTo>
                  <a:pt x="101600" y="1217861"/>
                </a:moveTo>
                <a:lnTo>
                  <a:pt x="101600" y="1217861"/>
                </a:lnTo>
                <a:arcTo wR="101600" hR="101600" stAng="5400000" swAng="5400000"/>
                <a:lnTo>
                  <a:pt x="0" y="101600"/>
                </a:lnTo>
                <a:arcTo wR="101600" hR="101600" stAng="10800000" swAng="5400000"/>
                <a:lnTo>
                  <a:pt x="101600" y="0"/>
                </a:lnTo>
                <a:arcTo wR="50800" hR="101600" stAng="16200000" swAng="-5400000"/>
                <a:lnTo>
                  <a:pt x="50800" y="1116261"/>
                </a:lnTo>
                <a:arcTo wR="50800" hR="101600" stAng="10800000" swAng="-5400000"/>
                <a:close/>
              </a:path>
            </a:pathLst>
          </a:custGeom>
          <a:solidFill>
            <a:srgbClr val="E8772E"/>
          </a:solidFill>
        </p:spPr>
      </p:sp>
      <p:sp>
        <p:nvSpPr>
          <p:cNvPr id="11" name="Text 9"/>
          <p:cNvSpPr/>
          <p:nvPr/>
        </p:nvSpPr>
        <p:spPr>
          <a:xfrm>
            <a:off x="6426200" y="2006550"/>
            <a:ext cx="4892294" cy="238720"/>
          </a:xfrm>
          <a:prstGeom prst="rect">
            <a:avLst/>
          </a:prstGeom>
          <a:noFill/>
        </p:spPr>
        <p:txBody>
          <a:bodyPr wrap="square" lIns="0" tIns="0" rIns="0" bIns="0" rtlCol="0" anchor="t">
            <a:normAutofit/>
          </a:bodyPr>
          <a:lstStyle/>
          <a:p>
            <a:pPr marL="0" indent="0" algn="l">
              <a:lnSpc>
                <a:spcPts val="1680"/>
              </a:lnSpc>
              <a:buNone/>
            </a:pPr>
            <a:r>
              <a:rPr lang="en-US" sz="1200" b="1" kern="0" spc="100">
                <a:solidFill>
                  <a:srgbClr val="B4490F"/>
                </a:solidFill>
                <a:latin typeface="DM Sans" pitchFamily="34" charset="0"/>
                <a:ea typeface="DM Sans" pitchFamily="34" charset="-122"/>
                <a:cs typeface="DM Sans" pitchFamily="34" charset="-120"/>
              </a:rPr>
              <a:t>MODULE 2</a:t>
            </a:r>
            <a:endParaRPr lang="en-US" sz="1200"/>
          </a:p>
        </p:txBody>
      </p:sp>
      <p:sp>
        <p:nvSpPr>
          <p:cNvPr id="12" name="Text 10"/>
          <p:cNvSpPr/>
          <p:nvPr/>
        </p:nvSpPr>
        <p:spPr>
          <a:xfrm>
            <a:off x="6426200" y="2270671"/>
            <a:ext cx="4892294" cy="273050"/>
          </a:xfrm>
          <a:prstGeom prst="rect">
            <a:avLst/>
          </a:prstGeom>
          <a:noFill/>
        </p:spPr>
        <p:txBody>
          <a:bodyPr wrap="square" lIns="0" tIns="0" rIns="0" bIns="0" rtlCol="0" anchor="t">
            <a:normAutofit/>
          </a:bodyPr>
          <a:lstStyle/>
          <a:p>
            <a:pPr>
              <a:lnSpc>
                <a:spcPts val="1950"/>
              </a:lnSpc>
            </a:pPr>
            <a:r>
              <a:rPr lang="en-US" sz="1500" b="1">
                <a:solidFill>
                  <a:srgbClr val="14213D"/>
                </a:solidFill>
                <a:latin typeface="DM Sans"/>
              </a:rPr>
              <a:t>[QR CODE GENERATOR ENGINE]</a:t>
            </a:r>
            <a:endParaRPr lang="en-US" sz="1500">
              <a:latin typeface="DM Sans"/>
            </a:endParaRPr>
          </a:p>
        </p:txBody>
      </p:sp>
      <p:sp>
        <p:nvSpPr>
          <p:cNvPr id="13" name="Text 11"/>
          <p:cNvSpPr/>
          <p:nvPr/>
        </p:nvSpPr>
        <p:spPr>
          <a:xfrm>
            <a:off x="6426200" y="2569121"/>
            <a:ext cx="4892294" cy="274290"/>
          </a:xfrm>
          <a:prstGeom prst="rect">
            <a:avLst/>
          </a:prstGeom>
          <a:noFill/>
        </p:spPr>
        <p:txBody>
          <a:bodyPr wrap="square" lIns="0" tIns="0" rIns="0" bIns="0" rtlCol="0" anchor="t">
            <a:normAutofit/>
          </a:bodyPr>
          <a:lstStyle/>
          <a:p>
            <a:pPr>
              <a:lnSpc>
                <a:spcPts val="1960"/>
              </a:lnSpc>
            </a:pPr>
            <a:r>
              <a:rPr lang="en-US" sz="1400" dirty="0">
                <a:solidFill>
                  <a:srgbClr val="4A5568"/>
                </a:solidFill>
                <a:latin typeface="DM Sans"/>
              </a:rPr>
              <a:t>[Encode </a:t>
            </a:r>
            <a:r>
              <a:rPr lang="en-US" sz="1400" dirty="0">
                <a:solidFill>
                  <a:srgbClr val="14213D"/>
                </a:solidFill>
                <a:latin typeface="DM Sans"/>
              </a:rPr>
              <a:t>UPI payme</a:t>
            </a:r>
            <a:r>
              <a:rPr lang="en-US" sz="1400">
                <a:solidFill>
                  <a:srgbClr val="14213D"/>
                </a:solidFill>
                <a:latin typeface="DM Sans"/>
              </a:rPr>
              <a:t>nt payload and fetch QR  by API</a:t>
            </a:r>
            <a:endParaRPr lang="en-US" sz="1400"/>
          </a:p>
        </p:txBody>
      </p:sp>
      <p:sp>
        <p:nvSpPr>
          <p:cNvPr id="14" name="Shape 12"/>
          <p:cNvSpPr/>
          <p:nvPr/>
        </p:nvSpPr>
        <p:spPr>
          <a:xfrm>
            <a:off x="812800" y="3173611"/>
            <a:ext cx="5207000" cy="1217861"/>
          </a:xfrm>
          <a:prstGeom prst="roundRect">
            <a:avLst>
              <a:gd name="adj" fmla="val 8342"/>
            </a:avLst>
          </a:prstGeom>
          <a:solidFill>
            <a:srgbClr val="FFFFFF"/>
          </a:solidFill>
        </p:spPr>
      </p:sp>
      <p:sp>
        <p:nvSpPr>
          <p:cNvPr id="15" name="Shape 13"/>
          <p:cNvSpPr/>
          <p:nvPr/>
        </p:nvSpPr>
        <p:spPr>
          <a:xfrm>
            <a:off x="812800" y="3173611"/>
            <a:ext cx="5207000" cy="1217861"/>
          </a:xfrm>
          <a:custGeom>
            <a:avLst/>
            <a:gdLst/>
            <a:ahLst/>
            <a:cxnLst/>
            <a:rect l="l" t="t" r="r" b="b"/>
            <a:pathLst>
              <a:path w="5207000" h="1217861">
                <a:moveTo>
                  <a:pt x="101600" y="1217861"/>
                </a:moveTo>
                <a:lnTo>
                  <a:pt x="101600" y="1217861"/>
                </a:lnTo>
                <a:arcTo wR="101600" hR="101600" stAng="5400000" swAng="5400000"/>
                <a:lnTo>
                  <a:pt x="0" y="101600"/>
                </a:lnTo>
                <a:arcTo wR="101600" hR="101600" stAng="10800000" swAng="5400000"/>
                <a:lnTo>
                  <a:pt x="101600" y="0"/>
                </a:lnTo>
                <a:arcTo wR="50800" hR="101600" stAng="16200000" swAng="-5400000"/>
                <a:lnTo>
                  <a:pt x="50800" y="1116261"/>
                </a:lnTo>
                <a:arcTo wR="50800" hR="101600" stAng="10800000" swAng="-5400000"/>
                <a:close/>
              </a:path>
            </a:pathLst>
          </a:custGeom>
          <a:solidFill>
            <a:srgbClr val="E8772E"/>
          </a:solidFill>
        </p:spPr>
      </p:sp>
      <p:sp>
        <p:nvSpPr>
          <p:cNvPr id="16" name="Text 14"/>
          <p:cNvSpPr/>
          <p:nvPr/>
        </p:nvSpPr>
        <p:spPr>
          <a:xfrm>
            <a:off x="1066800" y="3376811"/>
            <a:ext cx="4892294" cy="238720"/>
          </a:xfrm>
          <a:prstGeom prst="rect">
            <a:avLst/>
          </a:prstGeom>
          <a:noFill/>
        </p:spPr>
        <p:txBody>
          <a:bodyPr wrap="square" lIns="0" tIns="0" rIns="0" bIns="0" rtlCol="0" anchor="t">
            <a:normAutofit/>
          </a:bodyPr>
          <a:lstStyle/>
          <a:p>
            <a:pPr marL="0" indent="0" algn="l">
              <a:lnSpc>
                <a:spcPts val="1680"/>
              </a:lnSpc>
              <a:buNone/>
            </a:pPr>
            <a:r>
              <a:rPr lang="en-US" sz="1200" b="1" kern="0" spc="100">
                <a:solidFill>
                  <a:srgbClr val="B4490F"/>
                </a:solidFill>
                <a:latin typeface="DM Sans" pitchFamily="34" charset="0"/>
                <a:ea typeface="DM Sans" pitchFamily="34" charset="-122"/>
                <a:cs typeface="DM Sans" pitchFamily="34" charset="-120"/>
              </a:rPr>
              <a:t>MODULE 3</a:t>
            </a:r>
            <a:endParaRPr lang="en-US" sz="1200"/>
          </a:p>
        </p:txBody>
      </p:sp>
      <p:sp>
        <p:nvSpPr>
          <p:cNvPr id="17" name="Text 15"/>
          <p:cNvSpPr/>
          <p:nvPr/>
        </p:nvSpPr>
        <p:spPr>
          <a:xfrm>
            <a:off x="1066800" y="3640931"/>
            <a:ext cx="4892294" cy="273050"/>
          </a:xfrm>
          <a:prstGeom prst="rect">
            <a:avLst/>
          </a:prstGeom>
          <a:noFill/>
        </p:spPr>
        <p:txBody>
          <a:bodyPr wrap="square" lIns="0" tIns="0" rIns="0" bIns="0" rtlCol="0" anchor="t">
            <a:normAutofit/>
          </a:bodyPr>
          <a:lstStyle/>
          <a:p>
            <a:pPr>
              <a:lnSpc>
                <a:spcPts val="1950"/>
              </a:lnSpc>
            </a:pPr>
            <a:r>
              <a:rPr lang="en-US" sz="1500" b="1">
                <a:solidFill>
                  <a:srgbClr val="14213D"/>
                </a:solidFill>
                <a:latin typeface="DM Sans"/>
              </a:rPr>
              <a:t>[COUNTDOWN TIMER]</a:t>
            </a:r>
            <a:endParaRPr lang="en-US" sz="1500">
              <a:latin typeface="DM Sans"/>
            </a:endParaRPr>
          </a:p>
        </p:txBody>
      </p:sp>
      <p:sp>
        <p:nvSpPr>
          <p:cNvPr id="18" name="Text 16"/>
          <p:cNvSpPr/>
          <p:nvPr/>
        </p:nvSpPr>
        <p:spPr>
          <a:xfrm>
            <a:off x="1066800" y="3939381"/>
            <a:ext cx="4892294" cy="274290"/>
          </a:xfrm>
          <a:prstGeom prst="rect">
            <a:avLst/>
          </a:prstGeom>
          <a:noFill/>
        </p:spPr>
        <p:txBody>
          <a:bodyPr wrap="square" lIns="0" tIns="0" rIns="0" bIns="0" rtlCol="0" anchor="t">
            <a:normAutofit/>
          </a:bodyPr>
          <a:lstStyle/>
          <a:p>
            <a:pPr>
              <a:lnSpc>
                <a:spcPts val="1960"/>
              </a:lnSpc>
            </a:pPr>
            <a:r>
              <a:rPr lang="en-US" sz="1400">
                <a:solidFill>
                  <a:srgbClr val="4A5568"/>
                </a:solidFill>
                <a:latin typeface="DM Sans"/>
              </a:rPr>
              <a:t>[RUNS COUNTDOWN TIMER TO SAVE TIME]</a:t>
            </a:r>
            <a:endParaRPr lang="en-US" sz="1400"/>
          </a:p>
        </p:txBody>
      </p:sp>
      <p:sp>
        <p:nvSpPr>
          <p:cNvPr id="19" name="Shape 17"/>
          <p:cNvSpPr/>
          <p:nvPr/>
        </p:nvSpPr>
        <p:spPr>
          <a:xfrm>
            <a:off x="6172200" y="3173611"/>
            <a:ext cx="5207000" cy="1217861"/>
          </a:xfrm>
          <a:prstGeom prst="roundRect">
            <a:avLst>
              <a:gd name="adj" fmla="val 8342"/>
            </a:avLst>
          </a:prstGeom>
          <a:solidFill>
            <a:srgbClr val="FFFFFF"/>
          </a:solidFill>
        </p:spPr>
      </p:sp>
      <p:sp>
        <p:nvSpPr>
          <p:cNvPr id="20" name="Shape 18"/>
          <p:cNvSpPr/>
          <p:nvPr/>
        </p:nvSpPr>
        <p:spPr>
          <a:xfrm>
            <a:off x="6172200" y="3173611"/>
            <a:ext cx="5207000" cy="1217861"/>
          </a:xfrm>
          <a:custGeom>
            <a:avLst/>
            <a:gdLst/>
            <a:ahLst/>
            <a:cxnLst/>
            <a:rect l="l" t="t" r="r" b="b"/>
            <a:pathLst>
              <a:path w="5207000" h="1217861">
                <a:moveTo>
                  <a:pt x="101600" y="1217861"/>
                </a:moveTo>
                <a:lnTo>
                  <a:pt x="101600" y="1217861"/>
                </a:lnTo>
                <a:arcTo wR="101600" hR="101600" stAng="5400000" swAng="5400000"/>
                <a:lnTo>
                  <a:pt x="0" y="101600"/>
                </a:lnTo>
                <a:arcTo wR="101600" hR="101600" stAng="10800000" swAng="5400000"/>
                <a:lnTo>
                  <a:pt x="101600" y="0"/>
                </a:lnTo>
                <a:arcTo wR="50800" hR="101600" stAng="16200000" swAng="-5400000"/>
                <a:lnTo>
                  <a:pt x="50800" y="1116261"/>
                </a:lnTo>
                <a:arcTo wR="50800" hR="101600" stAng="10800000" swAng="-5400000"/>
                <a:close/>
              </a:path>
            </a:pathLst>
          </a:custGeom>
          <a:solidFill>
            <a:srgbClr val="E8772E"/>
          </a:solidFill>
        </p:spPr>
      </p:sp>
      <p:sp>
        <p:nvSpPr>
          <p:cNvPr id="21" name="Text 19"/>
          <p:cNvSpPr/>
          <p:nvPr/>
        </p:nvSpPr>
        <p:spPr>
          <a:xfrm>
            <a:off x="6426200" y="3376811"/>
            <a:ext cx="4892294" cy="238720"/>
          </a:xfrm>
          <a:prstGeom prst="rect">
            <a:avLst/>
          </a:prstGeom>
          <a:noFill/>
        </p:spPr>
        <p:txBody>
          <a:bodyPr wrap="square" lIns="0" tIns="0" rIns="0" bIns="0" rtlCol="0" anchor="t">
            <a:normAutofit/>
          </a:bodyPr>
          <a:lstStyle/>
          <a:p>
            <a:pPr marL="0" indent="0" algn="l">
              <a:lnSpc>
                <a:spcPts val="1680"/>
              </a:lnSpc>
              <a:buNone/>
            </a:pPr>
            <a:r>
              <a:rPr lang="en-US" sz="1200" b="1" kern="0" spc="100">
                <a:solidFill>
                  <a:srgbClr val="B4490F"/>
                </a:solidFill>
                <a:latin typeface="DM Sans" pitchFamily="34" charset="0"/>
                <a:ea typeface="DM Sans" pitchFamily="34" charset="-122"/>
                <a:cs typeface="DM Sans" pitchFamily="34" charset="-120"/>
              </a:rPr>
              <a:t>MODULE 4</a:t>
            </a:r>
            <a:endParaRPr lang="en-US" sz="1200"/>
          </a:p>
        </p:txBody>
      </p:sp>
      <p:sp>
        <p:nvSpPr>
          <p:cNvPr id="22" name="Text 20"/>
          <p:cNvSpPr/>
          <p:nvPr/>
        </p:nvSpPr>
        <p:spPr>
          <a:xfrm>
            <a:off x="6426200" y="3640931"/>
            <a:ext cx="4892294" cy="273050"/>
          </a:xfrm>
          <a:prstGeom prst="rect">
            <a:avLst/>
          </a:prstGeom>
          <a:noFill/>
        </p:spPr>
        <p:txBody>
          <a:bodyPr wrap="square" lIns="0" tIns="0" rIns="0" bIns="0" rtlCol="0" anchor="t">
            <a:normAutofit/>
          </a:bodyPr>
          <a:lstStyle/>
          <a:p>
            <a:pPr>
              <a:lnSpc>
                <a:spcPts val="1950"/>
              </a:lnSpc>
            </a:pPr>
            <a:r>
              <a:rPr lang="en-US" sz="1500" b="1">
                <a:solidFill>
                  <a:srgbClr val="14213D"/>
                </a:solidFill>
                <a:latin typeface="DM Sans"/>
              </a:rPr>
              <a:t>[PAYMENT VERIFICATION]</a:t>
            </a:r>
            <a:endParaRPr lang="en-US" sz="1500">
              <a:latin typeface="DM Sans"/>
            </a:endParaRPr>
          </a:p>
        </p:txBody>
      </p:sp>
      <p:sp>
        <p:nvSpPr>
          <p:cNvPr id="23" name="Text 21"/>
          <p:cNvSpPr/>
          <p:nvPr/>
        </p:nvSpPr>
        <p:spPr>
          <a:xfrm>
            <a:off x="6426200" y="3939381"/>
            <a:ext cx="4892294" cy="274290"/>
          </a:xfrm>
          <a:prstGeom prst="rect">
            <a:avLst/>
          </a:prstGeom>
          <a:noFill/>
        </p:spPr>
        <p:txBody>
          <a:bodyPr wrap="square" lIns="0" tIns="0" rIns="0" bIns="0" rtlCol="0" anchor="t">
            <a:normAutofit/>
          </a:bodyPr>
          <a:lstStyle/>
          <a:p>
            <a:pPr>
              <a:lnSpc>
                <a:spcPts val="1960"/>
              </a:lnSpc>
            </a:pPr>
            <a:r>
              <a:rPr lang="en-US" sz="1400">
                <a:solidFill>
                  <a:srgbClr val="4A5568"/>
                </a:solidFill>
                <a:latin typeface="DM Sans"/>
              </a:rPr>
              <a:t>[SHOW "PAYMENT SUCCESSFUL"CONFIRMATION]</a:t>
            </a:r>
            <a:endParaRPr lang="en-US" sz="1400"/>
          </a:p>
        </p:txBody>
      </p:sp>
      <p:sp>
        <p:nvSpPr>
          <p:cNvPr id="24" name="Text 22"/>
          <p:cNvSpPr/>
          <p:nvPr/>
        </p:nvSpPr>
        <p:spPr>
          <a:xfrm>
            <a:off x="812800" y="6238280"/>
            <a:ext cx="7848600" cy="238720"/>
          </a:xfrm>
          <a:prstGeom prst="rect">
            <a:avLst/>
          </a:prstGeom>
          <a:noFill/>
        </p:spPr>
        <p:txBody>
          <a:bodyPr wrap="square" lIns="0" tIns="0" rIns="0" bIns="0" rtlCol="0" anchor="t">
            <a:normAutofit/>
          </a:bodyPr>
          <a:lstStyle/>
          <a:p>
            <a:pPr marL="0" indent="0" algn="l">
              <a:lnSpc>
                <a:spcPts val="1680"/>
              </a:lnSpc>
              <a:buNone/>
            </a:pPr>
            <a:r>
              <a:rPr lang="en-US" sz="1200">
                <a:solidFill>
                  <a:srgbClr val="4A5568"/>
                </a:solidFill>
                <a:latin typeface="DM Sans"/>
                <a:ea typeface="DM Sans" pitchFamily="34" charset="-122"/>
                <a:cs typeface="DM Sans" pitchFamily="34" charset="-120"/>
              </a:rPr>
              <a:t>10 · [FARZIII-PAY</a:t>
            </a:r>
            <a:endParaRPr lang="en-US" sz="1200">
              <a:latin typeface="DM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22446" y="417332"/>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a:solidFill>
                  <a:srgbClr val="B4490F"/>
                </a:solidFill>
                <a:latin typeface="DM Sans" pitchFamily="34" charset="0"/>
                <a:ea typeface="DM Sans" pitchFamily="34" charset="-122"/>
                <a:cs typeface="DM Sans" pitchFamily="34" charset="-120"/>
              </a:rPr>
              <a:t>PART 3 · DESIGN</a:t>
            </a:r>
            <a:endParaRPr lang="en-US" sz="1200"/>
          </a:p>
        </p:txBody>
      </p:sp>
      <p:sp>
        <p:nvSpPr>
          <p:cNvPr id="3" name="Text 1"/>
          <p:cNvSpPr>
            <a:spLocks noGrp="1"/>
          </p:cNvSpPr>
          <p:nvPr>
            <p:ph type="title"/>
          </p:nvPr>
        </p:nvSpPr>
        <p:spPr>
          <a:xfrm>
            <a:off x="812800" y="812953"/>
            <a:ext cx="10883392" cy="472430"/>
          </a:xfrm>
          <a:prstGeom prst="rect">
            <a:avLst/>
          </a:prstGeom>
          <a:noFill/>
        </p:spPr>
        <p:txBody>
          <a:bodyPr wrap="square" lIns="0" tIns="0" rIns="0" bIns="0" rtlCol="0" anchor="t">
            <a:normAutofit/>
          </a:bodyPr>
          <a:lstStyle/>
          <a:p>
            <a:pPr marL="0" indent="0" algn="l">
              <a:lnSpc>
                <a:spcPts val="3520"/>
              </a:lnSpc>
              <a:buNone/>
            </a:pPr>
            <a:r>
              <a:rPr lang="en-US" sz="3200" b="1" i="0">
                <a:solidFill>
                  <a:srgbClr val="14213D"/>
                </a:solidFill>
                <a:latin typeface="DM Sans" pitchFamily="34" charset="0"/>
                <a:ea typeface="DM Sans" pitchFamily="34" charset="-122"/>
                <a:cs typeface="DM Sans" pitchFamily="34" charset="-120"/>
              </a:rPr>
              <a:t>Flowchart &amp; UML Diagrams</a:t>
            </a:r>
            <a:endParaRPr lang="en-US" sz="3200"/>
          </a:p>
        </p:txBody>
      </p:sp>
      <p:sp>
        <p:nvSpPr>
          <p:cNvPr id="4" name="Shape 2"/>
          <p:cNvSpPr/>
          <p:nvPr/>
        </p:nvSpPr>
        <p:spPr>
          <a:xfrm>
            <a:off x="822325" y="1812875"/>
            <a:ext cx="6104880" cy="3282950"/>
          </a:xfrm>
          <a:prstGeom prst="roundRect">
            <a:avLst>
              <a:gd name="adj" fmla="val 2805"/>
            </a:avLst>
          </a:prstGeom>
          <a:solidFill>
            <a:srgbClr val="ECE8DB"/>
          </a:solidFill>
          <a:ln w="19050">
            <a:solidFill>
              <a:srgbClr val="B4490F"/>
            </a:solidFill>
            <a:prstDash val="dash"/>
          </a:ln>
        </p:spPr>
      </p:sp>
      <p:pic>
        <p:nvPicPr>
          <p:cNvPr id="5" name="Image 0" descr="A diagram of a system&#10;&#10;AI-generated content may be incorrect."/>
          <p:cNvPicPr>
            <a:picLocks noChangeAspect="1"/>
          </p:cNvPicPr>
          <p:nvPr/>
        </p:nvPicPr>
        <p:blipFill>
          <a:blip r:embed="rId1"/>
          <a:srcRect/>
          <a:stretch>
            <a:fillRect/>
          </a:stretch>
        </p:blipFill>
        <p:spPr>
          <a:xfrm>
            <a:off x="810344" y="1441554"/>
            <a:ext cx="6331348" cy="4599740"/>
          </a:xfrm>
          <a:prstGeom prst="rect">
            <a:avLst/>
          </a:prstGeom>
        </p:spPr>
      </p:pic>
      <p:sp>
        <p:nvSpPr>
          <p:cNvPr id="6" name="Text 3"/>
          <p:cNvSpPr/>
          <p:nvPr/>
        </p:nvSpPr>
        <p:spPr>
          <a:xfrm>
            <a:off x="1925032" y="3406080"/>
            <a:ext cx="3899416" cy="330200"/>
          </a:xfrm>
          <a:prstGeom prst="rect">
            <a:avLst/>
          </a:prstGeom>
          <a:noFill/>
        </p:spPr>
        <p:txBody>
          <a:bodyPr wrap="square" lIns="0" tIns="0" rIns="0" bIns="0" rtlCol="0" anchor="t">
            <a:normAutofit/>
          </a:bodyPr>
          <a:lstStyle/>
          <a:p>
            <a:pPr marL="0" indent="0" algn="ctr">
              <a:lnSpc>
                <a:spcPts val="2400"/>
              </a:lnSpc>
              <a:buNone/>
            </a:pPr>
            <a:endParaRPr lang="en-US" sz="2000" b="1" dirty="0"/>
          </a:p>
        </p:txBody>
      </p:sp>
      <p:sp>
        <p:nvSpPr>
          <p:cNvPr id="7" name="Text 4"/>
          <p:cNvSpPr/>
          <p:nvPr/>
        </p:nvSpPr>
        <p:spPr>
          <a:xfrm>
            <a:off x="1432828" y="3812480"/>
            <a:ext cx="4883825" cy="274290"/>
          </a:xfrm>
          <a:prstGeom prst="rect">
            <a:avLst/>
          </a:prstGeom>
          <a:noFill/>
        </p:spPr>
        <p:txBody>
          <a:bodyPr wrap="square" lIns="0" tIns="0" rIns="0" bIns="0" rtlCol="0" anchor="t">
            <a:normAutofit/>
          </a:bodyPr>
          <a:lstStyle/>
          <a:p>
            <a:pPr marL="0" indent="0" algn="ctr">
              <a:lnSpc>
                <a:spcPts val="1960"/>
              </a:lnSpc>
              <a:buNone/>
            </a:pPr>
            <a:endParaRPr lang="en-US" sz="1400" dirty="0">
              <a:solidFill>
                <a:srgbClr val="4A5568"/>
              </a:solidFill>
            </a:endParaRPr>
          </a:p>
        </p:txBody>
      </p:sp>
      <p:sp>
        <p:nvSpPr>
          <p:cNvPr id="8" name="Shape 5"/>
          <p:cNvSpPr/>
          <p:nvPr/>
        </p:nvSpPr>
        <p:spPr>
          <a:xfrm>
            <a:off x="7413180" y="1806525"/>
            <a:ext cx="3962845" cy="3286005"/>
          </a:xfrm>
          <a:prstGeom prst="roundRect">
            <a:avLst>
              <a:gd name="adj" fmla="val 2987"/>
            </a:avLst>
          </a:prstGeom>
          <a:solidFill>
            <a:srgbClr val="FFFFFF"/>
          </a:solidFill>
          <a:ln w="6350">
            <a:solidFill>
              <a:srgbClr val="DDD8CC"/>
            </a:solidFill>
            <a:prstDash val="solid"/>
          </a:ln>
        </p:spPr>
      </p:sp>
      <p:sp>
        <p:nvSpPr>
          <p:cNvPr id="9" name="Text 6"/>
          <p:cNvSpPr/>
          <p:nvPr/>
        </p:nvSpPr>
        <p:spPr>
          <a:xfrm>
            <a:off x="7535318" y="2140865"/>
            <a:ext cx="3830127" cy="238720"/>
          </a:xfrm>
          <a:prstGeom prst="rect">
            <a:avLst/>
          </a:prstGeom>
          <a:noFill/>
        </p:spPr>
        <p:txBody>
          <a:bodyPr wrap="square" lIns="0" tIns="0" rIns="0" bIns="0" rtlCol="0" anchor="t">
            <a:normAutofit/>
          </a:bodyPr>
          <a:lstStyle/>
          <a:p>
            <a:pPr marL="0" indent="0" algn="l">
              <a:lnSpc>
                <a:spcPts val="1680"/>
              </a:lnSpc>
              <a:buNone/>
            </a:pPr>
            <a:r>
              <a:rPr lang="en-US" sz="1200" b="1" kern="0" spc="100">
                <a:solidFill>
                  <a:srgbClr val="B4490F"/>
                </a:solidFill>
                <a:latin typeface="DM Sans" pitchFamily="34" charset="0"/>
                <a:ea typeface="DM Sans" pitchFamily="34" charset="-122"/>
                <a:cs typeface="DM Sans" pitchFamily="34" charset="-120"/>
              </a:rPr>
              <a:t>PICK WHAT FITS</a:t>
            </a:r>
            <a:endParaRPr lang="en-US" sz="1200"/>
          </a:p>
        </p:txBody>
      </p:sp>
      <p:sp>
        <p:nvSpPr>
          <p:cNvPr id="10" name="Text 7"/>
          <p:cNvSpPr/>
          <p:nvPr/>
        </p:nvSpPr>
        <p:spPr>
          <a:xfrm>
            <a:off x="7523444" y="2581178"/>
            <a:ext cx="3737925" cy="1163241"/>
          </a:xfrm>
          <a:prstGeom prst="rect">
            <a:avLst/>
          </a:prstGeom>
          <a:noFill/>
        </p:spPr>
        <p:txBody>
          <a:bodyPr wrap="square" lIns="0" tIns="0" rIns="0" bIns="0" rtlCol="0" anchor="t">
            <a:normAutofit fontScale="92500"/>
          </a:bodyPr>
          <a:lstStyle/>
          <a:p>
            <a:pPr marL="168910" indent="-168910">
              <a:lnSpc>
                <a:spcPts val="2240"/>
              </a:lnSpc>
              <a:buSzPct val="100000"/>
              <a:buChar char="•"/>
            </a:pPr>
            <a:r>
              <a:rPr lang="en-US" sz="1400" dirty="0">
                <a:solidFill>
                  <a:srgbClr val="14213D"/>
                </a:solidFill>
                <a:latin typeface="DM Sans"/>
                <a:ea typeface="DM Sans" pitchFamily="34" charset="-122"/>
                <a:cs typeface="DM Sans" pitchFamily="34" charset="-120"/>
              </a:rPr>
              <a:t>Flowchart – Start App-&gt;Enter payee name-&gt;UPI </a:t>
            </a:r>
            <a:r>
              <a:rPr lang="en-US" sz="1400" err="1">
                <a:solidFill>
                  <a:srgbClr val="14213D"/>
                </a:solidFill>
                <a:latin typeface="DM Sans"/>
                <a:ea typeface="DM Sans" pitchFamily="34" charset="-122"/>
                <a:cs typeface="DM Sans" pitchFamily="34" charset="-120"/>
              </a:rPr>
              <a:t>id&amp;amount</a:t>
            </a:r>
            <a:r>
              <a:rPr lang="en-US" sz="1400" dirty="0">
                <a:solidFill>
                  <a:srgbClr val="14213D"/>
                </a:solidFill>
                <a:latin typeface="DM Sans"/>
                <a:ea typeface="DM Sans" pitchFamily="34" charset="-122"/>
                <a:cs typeface="DM Sans" pitchFamily="34" charset="-120"/>
              </a:rPr>
              <a:t>-&gt;</a:t>
            </a:r>
            <a:r>
              <a:rPr lang="en-US" sz="1400" err="1">
                <a:solidFill>
                  <a:srgbClr val="14213D"/>
                </a:solidFill>
                <a:latin typeface="DM Sans"/>
                <a:ea typeface="DM Sans" pitchFamily="34" charset="-122"/>
                <a:cs typeface="DM Sans" pitchFamily="34" charset="-120"/>
              </a:rPr>
              <a:t>documentFilter</a:t>
            </a:r>
            <a:r>
              <a:rPr lang="en-US" sz="1400" dirty="0">
                <a:solidFill>
                  <a:srgbClr val="14213D"/>
                </a:solidFill>
                <a:latin typeface="DM Sans"/>
                <a:ea typeface="DM Sans" pitchFamily="34" charset="-122"/>
                <a:cs typeface="DM Sans" pitchFamily="34" charset="-120"/>
              </a:rPr>
              <a:t> valida</a:t>
            </a:r>
            <a:r>
              <a:rPr lang="en-US" sz="1400">
                <a:solidFill>
                  <a:srgbClr val="14213D"/>
                </a:solidFill>
                <a:latin typeface="DM Sans"/>
                <a:ea typeface="DM Sans" pitchFamily="34" charset="-122"/>
                <a:cs typeface="DM Sans" pitchFamily="34" charset="-120"/>
              </a:rPr>
              <a:t>tion-&gt;Generate QR Code-&gt;Start 60s timer-&gt;Confirm payment-&gt;Export Receipt-&gt;End</a:t>
            </a:r>
            <a:endParaRPr lang="en-US" sz="1400">
              <a:latin typeface="DM Sans"/>
            </a:endParaRPr>
          </a:p>
        </p:txBody>
      </p:sp>
      <p:sp>
        <p:nvSpPr>
          <p:cNvPr id="11" name="Text 8"/>
          <p:cNvSpPr/>
          <p:nvPr/>
        </p:nvSpPr>
        <p:spPr>
          <a:xfrm>
            <a:off x="812800" y="6238280"/>
            <a:ext cx="7848600" cy="238720"/>
          </a:xfrm>
          <a:prstGeom prst="rect">
            <a:avLst/>
          </a:prstGeom>
          <a:noFill/>
        </p:spPr>
        <p:txBody>
          <a:bodyPr wrap="square" lIns="0" tIns="0" rIns="0" bIns="0" rtlCol="0" anchor="t">
            <a:normAutofit/>
          </a:bodyPr>
          <a:lstStyle/>
          <a:p>
            <a:pPr marL="0" indent="0" algn="l">
              <a:lnSpc>
                <a:spcPts val="1680"/>
              </a:lnSpc>
              <a:buNone/>
            </a:pPr>
            <a:r>
              <a:rPr lang="en-US" sz="1200">
                <a:solidFill>
                  <a:srgbClr val="4A5568"/>
                </a:solidFill>
                <a:latin typeface="DM Sans"/>
                <a:ea typeface="DM Sans" pitchFamily="34" charset="-122"/>
                <a:cs typeface="DM Sans" pitchFamily="34" charset="-120"/>
              </a:rPr>
              <a:t>11 · [FARZII-PAY</a:t>
            </a:r>
            <a:endParaRPr lang="en-US" sz="12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CE8D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a:solidFill>
                  <a:srgbClr val="B4490F"/>
                </a:solidFill>
                <a:latin typeface="DM Sans" pitchFamily="34" charset="0"/>
                <a:ea typeface="DM Sans" pitchFamily="34" charset="-122"/>
                <a:cs typeface="DM Sans" pitchFamily="34" charset="-120"/>
              </a:rPr>
              <a:t>PART 3 · DESIGN</a:t>
            </a:r>
            <a:endParaRPr lang="en-US" sz="1200"/>
          </a:p>
        </p:txBody>
      </p:sp>
      <p:sp>
        <p:nvSpPr>
          <p:cNvPr id="3" name="Text 1"/>
          <p:cNvSpPr>
            <a:spLocks noGrp="1"/>
          </p:cNvSpPr>
          <p:nvPr>
            <p:ph type="title"/>
          </p:nvPr>
        </p:nvSpPr>
        <p:spPr>
          <a:xfrm>
            <a:off x="812800" y="1102320"/>
            <a:ext cx="10883392" cy="472430"/>
          </a:xfrm>
          <a:prstGeom prst="rect">
            <a:avLst/>
          </a:prstGeom>
          <a:noFill/>
        </p:spPr>
        <p:txBody>
          <a:bodyPr wrap="square" lIns="0" tIns="0" rIns="0" bIns="0" rtlCol="0" anchor="t">
            <a:normAutofit/>
          </a:bodyPr>
          <a:lstStyle/>
          <a:p>
            <a:pPr marL="0" indent="0" algn="l">
              <a:lnSpc>
                <a:spcPts val="3520"/>
              </a:lnSpc>
              <a:buNone/>
            </a:pPr>
            <a:r>
              <a:rPr lang="en-US" sz="3200" b="1" i="0">
                <a:solidFill>
                  <a:srgbClr val="14213D"/>
                </a:solidFill>
                <a:latin typeface="DM Sans" pitchFamily="34" charset="0"/>
                <a:ea typeface="DM Sans" pitchFamily="34" charset="-122"/>
                <a:cs typeface="DM Sans" pitchFamily="34" charset="-120"/>
              </a:rPr>
              <a:t>Database Design</a:t>
            </a:r>
            <a:endParaRPr lang="en-US" sz="3200"/>
          </a:p>
        </p:txBody>
      </p:sp>
      <p:sp>
        <p:nvSpPr>
          <p:cNvPr id="4" name="Shape 2"/>
          <p:cNvSpPr/>
          <p:nvPr/>
        </p:nvSpPr>
        <p:spPr>
          <a:xfrm>
            <a:off x="815975" y="1806525"/>
            <a:ext cx="6115050" cy="2787303"/>
          </a:xfrm>
          <a:prstGeom prst="roundRect">
            <a:avLst>
              <a:gd name="adj" fmla="val 3531"/>
            </a:avLst>
          </a:prstGeom>
          <a:solidFill>
            <a:srgbClr val="FFFFFF"/>
          </a:solidFill>
          <a:ln w="6350">
            <a:solidFill>
              <a:srgbClr val="DDD8CC"/>
            </a:solidFill>
            <a:prstDash val="solid"/>
          </a:ln>
        </p:spPr>
      </p:sp>
      <p:sp>
        <p:nvSpPr>
          <p:cNvPr id="5" name="Text 3"/>
          <p:cNvSpPr/>
          <p:nvPr/>
        </p:nvSpPr>
        <p:spPr>
          <a:xfrm>
            <a:off x="1073150" y="2063700"/>
            <a:ext cx="5768721" cy="254000"/>
          </a:xfrm>
          <a:prstGeom prst="rect">
            <a:avLst/>
          </a:prstGeom>
          <a:noFill/>
        </p:spPr>
        <p:txBody>
          <a:bodyPr wrap="square" lIns="0" tIns="0" rIns="0" bIns="0" rtlCol="0" anchor="t">
            <a:normAutofit/>
          </a:bodyPr>
          <a:lstStyle/>
          <a:p>
            <a:pPr marL="0" indent="0" algn="l">
              <a:lnSpc>
                <a:spcPts val="1800"/>
              </a:lnSpc>
              <a:buNone/>
            </a:pPr>
            <a:r>
              <a:rPr lang="en-US" sz="1500" b="1">
                <a:solidFill>
                  <a:srgbClr val="14213D"/>
                </a:solidFill>
                <a:latin typeface="DM Sans"/>
                <a:ea typeface="DM Sans" pitchFamily="34" charset="-122"/>
                <a:cs typeface="DM Sans" pitchFamily="34" charset="-120"/>
              </a:rPr>
              <a:t>Table:[PAYMENT_TRANSACTION]</a:t>
            </a:r>
            <a:endParaRPr lang="en-US" sz="1500">
              <a:latin typeface="DM Sans"/>
            </a:endParaRPr>
          </a:p>
        </p:txBody>
      </p:sp>
      <p:graphicFrame>
        <p:nvGraphicFramePr>
          <p:cNvPr id="6" name="Table 0"/>
          <p:cNvGraphicFramePr>
            <a:graphicFrameLocks noGrp="1"/>
          </p:cNvGraphicFramePr>
          <p:nvPr/>
        </p:nvGraphicFramePr>
        <p:xfrm>
          <a:off x="1085850" y="2406600"/>
          <a:ext cx="5588000" cy="1930055"/>
        </p:xfrm>
        <a:graphic>
          <a:graphicData uri="http://schemas.openxmlformats.org/drawingml/2006/table">
            <a:tbl>
              <a:tblPr/>
              <a:tblGrid>
                <a:gridCol w="2235200"/>
                <a:gridCol w="1955800"/>
                <a:gridCol w="1397000"/>
              </a:tblGrid>
              <a:tr h="386011">
                <a:tc>
                  <a:txBody>
                    <a:bodyPr/>
                    <a:lstStyle/>
                    <a:p>
                      <a:pPr marL="0" indent="0">
                        <a:lnSpc>
                          <a:spcPts val="1960"/>
                        </a:lnSpc>
                        <a:buNone/>
                      </a:pPr>
                      <a:r>
                        <a:rPr lang="en-US" sz="1400" b="1">
                          <a:solidFill>
                            <a:srgbClr val="14213D"/>
                          </a:solidFill>
                          <a:latin typeface="DM Sans" pitchFamily="34" charset="0"/>
                          <a:ea typeface="DM Sans" pitchFamily="34" charset="-122"/>
                          <a:cs typeface="DM Sans" pitchFamily="34" charset="-120"/>
                        </a:rPr>
                        <a:t>Field</a:t>
                      </a:r>
                      <a:endParaRPr lang="en-US" sz="1400">
                        <a:latin typeface="DM Sans" pitchFamily="34" charset="0"/>
                        <a:ea typeface="DM Sans" pitchFamily="34" charset="0"/>
                        <a:cs typeface="DM Sans" pitchFamily="34"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960"/>
                        </a:lnSpc>
                        <a:buNone/>
                      </a:pPr>
                      <a:r>
                        <a:rPr lang="en-US" sz="1400" b="1">
                          <a:solidFill>
                            <a:srgbClr val="14213D"/>
                          </a:solidFill>
                          <a:latin typeface="DM Sans" pitchFamily="34" charset="0"/>
                          <a:ea typeface="DM Sans" pitchFamily="34" charset="-122"/>
                          <a:cs typeface="DM Sans" pitchFamily="34" charset="-120"/>
                        </a:rPr>
                        <a:t>Type</a:t>
                      </a:r>
                      <a:endParaRPr lang="en-US" sz="1400">
                        <a:latin typeface="DM Sans" pitchFamily="34" charset="0"/>
                        <a:ea typeface="DM Sans" pitchFamily="34" charset="0"/>
                        <a:cs typeface="DM Sans" pitchFamily="34" charset="0"/>
                      </a:endParaRPr>
                    </a:p>
                  </a:txBody>
                  <a:tcPr marL="62230" marR="62230" marT="62230" marB="6223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960"/>
                        </a:lnSpc>
                        <a:buNone/>
                      </a:pPr>
                      <a:r>
                        <a:rPr lang="en-US" sz="1400" b="1">
                          <a:solidFill>
                            <a:srgbClr val="14213D"/>
                          </a:solidFill>
                          <a:latin typeface="DM Sans" pitchFamily="34" charset="0"/>
                          <a:ea typeface="DM Sans" pitchFamily="34" charset="-122"/>
                          <a:cs typeface="DM Sans" pitchFamily="34" charset="-120"/>
                        </a:rPr>
                        <a:t>Key</a:t>
                      </a:r>
                      <a:endParaRPr lang="en-US" sz="1400">
                        <a:latin typeface="DM Sans" pitchFamily="34" charset="0"/>
                        <a:ea typeface="DM Sans" pitchFamily="34" charset="0"/>
                        <a:cs typeface="DM Sans" pitchFamily="34" charset="0"/>
                      </a:endParaRPr>
                    </a:p>
                  </a:txBody>
                  <a:tcPr marL="62230" marR="62230" marT="62230" marB="6223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86011">
                <a:tc>
                  <a:txBody>
                    <a:bodyPr/>
                    <a:lstStyle/>
                    <a:p>
                      <a:pPr marL="0" indent="0">
                        <a:lnSpc>
                          <a:spcPts val="1960"/>
                        </a:lnSpc>
                        <a:buNone/>
                      </a:pPr>
                      <a:r>
                        <a:rPr lang="en-US" sz="1400" err="1">
                          <a:solidFill>
                            <a:srgbClr val="14213D"/>
                          </a:solidFill>
                          <a:latin typeface="DM Sans"/>
                          <a:ea typeface="DM Sans" pitchFamily="34" charset="0"/>
                          <a:cs typeface="DM Sans" pitchFamily="34" charset="0"/>
                        </a:rPr>
                        <a:t>Transaction_id</a:t>
                      </a:r>
                      <a:endParaRPr lang="en-US" sz="1400" err="1">
                        <a:latin typeface="DM Sans"/>
                        <a:ea typeface="DM Sans" pitchFamily="34" charset="0"/>
                        <a:cs typeface="DM Sans" pitchFamily="34"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a:solidFill>
                            <a:srgbClr val="14213D"/>
                          </a:solidFill>
                          <a:latin typeface="DM Sans" pitchFamily="34" charset="0"/>
                          <a:ea typeface="DM Sans" pitchFamily="34" charset="-122"/>
                          <a:cs typeface="DM Sans" pitchFamily="34" charset="-120"/>
                        </a:rPr>
                        <a:t>INT</a:t>
                      </a:r>
                      <a:endParaRPr lang="en-US" sz="1400">
                        <a:latin typeface="DM Sans" pitchFamily="34" charset="0"/>
                        <a:ea typeface="DM Sans" pitchFamily="34" charset="0"/>
                        <a:cs typeface="DM Sans" pitchFamily="34"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a:solidFill>
                            <a:srgbClr val="14213D"/>
                          </a:solidFill>
                          <a:latin typeface="DM Sans" pitchFamily="34" charset="0"/>
                          <a:ea typeface="DM Sans" pitchFamily="34" charset="-122"/>
                          <a:cs typeface="DM Sans" pitchFamily="34" charset="-120"/>
                        </a:rPr>
                        <a:t>Primary</a:t>
                      </a:r>
                      <a:endParaRPr lang="en-US" sz="1400">
                        <a:latin typeface="DM Sans" pitchFamily="34" charset="0"/>
                        <a:ea typeface="DM Sans" pitchFamily="34" charset="0"/>
                        <a:cs typeface="DM Sans" pitchFamily="34"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6011">
                <a:tc>
                  <a:txBody>
                    <a:bodyPr/>
                    <a:lstStyle/>
                    <a:p>
                      <a:pPr marL="0" indent="0">
                        <a:lnSpc>
                          <a:spcPts val="1960"/>
                        </a:lnSpc>
                        <a:buNone/>
                      </a:pPr>
                      <a:r>
                        <a:rPr lang="en-US" sz="1400">
                          <a:solidFill>
                            <a:srgbClr val="14213D"/>
                          </a:solidFill>
                          <a:latin typeface="DM Sans"/>
                          <a:ea typeface="DM Sans" pitchFamily="34" charset="-122"/>
                          <a:cs typeface="DM Sans" pitchFamily="34" charset="-120"/>
                        </a:rPr>
                        <a:t>[</a:t>
                      </a:r>
                      <a:r>
                        <a:rPr lang="en-US" sz="1400" err="1">
                          <a:solidFill>
                            <a:srgbClr val="14213D"/>
                          </a:solidFill>
                          <a:latin typeface="DM Sans"/>
                          <a:ea typeface="DM Sans" pitchFamily="34" charset="-122"/>
                          <a:cs typeface="DM Sans" pitchFamily="34" charset="-120"/>
                        </a:rPr>
                        <a:t>bank_name</a:t>
                      </a:r>
                      <a:r>
                        <a:rPr lang="en-US" sz="1400">
                          <a:solidFill>
                            <a:srgbClr val="14213D"/>
                          </a:solidFill>
                          <a:latin typeface="DM Sans"/>
                          <a:ea typeface="DM Sans" pitchFamily="34" charset="-122"/>
                          <a:cs typeface="DM Sans" pitchFamily="34" charset="-120"/>
                        </a:rPr>
                        <a:t>]</a:t>
                      </a:r>
                      <a:endParaRPr lang="en-US" sz="1400">
                        <a:latin typeface="DM Sans"/>
                        <a:ea typeface="DM Sans" pitchFamily="34" charset="0"/>
                        <a:cs typeface="DM Sans" pitchFamily="34"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a:solidFill>
                            <a:srgbClr val="14213D"/>
                          </a:solidFill>
                          <a:latin typeface="DM Sans" pitchFamily="34" charset="0"/>
                          <a:ea typeface="DM Sans" pitchFamily="34" charset="-122"/>
                          <a:cs typeface="DM Sans" pitchFamily="34" charset="-120"/>
                        </a:rPr>
                        <a:t>VARCHAR(50)</a:t>
                      </a:r>
                      <a:endParaRPr lang="en-US" sz="1400">
                        <a:latin typeface="DM Sans" pitchFamily="34" charset="0"/>
                        <a:ea typeface="DM Sans" pitchFamily="34" charset="0"/>
                        <a:cs typeface="DM Sans" pitchFamily="34"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a:solidFill>
                            <a:srgbClr val="14213D"/>
                          </a:solidFill>
                          <a:latin typeface="DM Sans" pitchFamily="34" charset="0"/>
                          <a:ea typeface="DM Sans" pitchFamily="34" charset="-122"/>
                          <a:cs typeface="DM Sans" pitchFamily="34" charset="-120"/>
                        </a:rPr>
                        <a:t>–</a:t>
                      </a:r>
                      <a:endParaRPr lang="en-US" sz="1400">
                        <a:latin typeface="DM Sans" pitchFamily="34" charset="0"/>
                        <a:ea typeface="DM Sans" pitchFamily="34" charset="0"/>
                        <a:cs typeface="DM Sans" pitchFamily="34"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6011">
                <a:tc>
                  <a:txBody>
                    <a:bodyPr/>
                    <a:lstStyle/>
                    <a:p>
                      <a:pPr marL="0" indent="0">
                        <a:lnSpc>
                          <a:spcPts val="1960"/>
                        </a:lnSpc>
                        <a:buNone/>
                      </a:pPr>
                      <a:r>
                        <a:rPr lang="en-US" sz="1400">
                          <a:solidFill>
                            <a:srgbClr val="14213D"/>
                          </a:solidFill>
                          <a:latin typeface="DM Sans"/>
                          <a:ea typeface="DM Sans" pitchFamily="34" charset="-122"/>
                          <a:cs typeface="DM Sans" pitchFamily="34" charset="-120"/>
                        </a:rPr>
                        <a:t>[</a:t>
                      </a:r>
                      <a:r>
                        <a:rPr lang="en-US" sz="1400" err="1">
                          <a:solidFill>
                            <a:srgbClr val="14213D"/>
                          </a:solidFill>
                          <a:latin typeface="DM Sans"/>
                          <a:ea typeface="DM Sans" pitchFamily="34" charset="-122"/>
                          <a:cs typeface="DM Sans" pitchFamily="34" charset="-120"/>
                        </a:rPr>
                        <a:t>account_no</a:t>
                      </a:r>
                      <a:r>
                        <a:rPr lang="en-US" sz="1400">
                          <a:solidFill>
                            <a:srgbClr val="14213D"/>
                          </a:solidFill>
                          <a:latin typeface="DM Sans"/>
                          <a:ea typeface="DM Sans" pitchFamily="34" charset="-122"/>
                          <a:cs typeface="DM Sans" pitchFamily="34" charset="-120"/>
                        </a:rPr>
                        <a:t>]</a:t>
                      </a:r>
                      <a:endParaRPr lang="en-US" sz="1400">
                        <a:latin typeface="DM Sans"/>
                        <a:ea typeface="DM Sans" pitchFamily="34" charset="0"/>
                        <a:cs typeface="DM Sans" pitchFamily="34"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a:solidFill>
                            <a:srgbClr val="14213D"/>
                          </a:solidFill>
                          <a:latin typeface="DM Sans"/>
                          <a:ea typeface="DM Sans" pitchFamily="34" charset="0"/>
                          <a:cs typeface="DM Sans" pitchFamily="34" charset="0"/>
                        </a:rPr>
                        <a:t>VARCHAR(20)</a:t>
                      </a:r>
                      <a:endParaRPr lang="en-US" sz="1400">
                        <a:solidFill>
                          <a:srgbClr val="14213D"/>
                        </a:solidFill>
                        <a:latin typeface="DM Sans"/>
                        <a:ea typeface="DM Sans" pitchFamily="34" charset="0"/>
                        <a:cs typeface="DM Sans" pitchFamily="34"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a:solidFill>
                            <a:srgbClr val="14213D"/>
                          </a:solidFill>
                          <a:latin typeface="DM Sans"/>
                          <a:ea typeface="DM Sans" pitchFamily="34" charset="0"/>
                          <a:cs typeface="DM Sans" pitchFamily="34" charset="0"/>
                        </a:rPr>
                        <a:t>-</a:t>
                      </a:r>
                      <a:endParaRPr lang="en-US" sz="1400">
                        <a:solidFill>
                          <a:srgbClr val="14213D"/>
                        </a:solidFill>
                        <a:latin typeface="DM Sans"/>
                        <a:ea typeface="DM Sans" pitchFamily="34" charset="0"/>
                        <a:cs typeface="DM Sans" pitchFamily="34"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6011">
                <a:tc>
                  <a:txBody>
                    <a:bodyPr/>
                    <a:lstStyle/>
                    <a:p>
                      <a:pPr marL="0" indent="0">
                        <a:lnSpc>
                          <a:spcPts val="1960"/>
                        </a:lnSpc>
                        <a:buNone/>
                      </a:pPr>
                      <a:r>
                        <a:rPr lang="en-US" sz="1400">
                          <a:solidFill>
                            <a:srgbClr val="14213D"/>
                          </a:solidFill>
                          <a:latin typeface="DM Sans"/>
                          <a:ea typeface="DM Sans" pitchFamily="34" charset="0"/>
                          <a:cs typeface="DM Sans" pitchFamily="34" charset="0"/>
                        </a:rPr>
                        <a:t>[amount]</a:t>
                      </a:r>
                      <a:endParaRPr lang="en-US" sz="1400">
                        <a:latin typeface="DM Sans"/>
                        <a:ea typeface="DM Sans" pitchFamily="34" charset="0"/>
                        <a:cs typeface="DM Sans" pitchFamily="34"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a:solidFill>
                            <a:srgbClr val="14213D"/>
                          </a:solidFill>
                          <a:latin typeface="DM Sans"/>
                          <a:ea typeface="DM Sans" pitchFamily="34" charset="0"/>
                          <a:cs typeface="DM Sans" pitchFamily="34" charset="0"/>
                        </a:rPr>
                        <a:t>DECIMAL(10,2)</a:t>
                      </a:r>
                      <a:endParaRPr lang="en-US" sz="1400">
                        <a:latin typeface="DM Sans" pitchFamily="34" charset="0"/>
                        <a:ea typeface="DM Sans" pitchFamily="34" charset="0"/>
                        <a:cs typeface="DM Sans" pitchFamily="34"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a:solidFill>
                            <a:srgbClr val="14213D"/>
                          </a:solidFill>
                          <a:latin typeface="DM Sans" pitchFamily="34" charset="0"/>
                          <a:ea typeface="DM Sans" pitchFamily="34" charset="-122"/>
                          <a:cs typeface="DM Sans" pitchFamily="34" charset="-120"/>
                        </a:rPr>
                        <a:t>–</a:t>
                      </a:r>
                      <a:endParaRPr lang="en-US" sz="1400">
                        <a:latin typeface="DM Sans" pitchFamily="34" charset="0"/>
                        <a:ea typeface="DM Sans" pitchFamily="34" charset="0"/>
                        <a:cs typeface="DM Sans" pitchFamily="34"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Shape 4"/>
          <p:cNvSpPr/>
          <p:nvPr/>
        </p:nvSpPr>
        <p:spPr>
          <a:xfrm>
            <a:off x="7137400" y="1803350"/>
            <a:ext cx="4241800" cy="2793653"/>
          </a:xfrm>
          <a:prstGeom prst="roundRect">
            <a:avLst>
              <a:gd name="adj" fmla="val 3637"/>
            </a:avLst>
          </a:prstGeom>
          <a:solidFill>
            <a:srgbClr val="14213D"/>
          </a:solidFill>
        </p:spPr>
      </p:sp>
      <p:sp>
        <p:nvSpPr>
          <p:cNvPr id="8" name="Text 5"/>
          <p:cNvSpPr/>
          <p:nvPr/>
        </p:nvSpPr>
        <p:spPr>
          <a:xfrm>
            <a:off x="7391400" y="2057350"/>
            <a:ext cx="3845814" cy="238720"/>
          </a:xfrm>
          <a:prstGeom prst="rect">
            <a:avLst/>
          </a:prstGeom>
          <a:noFill/>
        </p:spPr>
        <p:txBody>
          <a:bodyPr wrap="square" lIns="0" tIns="0" rIns="0" bIns="0" rtlCol="0" anchor="t">
            <a:normAutofit/>
          </a:bodyPr>
          <a:lstStyle/>
          <a:p>
            <a:pPr marL="0" indent="0" algn="l">
              <a:lnSpc>
                <a:spcPts val="1680"/>
              </a:lnSpc>
              <a:buNone/>
            </a:pPr>
            <a:r>
              <a:rPr lang="en-US" sz="1200" b="1" kern="0" spc="100">
                <a:solidFill>
                  <a:srgbClr val="E8772E"/>
                </a:solidFill>
                <a:latin typeface="DM Sans" pitchFamily="34" charset="0"/>
                <a:ea typeface="DM Sans" pitchFamily="34" charset="-122"/>
                <a:cs typeface="DM Sans" pitchFamily="34" charset="-120"/>
              </a:rPr>
              <a:t>RELATIONSHIPS</a:t>
            </a:r>
            <a:endParaRPr lang="en-US" sz="1200"/>
          </a:p>
        </p:txBody>
      </p:sp>
      <p:sp>
        <p:nvSpPr>
          <p:cNvPr id="9" name="Text 6"/>
          <p:cNvSpPr/>
          <p:nvPr/>
        </p:nvSpPr>
        <p:spPr>
          <a:xfrm>
            <a:off x="7391400" y="2372271"/>
            <a:ext cx="3845814" cy="292100"/>
          </a:xfrm>
          <a:prstGeom prst="rect">
            <a:avLst/>
          </a:prstGeom>
          <a:noFill/>
        </p:spPr>
        <p:txBody>
          <a:bodyPr wrap="square" lIns="0" tIns="0" rIns="0" bIns="0" rtlCol="0" anchor="t">
            <a:normAutofit/>
          </a:bodyPr>
          <a:lstStyle/>
          <a:p>
            <a:pPr>
              <a:lnSpc>
                <a:spcPts val="2100"/>
              </a:lnSpc>
            </a:pPr>
            <a:r>
              <a:rPr lang="en-US" sz="1500" b="1">
                <a:solidFill>
                  <a:srgbClr val="F7F5EF"/>
                </a:solidFill>
                <a:latin typeface="DM Sans"/>
                <a:ea typeface="DM Sans" pitchFamily="34" charset="-122"/>
                <a:cs typeface="DM Sans" pitchFamily="34" charset="-120"/>
              </a:rPr>
              <a:t>[DATA MODEL AND STORAGE</a:t>
            </a:r>
            <a:endParaRPr lang="en-US" sz="1500"/>
          </a:p>
        </p:txBody>
      </p:sp>
      <p:sp>
        <p:nvSpPr>
          <p:cNvPr id="10" name="Text 7"/>
          <p:cNvSpPr/>
          <p:nvPr/>
        </p:nvSpPr>
        <p:spPr>
          <a:xfrm>
            <a:off x="7391400" y="2740571"/>
            <a:ext cx="3845814" cy="558800"/>
          </a:xfrm>
          <a:prstGeom prst="rect">
            <a:avLst/>
          </a:prstGeom>
          <a:noFill/>
        </p:spPr>
        <p:txBody>
          <a:bodyPr wrap="square" lIns="0" tIns="0" rIns="0" bIns="0" rtlCol="0" anchor="t">
            <a:normAutofit fontScale="77500" lnSpcReduction="20000"/>
          </a:bodyPr>
          <a:lstStyle/>
          <a:p>
            <a:pPr>
              <a:lnSpc>
                <a:spcPts val="2100"/>
              </a:lnSpc>
            </a:pPr>
            <a:r>
              <a:rPr lang="en-US" sz="1400">
                <a:solidFill>
                  <a:srgbClr val="C9D1E3"/>
                </a:solidFill>
                <a:latin typeface="DM Sans"/>
                <a:ea typeface="DM Sans" pitchFamily="34" charset="-122"/>
                <a:cs typeface="DM Sans" pitchFamily="34" charset="-120"/>
              </a:rPr>
              <a:t>ONE SESSION MAPS TO TEMPORARY BANK NAME,ACCOUNT NO,TIME PEREMITER DURING RUNTIME].</a:t>
            </a:r>
            <a:endParaRPr lang="en-US" sz="1400">
              <a:latin typeface="DM Sans"/>
            </a:endParaRPr>
          </a:p>
        </p:txBody>
      </p:sp>
      <p:sp>
        <p:nvSpPr>
          <p:cNvPr id="11" name="Text 8"/>
          <p:cNvSpPr/>
          <p:nvPr/>
        </p:nvSpPr>
        <p:spPr>
          <a:xfrm>
            <a:off x="812800" y="6238280"/>
            <a:ext cx="7848600" cy="238720"/>
          </a:xfrm>
          <a:prstGeom prst="rect">
            <a:avLst/>
          </a:prstGeom>
          <a:noFill/>
        </p:spPr>
        <p:txBody>
          <a:bodyPr wrap="square" lIns="0" tIns="0" rIns="0" bIns="0" rtlCol="0" anchor="t">
            <a:normAutofit/>
          </a:bodyPr>
          <a:lstStyle/>
          <a:p>
            <a:pPr marL="0" indent="0" algn="l">
              <a:lnSpc>
                <a:spcPts val="1680"/>
              </a:lnSpc>
              <a:buNone/>
            </a:pPr>
            <a:r>
              <a:rPr lang="en-US" sz="1200">
                <a:solidFill>
                  <a:srgbClr val="4A5568"/>
                </a:solidFill>
                <a:latin typeface="DM Sans"/>
                <a:ea typeface="DM Sans" pitchFamily="34" charset="-122"/>
                <a:cs typeface="DM Sans" pitchFamily="34" charset="-120"/>
              </a:rPr>
              <a:t>12 · [FRZIII-PAY]</a:t>
            </a:r>
            <a:endParaRPr lang="en-US" sz="12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a:solidFill>
                  <a:srgbClr val="B4490F"/>
                </a:solidFill>
                <a:latin typeface="DM Sans" pitchFamily="34" charset="0"/>
                <a:ea typeface="DM Sans" pitchFamily="34" charset="-122"/>
                <a:cs typeface="DM Sans" pitchFamily="34" charset="-120"/>
              </a:rPr>
              <a:t>PART 4 · BUILD</a:t>
            </a:r>
            <a:endParaRPr lang="en-US" sz="1200"/>
          </a:p>
        </p:txBody>
      </p:sp>
      <p:sp>
        <p:nvSpPr>
          <p:cNvPr id="3" name="Text 1"/>
          <p:cNvSpPr>
            <a:spLocks noGrp="1"/>
          </p:cNvSpPr>
          <p:nvPr>
            <p:ph type="title"/>
          </p:nvPr>
        </p:nvSpPr>
        <p:spPr>
          <a:xfrm>
            <a:off x="812800" y="1102320"/>
            <a:ext cx="10883392" cy="472430"/>
          </a:xfrm>
          <a:prstGeom prst="rect">
            <a:avLst/>
          </a:prstGeom>
          <a:noFill/>
        </p:spPr>
        <p:txBody>
          <a:bodyPr wrap="square" lIns="0" tIns="0" rIns="0" bIns="0" rtlCol="0" anchor="t">
            <a:normAutofit/>
          </a:bodyPr>
          <a:lstStyle/>
          <a:p>
            <a:pPr marL="0" indent="0" algn="l">
              <a:lnSpc>
                <a:spcPts val="3520"/>
              </a:lnSpc>
              <a:buNone/>
            </a:pPr>
            <a:r>
              <a:rPr lang="en-US" sz="3200" b="1" i="0">
                <a:solidFill>
                  <a:srgbClr val="14213D"/>
                </a:solidFill>
                <a:latin typeface="DM Sans" pitchFamily="34" charset="0"/>
                <a:ea typeface="DM Sans" pitchFamily="34" charset="-122"/>
                <a:cs typeface="DM Sans" pitchFamily="34" charset="-120"/>
              </a:rPr>
              <a:t>Java Concepts Used</a:t>
            </a:r>
            <a:endParaRPr lang="en-US" sz="3200"/>
          </a:p>
        </p:txBody>
      </p:sp>
      <p:sp>
        <p:nvSpPr>
          <p:cNvPr id="4" name="Shape 2"/>
          <p:cNvSpPr/>
          <p:nvPr/>
        </p:nvSpPr>
        <p:spPr>
          <a:xfrm>
            <a:off x="815975" y="1806525"/>
            <a:ext cx="2520950" cy="1017191"/>
          </a:xfrm>
          <a:prstGeom prst="roundRect">
            <a:avLst>
              <a:gd name="adj" fmla="val 9676"/>
            </a:avLst>
          </a:prstGeom>
          <a:solidFill>
            <a:srgbClr val="FFFFFF"/>
          </a:solidFill>
          <a:ln w="6350">
            <a:solidFill>
              <a:srgbClr val="DDD8CC"/>
            </a:solidFill>
            <a:prstDash val="solid"/>
          </a:ln>
        </p:spPr>
      </p:sp>
      <p:sp>
        <p:nvSpPr>
          <p:cNvPr id="5" name="Text 3"/>
          <p:cNvSpPr/>
          <p:nvPr/>
        </p:nvSpPr>
        <p:spPr>
          <a:xfrm>
            <a:off x="971550" y="1962100"/>
            <a:ext cx="2276094" cy="254000"/>
          </a:xfrm>
          <a:prstGeom prst="rect">
            <a:avLst/>
          </a:prstGeom>
          <a:noFill/>
        </p:spPr>
        <p:txBody>
          <a:bodyPr wrap="square" lIns="0" tIns="0" rIns="0" bIns="0" rtlCol="0" anchor="t">
            <a:normAutofit/>
          </a:bodyPr>
          <a:lstStyle/>
          <a:p>
            <a:pPr marL="0" indent="0" algn="l">
              <a:lnSpc>
                <a:spcPts val="1800"/>
              </a:lnSpc>
              <a:buNone/>
            </a:pPr>
            <a:r>
              <a:rPr lang="en-US" sz="1500" b="1">
                <a:solidFill>
                  <a:srgbClr val="14213D"/>
                </a:solidFill>
                <a:latin typeface="DM Sans" pitchFamily="34" charset="0"/>
                <a:ea typeface="DM Sans" pitchFamily="34" charset="-122"/>
                <a:cs typeface="DM Sans" pitchFamily="34" charset="-120"/>
              </a:rPr>
              <a:t>OOP</a:t>
            </a:r>
            <a:endParaRPr lang="en-US" sz="1500"/>
          </a:p>
        </p:txBody>
      </p:sp>
      <p:sp>
        <p:nvSpPr>
          <p:cNvPr id="6" name="Text 4"/>
          <p:cNvSpPr/>
          <p:nvPr/>
        </p:nvSpPr>
        <p:spPr>
          <a:xfrm>
            <a:off x="971550" y="2241500"/>
            <a:ext cx="2276094" cy="452041"/>
          </a:xfrm>
          <a:prstGeom prst="rect">
            <a:avLst/>
          </a:prstGeom>
          <a:noFill/>
        </p:spPr>
        <p:txBody>
          <a:bodyPr wrap="square" lIns="0" tIns="0" rIns="0" bIns="0" rtlCol="0" anchor="t">
            <a:normAutofit/>
          </a:bodyPr>
          <a:lstStyle/>
          <a:p>
            <a:pPr>
              <a:lnSpc>
                <a:spcPts val="1680"/>
              </a:lnSpc>
            </a:pPr>
            <a:r>
              <a:rPr lang="en-US" sz="1200">
                <a:solidFill>
                  <a:srgbClr val="4A5568"/>
                </a:solidFill>
                <a:latin typeface="DM Sans"/>
                <a:ea typeface="DM Sans" pitchFamily="34" charset="-122"/>
                <a:cs typeface="DM Sans" pitchFamily="34" charset="-120"/>
              </a:rPr>
              <a:t>Classes, objects, payment payload data, </a:t>
            </a:r>
            <a:r>
              <a:rPr lang="en-US" sz="1200" err="1">
                <a:solidFill>
                  <a:srgbClr val="4A5568"/>
                </a:solidFill>
                <a:latin typeface="DM Sans"/>
                <a:ea typeface="DM Sans" pitchFamily="34" charset="-122"/>
                <a:cs typeface="DM Sans" pitchFamily="34" charset="-120"/>
              </a:rPr>
              <a:t>encapsulatio</a:t>
            </a:r>
            <a:r>
              <a:rPr lang="en-US" sz="1200">
                <a:solidFill>
                  <a:srgbClr val="4A5568"/>
                </a:solidFill>
                <a:latin typeface="DM Sans"/>
                <a:ea typeface="DM Sans" pitchFamily="34" charset="-122"/>
                <a:cs typeface="DM Sans" pitchFamily="34" charset="-120"/>
              </a:rPr>
              <a:t>n</a:t>
            </a:r>
            <a:endParaRPr lang="en-US" sz="1200">
              <a:solidFill>
                <a:srgbClr val="4A5568"/>
              </a:solidFill>
              <a:latin typeface="DM Sans"/>
            </a:endParaRPr>
          </a:p>
        </p:txBody>
      </p:sp>
      <p:sp>
        <p:nvSpPr>
          <p:cNvPr id="7" name="Shape 5"/>
          <p:cNvSpPr/>
          <p:nvPr/>
        </p:nvSpPr>
        <p:spPr>
          <a:xfrm>
            <a:off x="3495675" y="1806525"/>
            <a:ext cx="2520950" cy="1017191"/>
          </a:xfrm>
          <a:prstGeom prst="roundRect">
            <a:avLst>
              <a:gd name="adj" fmla="val 9676"/>
            </a:avLst>
          </a:prstGeom>
          <a:solidFill>
            <a:srgbClr val="FFFFFF"/>
          </a:solidFill>
          <a:ln w="6350">
            <a:solidFill>
              <a:srgbClr val="DDD8CC"/>
            </a:solidFill>
            <a:prstDash val="solid"/>
          </a:ln>
        </p:spPr>
      </p:sp>
      <p:sp>
        <p:nvSpPr>
          <p:cNvPr id="8" name="Text 6"/>
          <p:cNvSpPr/>
          <p:nvPr/>
        </p:nvSpPr>
        <p:spPr>
          <a:xfrm>
            <a:off x="3651250" y="1962100"/>
            <a:ext cx="2276094" cy="254000"/>
          </a:xfrm>
          <a:prstGeom prst="rect">
            <a:avLst/>
          </a:prstGeom>
          <a:noFill/>
        </p:spPr>
        <p:txBody>
          <a:bodyPr wrap="square" lIns="0" tIns="0" rIns="0" bIns="0" rtlCol="0" anchor="t">
            <a:normAutofit/>
          </a:bodyPr>
          <a:lstStyle/>
          <a:p>
            <a:pPr marL="0" indent="0" algn="l">
              <a:lnSpc>
                <a:spcPts val="1800"/>
              </a:lnSpc>
              <a:buNone/>
            </a:pPr>
            <a:r>
              <a:rPr lang="en-US" sz="1500" b="1">
                <a:solidFill>
                  <a:srgbClr val="14213D"/>
                </a:solidFill>
                <a:latin typeface="DM Sans" pitchFamily="34" charset="0"/>
                <a:ea typeface="DM Sans" pitchFamily="34" charset="-122"/>
                <a:cs typeface="DM Sans" pitchFamily="34" charset="-120"/>
              </a:rPr>
              <a:t>Collections</a:t>
            </a:r>
            <a:endParaRPr lang="en-US" sz="1500"/>
          </a:p>
        </p:txBody>
      </p:sp>
      <p:sp>
        <p:nvSpPr>
          <p:cNvPr id="9" name="Text 7"/>
          <p:cNvSpPr/>
          <p:nvPr/>
        </p:nvSpPr>
        <p:spPr>
          <a:xfrm>
            <a:off x="3651250" y="2241500"/>
            <a:ext cx="2276094" cy="238720"/>
          </a:xfrm>
          <a:prstGeom prst="rect">
            <a:avLst/>
          </a:prstGeom>
          <a:noFill/>
        </p:spPr>
        <p:txBody>
          <a:bodyPr wrap="square" lIns="0" tIns="0" rIns="0" bIns="0" rtlCol="0" anchor="t">
            <a:normAutofit/>
          </a:bodyPr>
          <a:lstStyle/>
          <a:p>
            <a:pPr>
              <a:lnSpc>
                <a:spcPts val="1680"/>
              </a:lnSpc>
            </a:pPr>
            <a:r>
              <a:rPr lang="en-US" sz="1200">
                <a:solidFill>
                  <a:srgbClr val="4A5568"/>
                </a:solidFill>
                <a:latin typeface="DM Sans"/>
                <a:ea typeface="DM Sans" pitchFamily="34" charset="-122"/>
                <a:cs typeface="DM Sans" pitchFamily="34" charset="-120"/>
              </a:rPr>
              <a:t>[ Data structure/map ]</a:t>
            </a:r>
            <a:endParaRPr lang="en-US" sz="1200">
              <a:latin typeface="DM Sans"/>
            </a:endParaRPr>
          </a:p>
        </p:txBody>
      </p:sp>
      <p:sp>
        <p:nvSpPr>
          <p:cNvPr id="10" name="Shape 8"/>
          <p:cNvSpPr/>
          <p:nvPr/>
        </p:nvSpPr>
        <p:spPr>
          <a:xfrm>
            <a:off x="6175375" y="1806525"/>
            <a:ext cx="2520950" cy="1017191"/>
          </a:xfrm>
          <a:prstGeom prst="roundRect">
            <a:avLst>
              <a:gd name="adj" fmla="val 9676"/>
            </a:avLst>
          </a:prstGeom>
          <a:solidFill>
            <a:srgbClr val="FFFFFF"/>
          </a:solidFill>
          <a:ln w="6350">
            <a:solidFill>
              <a:srgbClr val="DDD8CC"/>
            </a:solidFill>
            <a:prstDash val="solid"/>
          </a:ln>
        </p:spPr>
      </p:sp>
      <p:sp>
        <p:nvSpPr>
          <p:cNvPr id="11" name="Text 9"/>
          <p:cNvSpPr/>
          <p:nvPr/>
        </p:nvSpPr>
        <p:spPr>
          <a:xfrm>
            <a:off x="6330950" y="1962100"/>
            <a:ext cx="2276094" cy="254000"/>
          </a:xfrm>
          <a:prstGeom prst="rect">
            <a:avLst/>
          </a:prstGeom>
          <a:noFill/>
        </p:spPr>
        <p:txBody>
          <a:bodyPr wrap="square" lIns="0" tIns="0" rIns="0" bIns="0" rtlCol="0" anchor="t">
            <a:normAutofit/>
          </a:bodyPr>
          <a:lstStyle/>
          <a:p>
            <a:pPr marL="0" indent="0" algn="l">
              <a:lnSpc>
                <a:spcPts val="1800"/>
              </a:lnSpc>
              <a:buNone/>
            </a:pPr>
            <a:r>
              <a:rPr lang="en-US" sz="1500" b="1">
                <a:solidFill>
                  <a:srgbClr val="14213D"/>
                </a:solidFill>
                <a:latin typeface="DM Sans" pitchFamily="34" charset="0"/>
                <a:ea typeface="DM Sans" pitchFamily="34" charset="-122"/>
                <a:cs typeface="DM Sans" pitchFamily="34" charset="-120"/>
              </a:rPr>
              <a:t>Exception Handling</a:t>
            </a:r>
            <a:endParaRPr lang="en-US" sz="1500"/>
          </a:p>
        </p:txBody>
      </p:sp>
      <p:sp>
        <p:nvSpPr>
          <p:cNvPr id="12" name="Text 10"/>
          <p:cNvSpPr/>
          <p:nvPr/>
        </p:nvSpPr>
        <p:spPr>
          <a:xfrm>
            <a:off x="6273077" y="2231855"/>
            <a:ext cx="2372549" cy="450921"/>
          </a:xfrm>
          <a:prstGeom prst="rect">
            <a:avLst/>
          </a:prstGeom>
          <a:noFill/>
        </p:spPr>
        <p:txBody>
          <a:bodyPr wrap="square" lIns="0" tIns="0" rIns="0" bIns="0" rtlCol="0" anchor="t">
            <a:normAutofit/>
          </a:bodyPr>
          <a:lstStyle/>
          <a:p>
            <a:pPr>
              <a:lnSpc>
                <a:spcPts val="1680"/>
              </a:lnSpc>
            </a:pPr>
            <a:r>
              <a:rPr lang="en-US" sz="1200">
                <a:solidFill>
                  <a:srgbClr val="4A5568"/>
                </a:solidFill>
                <a:latin typeface="DM Sans"/>
                <a:ea typeface="DM Sans" pitchFamily="34" charset="-122"/>
                <a:cs typeface="DM Sans" pitchFamily="34" charset="-120"/>
              </a:rPr>
              <a:t>try, catch for </a:t>
            </a:r>
            <a:r>
              <a:rPr lang="en-US" sz="1200" err="1">
                <a:solidFill>
                  <a:srgbClr val="4A5568"/>
                </a:solidFill>
                <a:latin typeface="DM Sans"/>
                <a:ea typeface="DM Sans" pitchFamily="34" charset="-122"/>
                <a:cs typeface="DM Sans" pitchFamily="34" charset="-120"/>
              </a:rPr>
              <a:t>invaild</a:t>
            </a:r>
            <a:r>
              <a:rPr lang="en-US" sz="1200">
                <a:solidFill>
                  <a:srgbClr val="4A5568"/>
                </a:solidFill>
                <a:latin typeface="DM Sans"/>
                <a:ea typeface="DM Sans" pitchFamily="34" charset="-122"/>
                <a:cs typeface="DM Sans" pitchFamily="34" charset="-120"/>
              </a:rPr>
              <a:t> input and </a:t>
            </a:r>
            <a:r>
              <a:rPr lang="en-US" sz="1200" err="1">
                <a:solidFill>
                  <a:srgbClr val="4A5568"/>
                </a:solidFill>
                <a:latin typeface="DM Sans"/>
                <a:ea typeface="DM Sans" pitchFamily="34" charset="-122"/>
                <a:cs typeface="DM Sans" pitchFamily="34" charset="-120"/>
              </a:rPr>
              <a:t>qr</a:t>
            </a:r>
            <a:r>
              <a:rPr lang="en-US" sz="1200">
                <a:solidFill>
                  <a:srgbClr val="4A5568"/>
                </a:solidFill>
                <a:latin typeface="DM Sans"/>
                <a:ea typeface="DM Sans" pitchFamily="34" charset="-122"/>
                <a:cs typeface="DM Sans" pitchFamily="34" charset="-120"/>
              </a:rPr>
              <a:t> code generation</a:t>
            </a:r>
            <a:endParaRPr lang="en-US" sz="1200">
              <a:latin typeface="DM Sans"/>
            </a:endParaRPr>
          </a:p>
        </p:txBody>
      </p:sp>
      <p:sp>
        <p:nvSpPr>
          <p:cNvPr id="13" name="Shape 11"/>
          <p:cNvSpPr/>
          <p:nvPr/>
        </p:nvSpPr>
        <p:spPr>
          <a:xfrm>
            <a:off x="8855075" y="1806525"/>
            <a:ext cx="2520950" cy="1017191"/>
          </a:xfrm>
          <a:prstGeom prst="roundRect">
            <a:avLst>
              <a:gd name="adj" fmla="val 9676"/>
            </a:avLst>
          </a:prstGeom>
          <a:solidFill>
            <a:srgbClr val="FFFFFF"/>
          </a:solidFill>
          <a:ln w="6350">
            <a:solidFill>
              <a:srgbClr val="DDD8CC"/>
            </a:solidFill>
            <a:prstDash val="solid"/>
          </a:ln>
        </p:spPr>
      </p:sp>
      <p:sp>
        <p:nvSpPr>
          <p:cNvPr id="14" name="Text 12"/>
          <p:cNvSpPr/>
          <p:nvPr/>
        </p:nvSpPr>
        <p:spPr>
          <a:xfrm>
            <a:off x="9010650" y="1962100"/>
            <a:ext cx="2276094" cy="254000"/>
          </a:xfrm>
          <a:prstGeom prst="rect">
            <a:avLst/>
          </a:prstGeom>
          <a:noFill/>
        </p:spPr>
        <p:txBody>
          <a:bodyPr wrap="square" lIns="0" tIns="0" rIns="0" bIns="0" rtlCol="0" anchor="t">
            <a:normAutofit/>
          </a:bodyPr>
          <a:lstStyle/>
          <a:p>
            <a:pPr marL="0" indent="0" algn="l">
              <a:lnSpc>
                <a:spcPts val="1800"/>
              </a:lnSpc>
              <a:buNone/>
            </a:pPr>
            <a:r>
              <a:rPr lang="en-US" sz="1500" b="1">
                <a:solidFill>
                  <a:srgbClr val="14213D"/>
                </a:solidFill>
                <a:latin typeface="DM Sans" pitchFamily="34" charset="0"/>
                <a:ea typeface="DM Sans" pitchFamily="34" charset="-122"/>
                <a:cs typeface="DM Sans" pitchFamily="34" charset="-120"/>
              </a:rPr>
              <a:t>File I/O</a:t>
            </a:r>
            <a:endParaRPr lang="en-US" sz="1500"/>
          </a:p>
        </p:txBody>
      </p:sp>
      <p:sp>
        <p:nvSpPr>
          <p:cNvPr id="15" name="Text 13"/>
          <p:cNvSpPr/>
          <p:nvPr/>
        </p:nvSpPr>
        <p:spPr>
          <a:xfrm>
            <a:off x="9010650" y="2231855"/>
            <a:ext cx="2285739" cy="441276"/>
          </a:xfrm>
          <a:prstGeom prst="rect">
            <a:avLst/>
          </a:prstGeom>
          <a:noFill/>
        </p:spPr>
        <p:txBody>
          <a:bodyPr wrap="square" lIns="0" tIns="0" rIns="0" bIns="0" rtlCol="0" anchor="t">
            <a:normAutofit/>
          </a:bodyPr>
          <a:lstStyle/>
          <a:p>
            <a:pPr>
              <a:lnSpc>
                <a:spcPts val="1680"/>
              </a:lnSpc>
            </a:pPr>
            <a:r>
              <a:rPr lang="en-US" sz="1200" dirty="0">
                <a:solidFill>
                  <a:srgbClr val="4A5568"/>
                </a:solidFill>
                <a:latin typeface="DM Sans"/>
                <a:ea typeface="DM Sans" pitchFamily="34" charset="-122"/>
                <a:cs typeface="DM Sans" pitchFamily="34" charset="-120"/>
              </a:rPr>
              <a:t>[ Read/write  &amp; save generated </a:t>
            </a:r>
            <a:r>
              <a:rPr lang="en-US" sz="1200" dirty="0" err="1">
                <a:solidFill>
                  <a:srgbClr val="4A5568"/>
                </a:solidFill>
                <a:latin typeface="DM Sans"/>
                <a:ea typeface="DM Sans" pitchFamily="34" charset="-122"/>
                <a:cs typeface="DM Sans" pitchFamily="34" charset="-120"/>
              </a:rPr>
              <a:t>qr</a:t>
            </a:r>
            <a:r>
              <a:rPr lang="en-US" sz="1200" dirty="0">
                <a:solidFill>
                  <a:srgbClr val="4A5568"/>
                </a:solidFill>
                <a:latin typeface="DM Sans"/>
                <a:ea typeface="DM Sans" pitchFamily="34" charset="-122"/>
                <a:cs typeface="DM Sans" pitchFamily="34" charset="-120"/>
              </a:rPr>
              <a:t> image]</a:t>
            </a:r>
            <a:endParaRPr lang="en-US" sz="1200" dirty="0">
              <a:latin typeface="DM Sans"/>
            </a:endParaRPr>
          </a:p>
        </p:txBody>
      </p:sp>
      <p:sp>
        <p:nvSpPr>
          <p:cNvPr id="16" name="Shape 14"/>
          <p:cNvSpPr/>
          <p:nvPr/>
        </p:nvSpPr>
        <p:spPr>
          <a:xfrm>
            <a:off x="815975" y="2992111"/>
            <a:ext cx="2443787" cy="1170401"/>
          </a:xfrm>
          <a:prstGeom prst="roundRect">
            <a:avLst>
              <a:gd name="adj" fmla="val 12244"/>
            </a:avLst>
          </a:prstGeom>
          <a:solidFill>
            <a:srgbClr val="FFFFFF"/>
          </a:solidFill>
          <a:ln w="6350">
            <a:solidFill>
              <a:srgbClr val="DDD8CC"/>
            </a:solidFill>
            <a:prstDash val="solid"/>
          </a:ln>
        </p:spPr>
      </p:sp>
      <p:sp>
        <p:nvSpPr>
          <p:cNvPr id="17" name="Text 15"/>
          <p:cNvSpPr/>
          <p:nvPr/>
        </p:nvSpPr>
        <p:spPr>
          <a:xfrm>
            <a:off x="971550" y="3138041"/>
            <a:ext cx="2276094" cy="254000"/>
          </a:xfrm>
          <a:prstGeom prst="rect">
            <a:avLst/>
          </a:prstGeom>
          <a:noFill/>
        </p:spPr>
        <p:txBody>
          <a:bodyPr wrap="square" lIns="0" tIns="0" rIns="0" bIns="0" rtlCol="0" anchor="t">
            <a:normAutofit/>
          </a:bodyPr>
          <a:lstStyle/>
          <a:p>
            <a:pPr marL="0" indent="0" algn="l">
              <a:lnSpc>
                <a:spcPts val="1800"/>
              </a:lnSpc>
              <a:buNone/>
            </a:pPr>
            <a:r>
              <a:rPr lang="en-US" sz="1500" b="1">
                <a:solidFill>
                  <a:srgbClr val="14213D"/>
                </a:solidFill>
                <a:latin typeface="DM Sans" pitchFamily="34" charset="0"/>
                <a:ea typeface="DM Sans" pitchFamily="34" charset="-122"/>
                <a:cs typeface="DM Sans" pitchFamily="34" charset="-120"/>
              </a:rPr>
              <a:t>JDBC</a:t>
            </a:r>
            <a:endParaRPr lang="en-US" sz="1500"/>
          </a:p>
        </p:txBody>
      </p:sp>
      <p:sp>
        <p:nvSpPr>
          <p:cNvPr id="18" name="Text 16"/>
          <p:cNvSpPr/>
          <p:nvPr/>
        </p:nvSpPr>
        <p:spPr>
          <a:xfrm>
            <a:off x="971550" y="3417441"/>
            <a:ext cx="2276094" cy="238720"/>
          </a:xfrm>
          <a:prstGeom prst="rect">
            <a:avLst/>
          </a:prstGeom>
          <a:noFill/>
        </p:spPr>
        <p:txBody>
          <a:bodyPr wrap="square" lIns="0" tIns="0" rIns="0" bIns="0" rtlCol="0" anchor="t">
            <a:normAutofit/>
          </a:bodyPr>
          <a:lstStyle/>
          <a:p>
            <a:pPr>
              <a:lnSpc>
                <a:spcPts val="1680"/>
              </a:lnSpc>
            </a:pPr>
            <a:r>
              <a:rPr lang="en-US" sz="1200">
                <a:solidFill>
                  <a:srgbClr val="4A5568"/>
                </a:solidFill>
                <a:latin typeface="DM Sans"/>
              </a:rPr>
              <a:t>[stores transaction logs]</a:t>
            </a:r>
            <a:endParaRPr lang="en-US" sz="1200">
              <a:latin typeface="DM Sans"/>
            </a:endParaRPr>
          </a:p>
        </p:txBody>
      </p:sp>
      <p:sp>
        <p:nvSpPr>
          <p:cNvPr id="19" name="Shape 17"/>
          <p:cNvSpPr/>
          <p:nvPr/>
        </p:nvSpPr>
        <p:spPr>
          <a:xfrm>
            <a:off x="3466738" y="3136795"/>
            <a:ext cx="2578823" cy="996781"/>
          </a:xfrm>
          <a:prstGeom prst="roundRect">
            <a:avLst>
              <a:gd name="adj" fmla="val 12244"/>
            </a:avLst>
          </a:prstGeom>
          <a:solidFill>
            <a:srgbClr val="FFFFFF"/>
          </a:solidFill>
          <a:ln w="6350">
            <a:solidFill>
              <a:srgbClr val="DDD8CC"/>
            </a:solidFill>
            <a:prstDash val="solid"/>
          </a:ln>
        </p:spPr>
      </p:sp>
      <p:sp>
        <p:nvSpPr>
          <p:cNvPr id="20" name="Text 18"/>
          <p:cNvSpPr/>
          <p:nvPr/>
        </p:nvSpPr>
        <p:spPr>
          <a:xfrm>
            <a:off x="3651250" y="3138041"/>
            <a:ext cx="2276094" cy="254000"/>
          </a:xfrm>
          <a:prstGeom prst="rect">
            <a:avLst/>
          </a:prstGeom>
          <a:noFill/>
        </p:spPr>
        <p:txBody>
          <a:bodyPr wrap="square" lIns="0" tIns="0" rIns="0" bIns="0" rtlCol="0" anchor="t">
            <a:normAutofit/>
          </a:bodyPr>
          <a:lstStyle/>
          <a:p>
            <a:pPr marL="0" indent="0" algn="l">
              <a:lnSpc>
                <a:spcPts val="1800"/>
              </a:lnSpc>
              <a:buNone/>
            </a:pPr>
            <a:r>
              <a:rPr lang="en-US" sz="1500" b="1">
                <a:solidFill>
                  <a:srgbClr val="14213D"/>
                </a:solidFill>
                <a:latin typeface="DM Sans" pitchFamily="34" charset="0"/>
                <a:ea typeface="DM Sans" pitchFamily="34" charset="-122"/>
                <a:cs typeface="DM Sans" pitchFamily="34" charset="-120"/>
              </a:rPr>
              <a:t>GUI</a:t>
            </a:r>
            <a:endParaRPr lang="en-US" sz="1500"/>
          </a:p>
        </p:txBody>
      </p:sp>
      <p:sp>
        <p:nvSpPr>
          <p:cNvPr id="21" name="Text 19"/>
          <p:cNvSpPr/>
          <p:nvPr/>
        </p:nvSpPr>
        <p:spPr>
          <a:xfrm>
            <a:off x="3651250" y="3417441"/>
            <a:ext cx="2276094" cy="238720"/>
          </a:xfrm>
          <a:prstGeom prst="rect">
            <a:avLst/>
          </a:prstGeom>
          <a:noFill/>
        </p:spPr>
        <p:txBody>
          <a:bodyPr wrap="square" lIns="0" tIns="0" rIns="0" bIns="0" rtlCol="0" anchor="t">
            <a:normAutofit/>
          </a:bodyPr>
          <a:lstStyle/>
          <a:p>
            <a:pPr>
              <a:lnSpc>
                <a:spcPts val="1680"/>
              </a:lnSpc>
            </a:pPr>
            <a:r>
              <a:rPr lang="en-US" sz="1200">
                <a:solidFill>
                  <a:srgbClr val="4A5568"/>
                </a:solidFill>
                <a:latin typeface="DM Sans"/>
                <a:ea typeface="DM Sans" pitchFamily="34" charset="-122"/>
                <a:cs typeface="DM Sans" pitchFamily="34" charset="-120"/>
              </a:rPr>
              <a:t>[Java Swing ]</a:t>
            </a:r>
            <a:endParaRPr lang="en-US" sz="1200">
              <a:latin typeface="DM Sans"/>
            </a:endParaRPr>
          </a:p>
        </p:txBody>
      </p:sp>
      <p:sp>
        <p:nvSpPr>
          <p:cNvPr id="22" name="Shape 20"/>
          <p:cNvSpPr/>
          <p:nvPr/>
        </p:nvSpPr>
        <p:spPr>
          <a:xfrm>
            <a:off x="6185022" y="3001757"/>
            <a:ext cx="2520950" cy="1180046"/>
          </a:xfrm>
          <a:prstGeom prst="roundRect">
            <a:avLst>
              <a:gd name="adj" fmla="val 12244"/>
            </a:avLst>
          </a:prstGeom>
          <a:solidFill>
            <a:srgbClr val="FFFFFF"/>
          </a:solidFill>
          <a:ln w="6350">
            <a:solidFill>
              <a:srgbClr val="DDD8CC"/>
            </a:solidFill>
            <a:prstDash val="solid"/>
          </a:ln>
        </p:spPr>
      </p:sp>
      <p:sp>
        <p:nvSpPr>
          <p:cNvPr id="23" name="Text 21"/>
          <p:cNvSpPr/>
          <p:nvPr/>
        </p:nvSpPr>
        <p:spPr>
          <a:xfrm>
            <a:off x="6330950" y="3138041"/>
            <a:ext cx="2276094" cy="254000"/>
          </a:xfrm>
          <a:prstGeom prst="rect">
            <a:avLst/>
          </a:prstGeom>
          <a:noFill/>
        </p:spPr>
        <p:txBody>
          <a:bodyPr wrap="square" lIns="0" tIns="0" rIns="0" bIns="0" rtlCol="0" anchor="t">
            <a:normAutofit/>
          </a:bodyPr>
          <a:lstStyle/>
          <a:p>
            <a:pPr marL="0" indent="0" algn="l">
              <a:lnSpc>
                <a:spcPts val="1800"/>
              </a:lnSpc>
              <a:buNone/>
            </a:pPr>
            <a:r>
              <a:rPr lang="en-US" sz="1500" b="1">
                <a:solidFill>
                  <a:srgbClr val="14213D"/>
                </a:solidFill>
                <a:latin typeface="DM Sans" pitchFamily="34" charset="0"/>
                <a:ea typeface="DM Sans" pitchFamily="34" charset="-122"/>
                <a:cs typeface="DM Sans" pitchFamily="34" charset="-120"/>
              </a:rPr>
              <a:t>Packages &amp; Interfaces</a:t>
            </a:r>
            <a:endParaRPr lang="en-US" sz="1500"/>
          </a:p>
        </p:txBody>
      </p:sp>
      <p:sp>
        <p:nvSpPr>
          <p:cNvPr id="24" name="Text 22"/>
          <p:cNvSpPr/>
          <p:nvPr/>
        </p:nvSpPr>
        <p:spPr>
          <a:xfrm>
            <a:off x="6273078" y="3427086"/>
            <a:ext cx="2382192" cy="740288"/>
          </a:xfrm>
          <a:prstGeom prst="rect">
            <a:avLst/>
          </a:prstGeom>
          <a:noFill/>
        </p:spPr>
        <p:txBody>
          <a:bodyPr wrap="square" lIns="0" tIns="0" rIns="0" bIns="0" rtlCol="0" anchor="t">
            <a:normAutofit/>
          </a:bodyPr>
          <a:lstStyle/>
          <a:p>
            <a:pPr>
              <a:lnSpc>
                <a:spcPts val="1680"/>
              </a:lnSpc>
            </a:pPr>
            <a:r>
              <a:rPr lang="en-US" sz="1200" dirty="0">
                <a:solidFill>
                  <a:srgbClr val="4A5568"/>
                </a:solidFill>
                <a:latin typeface="DM Sans"/>
              </a:rPr>
              <a:t>[packages </a:t>
            </a:r>
            <a:r>
              <a:rPr lang="en-US" sz="1200" dirty="0" err="1">
                <a:solidFill>
                  <a:srgbClr val="4A5568"/>
                </a:solidFill>
                <a:latin typeface="DM Sans"/>
              </a:rPr>
              <a:t>qr</a:t>
            </a:r>
            <a:r>
              <a:rPr lang="en-US" sz="1200" dirty="0">
                <a:solidFill>
                  <a:srgbClr val="4A5568"/>
                </a:solidFill>
                <a:latin typeface="DM Sans"/>
              </a:rPr>
              <a:t> and interface (</a:t>
            </a:r>
            <a:r>
              <a:rPr lang="en-US" sz="1200" dirty="0" err="1">
                <a:solidFill>
                  <a:srgbClr val="4A5568"/>
                </a:solidFill>
                <a:latin typeface="DM Sans"/>
              </a:rPr>
              <a:t>ActionListerner</a:t>
            </a:r>
            <a:r>
              <a:rPr lang="en-US" sz="1200" dirty="0">
                <a:solidFill>
                  <a:srgbClr val="4A5568"/>
                </a:solidFill>
                <a:latin typeface="DM Sans"/>
              </a:rPr>
              <a:t> &amp;</a:t>
            </a:r>
            <a:r>
              <a:rPr lang="en-US" sz="1200" dirty="0" err="1">
                <a:solidFill>
                  <a:srgbClr val="4A5568"/>
                </a:solidFill>
                <a:latin typeface="DM Sans"/>
              </a:rPr>
              <a:t>DocumentListerner</a:t>
            </a:r>
            <a:r>
              <a:rPr lang="en-US" sz="1200" dirty="0">
                <a:solidFill>
                  <a:srgbClr val="4A5568"/>
                </a:solidFill>
                <a:latin typeface="DM Sans"/>
              </a:rPr>
              <a:t>]</a:t>
            </a:r>
            <a:endParaRPr lang="en-US" sz="1200"/>
          </a:p>
        </p:txBody>
      </p:sp>
      <p:sp>
        <p:nvSpPr>
          <p:cNvPr id="25" name="Shape 23"/>
          <p:cNvSpPr/>
          <p:nvPr/>
        </p:nvSpPr>
        <p:spPr>
          <a:xfrm>
            <a:off x="8855075" y="2992111"/>
            <a:ext cx="2434142" cy="1160755"/>
          </a:xfrm>
          <a:prstGeom prst="roundRect">
            <a:avLst>
              <a:gd name="adj" fmla="val 12244"/>
            </a:avLst>
          </a:prstGeom>
          <a:solidFill>
            <a:srgbClr val="FFFFFF"/>
          </a:solidFill>
          <a:ln w="6350">
            <a:solidFill>
              <a:srgbClr val="DDD8CC"/>
            </a:solidFill>
            <a:prstDash val="solid"/>
          </a:ln>
        </p:spPr>
      </p:sp>
      <p:sp>
        <p:nvSpPr>
          <p:cNvPr id="26" name="Text 24"/>
          <p:cNvSpPr/>
          <p:nvPr/>
        </p:nvSpPr>
        <p:spPr>
          <a:xfrm>
            <a:off x="9010650" y="3138041"/>
            <a:ext cx="2276094" cy="254000"/>
          </a:xfrm>
          <a:prstGeom prst="rect">
            <a:avLst/>
          </a:prstGeom>
          <a:noFill/>
        </p:spPr>
        <p:txBody>
          <a:bodyPr wrap="square" lIns="0" tIns="0" rIns="0" bIns="0" rtlCol="0" anchor="t">
            <a:normAutofit/>
          </a:bodyPr>
          <a:lstStyle/>
          <a:p>
            <a:pPr marL="0" indent="0" algn="l">
              <a:lnSpc>
                <a:spcPts val="1800"/>
              </a:lnSpc>
              <a:buNone/>
            </a:pPr>
            <a:r>
              <a:rPr lang="en-US" sz="1500" b="1">
                <a:solidFill>
                  <a:srgbClr val="14213D"/>
                </a:solidFill>
                <a:latin typeface="DM Sans" pitchFamily="34" charset="0"/>
                <a:ea typeface="DM Sans" pitchFamily="34" charset="-122"/>
                <a:cs typeface="DM Sans" pitchFamily="34" charset="-120"/>
              </a:rPr>
              <a:t>Multithreading</a:t>
            </a:r>
            <a:endParaRPr lang="en-US" sz="1500"/>
          </a:p>
        </p:txBody>
      </p:sp>
      <p:sp>
        <p:nvSpPr>
          <p:cNvPr id="27" name="Text 25"/>
          <p:cNvSpPr/>
          <p:nvPr/>
        </p:nvSpPr>
        <p:spPr>
          <a:xfrm>
            <a:off x="9010650" y="3417441"/>
            <a:ext cx="2276094" cy="238720"/>
          </a:xfrm>
          <a:prstGeom prst="rect">
            <a:avLst/>
          </a:prstGeom>
          <a:noFill/>
        </p:spPr>
        <p:txBody>
          <a:bodyPr wrap="square" lIns="0" tIns="0" rIns="0" bIns="0" rtlCol="0" anchor="t">
            <a:normAutofit fontScale="85000" lnSpcReduction="10000"/>
          </a:bodyPr>
          <a:lstStyle/>
          <a:p>
            <a:pPr>
              <a:lnSpc>
                <a:spcPts val="1680"/>
              </a:lnSpc>
            </a:pPr>
            <a:r>
              <a:rPr lang="en-US" sz="1200">
                <a:solidFill>
                  <a:srgbClr val="4A5568"/>
                </a:solidFill>
                <a:latin typeface="DM Sans"/>
              </a:rPr>
              <a:t>[timer task/tread for countdown time]</a:t>
            </a:r>
            <a:endParaRPr lang="en-US" sz="1200">
              <a:latin typeface="DM Sans"/>
            </a:endParaRPr>
          </a:p>
        </p:txBody>
      </p:sp>
      <p:sp>
        <p:nvSpPr>
          <p:cNvPr id="28" name="Text 26"/>
          <p:cNvSpPr/>
          <p:nvPr/>
        </p:nvSpPr>
        <p:spPr>
          <a:xfrm>
            <a:off x="812800" y="6238280"/>
            <a:ext cx="7848600" cy="238720"/>
          </a:xfrm>
          <a:prstGeom prst="rect">
            <a:avLst/>
          </a:prstGeom>
          <a:noFill/>
        </p:spPr>
        <p:txBody>
          <a:bodyPr wrap="square" lIns="0" tIns="0" rIns="0" bIns="0" rtlCol="0" anchor="t">
            <a:normAutofit/>
          </a:bodyPr>
          <a:lstStyle/>
          <a:p>
            <a:pPr marL="0" indent="0" algn="l">
              <a:lnSpc>
                <a:spcPts val="1680"/>
              </a:lnSpc>
              <a:buNone/>
            </a:pPr>
            <a:r>
              <a:rPr lang="en-US" sz="1200">
                <a:solidFill>
                  <a:srgbClr val="4A5568"/>
                </a:solidFill>
                <a:latin typeface="DM Sans"/>
                <a:ea typeface="DM Sans" pitchFamily="34" charset="-122"/>
                <a:cs typeface="DM Sans" pitchFamily="34" charset="-120"/>
              </a:rPr>
              <a:t>13 · [FARZIII-PAY]</a:t>
            </a:r>
            <a:endParaRPr lang="en-US" sz="12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CE8D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a:solidFill>
                  <a:srgbClr val="B4490F"/>
                </a:solidFill>
                <a:latin typeface="DM Sans" pitchFamily="34" charset="0"/>
                <a:ea typeface="DM Sans" pitchFamily="34" charset="-122"/>
                <a:cs typeface="DM Sans" pitchFamily="34" charset="-120"/>
              </a:rPr>
              <a:t>PART 4 · BUILD</a:t>
            </a:r>
            <a:endParaRPr lang="en-US" sz="1200"/>
          </a:p>
        </p:txBody>
      </p:sp>
      <p:sp>
        <p:nvSpPr>
          <p:cNvPr id="3" name="Text 1"/>
          <p:cNvSpPr>
            <a:spLocks noGrp="1"/>
          </p:cNvSpPr>
          <p:nvPr>
            <p:ph type="title"/>
          </p:nvPr>
        </p:nvSpPr>
        <p:spPr>
          <a:xfrm>
            <a:off x="812800" y="1102320"/>
            <a:ext cx="10883392" cy="472430"/>
          </a:xfrm>
          <a:prstGeom prst="rect">
            <a:avLst/>
          </a:prstGeom>
          <a:noFill/>
        </p:spPr>
        <p:txBody>
          <a:bodyPr wrap="square" lIns="0" tIns="0" rIns="0" bIns="0" rtlCol="0" anchor="t">
            <a:normAutofit/>
          </a:bodyPr>
          <a:lstStyle/>
          <a:p>
            <a:pPr marL="0" indent="0" algn="l">
              <a:lnSpc>
                <a:spcPts val="3520"/>
              </a:lnSpc>
              <a:buNone/>
            </a:pPr>
            <a:r>
              <a:rPr lang="en-US" sz="3200" b="1" i="0">
                <a:solidFill>
                  <a:srgbClr val="14213D"/>
                </a:solidFill>
                <a:latin typeface="DM Sans" pitchFamily="34" charset="0"/>
                <a:ea typeface="DM Sans" pitchFamily="34" charset="-122"/>
                <a:cs typeface="DM Sans" pitchFamily="34" charset="-120"/>
              </a:rPr>
              <a:t>Implementation: Key Code</a:t>
            </a:r>
            <a:endParaRPr lang="en-US" sz="3200"/>
          </a:p>
        </p:txBody>
      </p:sp>
      <p:sp>
        <p:nvSpPr>
          <p:cNvPr id="4" name="Shape 2"/>
          <p:cNvSpPr/>
          <p:nvPr/>
        </p:nvSpPr>
        <p:spPr>
          <a:xfrm>
            <a:off x="812800" y="1803350"/>
            <a:ext cx="6108700" cy="3772301"/>
          </a:xfrm>
          <a:prstGeom prst="roundRect">
            <a:avLst>
              <a:gd name="adj" fmla="val 4113"/>
            </a:avLst>
          </a:prstGeom>
          <a:solidFill>
            <a:srgbClr val="14213D"/>
          </a:solidFill>
        </p:spPr>
      </p:sp>
      <p:sp>
        <p:nvSpPr>
          <p:cNvPr id="5" name="Text 3"/>
          <p:cNvSpPr/>
          <p:nvPr/>
        </p:nvSpPr>
        <p:spPr>
          <a:xfrm>
            <a:off x="1066800" y="2057350"/>
            <a:ext cx="5759076" cy="3340341"/>
          </a:xfrm>
          <a:prstGeom prst="rect">
            <a:avLst/>
          </a:prstGeom>
          <a:noFill/>
        </p:spPr>
        <p:txBody>
          <a:bodyPr wrap="square" lIns="0" tIns="0" rIns="0" bIns="0" rtlCol="0" anchor="t">
            <a:normAutofit/>
          </a:bodyPr>
          <a:lstStyle/>
          <a:p>
            <a:r>
              <a:rPr lang="en-US" sz="1300" dirty="0">
                <a:solidFill>
                  <a:srgbClr val="E8772E"/>
                </a:solidFill>
                <a:latin typeface="JetBrains Mono"/>
                <a:ea typeface="JetBrains Mono"/>
              </a:rPr>
              <a:t>public class </a:t>
            </a:r>
            <a:r>
              <a:rPr lang="en-US" sz="1300" dirty="0" err="1">
                <a:solidFill>
                  <a:srgbClr val="E8772E"/>
                </a:solidFill>
                <a:latin typeface="JetBrains Mono"/>
                <a:ea typeface="JetBrains Mono"/>
              </a:rPr>
              <a:t>BankQRApp</a:t>
            </a:r>
            <a:r>
              <a:rPr lang="en-US" sz="1300" dirty="0">
                <a:solidFill>
                  <a:srgbClr val="E8772E"/>
                </a:solidFill>
                <a:latin typeface="JetBrains Mono"/>
                <a:ea typeface="JetBrains Mono"/>
              </a:rPr>
              <a:t> extends </a:t>
            </a:r>
            <a:r>
              <a:rPr lang="en-US" sz="1300" dirty="0" err="1">
                <a:solidFill>
                  <a:srgbClr val="E8772E"/>
                </a:solidFill>
                <a:latin typeface="JetBrains Mono"/>
                <a:ea typeface="JetBrains Mono"/>
              </a:rPr>
              <a:t>JFrame</a:t>
            </a:r>
            <a:r>
              <a:rPr lang="en-US" sz="1300" dirty="0">
                <a:solidFill>
                  <a:srgbClr val="E8772E"/>
                </a:solidFill>
                <a:latin typeface="JetBrains Mono"/>
                <a:ea typeface="JetBrains Mono"/>
              </a:rPr>
              <a:t> {</a:t>
            </a:r>
            <a:endParaRPr lang="en-US" dirty="0"/>
          </a:p>
          <a:p>
            <a:r>
              <a:rPr lang="en-US" sz="1300" dirty="0">
                <a:solidFill>
                  <a:srgbClr val="E8772E"/>
                </a:solidFill>
                <a:latin typeface="JetBrains Mono"/>
                <a:ea typeface="JetBrains Mono"/>
              </a:rPr>
              <a:t>    public </a:t>
            </a:r>
            <a:r>
              <a:rPr lang="en-US" sz="1300" dirty="0" err="1">
                <a:solidFill>
                  <a:srgbClr val="E8772E"/>
                </a:solidFill>
                <a:latin typeface="JetBrains Mono"/>
                <a:ea typeface="JetBrains Mono"/>
              </a:rPr>
              <a:t>BankQRApp</a:t>
            </a:r>
            <a:r>
              <a:rPr lang="en-US" sz="1300" dirty="0">
                <a:solidFill>
                  <a:srgbClr val="E8772E"/>
                </a:solidFill>
                <a:latin typeface="JetBrains Mono"/>
                <a:ea typeface="JetBrains Mono"/>
              </a:rPr>
              <a:t>() {</a:t>
            </a:r>
            <a:endParaRPr lang="en-US" dirty="0"/>
          </a:p>
          <a:p>
            <a:r>
              <a:rPr lang="en-US" sz="1300" dirty="0">
                <a:solidFill>
                  <a:srgbClr val="E8772E"/>
                </a:solidFill>
                <a:latin typeface="JetBrains Mono"/>
                <a:ea typeface="JetBrains Mono"/>
              </a:rPr>
              <a:t>        </a:t>
            </a:r>
            <a:r>
              <a:rPr lang="en-US" sz="1300" dirty="0" err="1">
                <a:solidFill>
                  <a:srgbClr val="E8772E"/>
                </a:solidFill>
                <a:latin typeface="JetBrains Mono"/>
                <a:ea typeface="JetBrains Mono"/>
              </a:rPr>
              <a:t>setTitle</a:t>
            </a:r>
            <a:r>
              <a:rPr lang="en-US" sz="1300" dirty="0">
                <a:solidFill>
                  <a:srgbClr val="E8772E"/>
                </a:solidFill>
                <a:latin typeface="JetBrains Mono"/>
                <a:ea typeface="JetBrains Mono"/>
              </a:rPr>
              <a:t>("FRZIII-PAY | Pro Edition");</a:t>
            </a:r>
            <a:endParaRPr lang="en-US" dirty="0"/>
          </a:p>
          <a:p>
            <a:r>
              <a:rPr lang="en-US" sz="1300" dirty="0">
                <a:solidFill>
                  <a:srgbClr val="E8772E"/>
                </a:solidFill>
                <a:latin typeface="JetBrains Mono"/>
                <a:ea typeface="JetBrains Mono"/>
              </a:rPr>
              <a:t>        </a:t>
            </a:r>
            <a:r>
              <a:rPr lang="en-US" sz="1300" dirty="0" err="1">
                <a:solidFill>
                  <a:srgbClr val="E8772E"/>
                </a:solidFill>
                <a:latin typeface="JetBrains Mono"/>
                <a:ea typeface="JetBrains Mono"/>
              </a:rPr>
              <a:t>setSize</a:t>
            </a:r>
            <a:r>
              <a:rPr lang="en-US" sz="1300" dirty="0">
                <a:solidFill>
                  <a:srgbClr val="E8772E"/>
                </a:solidFill>
                <a:latin typeface="JetBrains Mono"/>
                <a:ea typeface="JetBrains Mono"/>
              </a:rPr>
              <a:t>(1020, 750);</a:t>
            </a:r>
            <a:endParaRPr lang="en-US" dirty="0"/>
          </a:p>
          <a:p>
            <a:r>
              <a:rPr lang="en-US" sz="1300" dirty="0">
                <a:solidFill>
                  <a:srgbClr val="E8772E"/>
                </a:solidFill>
                <a:latin typeface="JetBrains Mono"/>
                <a:ea typeface="JetBrains Mono"/>
              </a:rPr>
              <a:t>        </a:t>
            </a:r>
            <a:r>
              <a:rPr lang="en-US" sz="1300" dirty="0" err="1">
                <a:solidFill>
                  <a:srgbClr val="E8772E"/>
                </a:solidFill>
                <a:latin typeface="JetBrains Mono"/>
                <a:ea typeface="JetBrains Mono"/>
              </a:rPr>
              <a:t>setDefaultCloseOperation</a:t>
            </a:r>
            <a:r>
              <a:rPr lang="en-US" sz="1300" dirty="0">
                <a:solidFill>
                  <a:srgbClr val="E8772E"/>
                </a:solidFill>
                <a:latin typeface="JetBrains Mono"/>
                <a:ea typeface="JetBrains Mono"/>
              </a:rPr>
              <a:t>(</a:t>
            </a:r>
            <a:r>
              <a:rPr lang="en-US" sz="1300" dirty="0" err="1">
                <a:solidFill>
                  <a:srgbClr val="E8772E"/>
                </a:solidFill>
                <a:latin typeface="JetBrains Mono"/>
                <a:ea typeface="JetBrains Mono"/>
              </a:rPr>
              <a:t>JFrame.EXIT_ON_CLOSE</a:t>
            </a:r>
            <a:r>
              <a:rPr lang="en-US" sz="1300" dirty="0">
                <a:solidFill>
                  <a:srgbClr val="E8772E"/>
                </a:solidFill>
                <a:latin typeface="JetBrains Mono"/>
                <a:ea typeface="JetBrains Mono"/>
              </a:rPr>
              <a:t>);</a:t>
            </a:r>
            <a:endParaRPr lang="en-US" dirty="0"/>
          </a:p>
          <a:p>
            <a:r>
              <a:rPr lang="en-US" sz="1300" dirty="0">
                <a:solidFill>
                  <a:srgbClr val="E8772E"/>
                </a:solidFill>
                <a:latin typeface="JetBrains Mono"/>
                <a:ea typeface="JetBrains Mono"/>
              </a:rPr>
              <a:t>        </a:t>
            </a:r>
            <a:r>
              <a:rPr lang="en-US" sz="1300" dirty="0" err="1">
                <a:solidFill>
                  <a:srgbClr val="E8772E"/>
                </a:solidFill>
                <a:latin typeface="JetBrains Mono"/>
                <a:ea typeface="JetBrains Mono"/>
              </a:rPr>
              <a:t>setLocationRelativeTo</a:t>
            </a:r>
            <a:r>
              <a:rPr lang="en-US" sz="1300" dirty="0">
                <a:solidFill>
                  <a:srgbClr val="E8772E"/>
                </a:solidFill>
                <a:latin typeface="JetBrains Mono"/>
                <a:ea typeface="JetBrains Mono"/>
              </a:rPr>
              <a:t>(null);</a:t>
            </a:r>
            <a:endParaRPr lang="en-US" dirty="0"/>
          </a:p>
          <a:p>
            <a:r>
              <a:rPr lang="en-US" sz="1300">
                <a:solidFill>
                  <a:srgbClr val="E8772E"/>
                </a:solidFill>
                <a:latin typeface="JetBrains Mono"/>
                <a:ea typeface="JetBrains Mono"/>
              </a:rPr>
              <a:t>    }</a:t>
            </a:r>
            <a:endParaRPr lang="en-US"/>
          </a:p>
          <a:p>
            <a:endParaRPr lang="en-US"/>
          </a:p>
          <a:p>
            <a:r>
              <a:rPr lang="en-US" sz="1300" dirty="0">
                <a:solidFill>
                  <a:srgbClr val="E8772E"/>
                </a:solidFill>
                <a:latin typeface="JetBrains Mono"/>
                <a:ea typeface="JetBrains Mono"/>
              </a:rPr>
              <a:t>    public static void main(String[] </a:t>
            </a:r>
            <a:r>
              <a:rPr lang="en-US" sz="1300" dirty="0" err="1">
                <a:solidFill>
                  <a:srgbClr val="E8772E"/>
                </a:solidFill>
                <a:latin typeface="JetBrains Mono"/>
                <a:ea typeface="JetBrains Mono"/>
              </a:rPr>
              <a:t>args</a:t>
            </a:r>
            <a:r>
              <a:rPr lang="en-US" sz="1300" dirty="0">
                <a:solidFill>
                  <a:srgbClr val="E8772E"/>
                </a:solidFill>
                <a:latin typeface="JetBrains Mono"/>
                <a:ea typeface="JetBrains Mono"/>
              </a:rPr>
              <a:t>) {</a:t>
            </a:r>
            <a:endParaRPr lang="en-US" dirty="0"/>
          </a:p>
          <a:p>
            <a:r>
              <a:rPr lang="en-US" sz="1300" dirty="0">
                <a:solidFill>
                  <a:srgbClr val="E8772E"/>
                </a:solidFill>
                <a:latin typeface="JetBrains Mono"/>
                <a:ea typeface="JetBrains Mono"/>
              </a:rPr>
              <a:t>        </a:t>
            </a:r>
            <a:r>
              <a:rPr lang="en-US" sz="1300" dirty="0" err="1">
                <a:solidFill>
                  <a:srgbClr val="E8772E"/>
                </a:solidFill>
                <a:latin typeface="JetBrains Mono"/>
                <a:ea typeface="JetBrains Mono"/>
              </a:rPr>
              <a:t>SwingUtilities.invokeLater</a:t>
            </a:r>
            <a:r>
              <a:rPr lang="en-US" sz="1300" dirty="0">
                <a:solidFill>
                  <a:srgbClr val="E8772E"/>
                </a:solidFill>
                <a:latin typeface="JetBrains Mono"/>
                <a:ea typeface="JetBrains Mono"/>
              </a:rPr>
              <a:t>(() -&gt; </a:t>
            </a:r>
            <a:endParaRPr lang="en-US" dirty="0"/>
          </a:p>
          <a:p>
            <a:r>
              <a:rPr lang="en-US" sz="1300" dirty="0">
                <a:solidFill>
                  <a:srgbClr val="E8772E"/>
                </a:solidFill>
                <a:latin typeface="JetBrains Mono"/>
                <a:ea typeface="JetBrains Mono"/>
              </a:rPr>
              <a:t>            new </a:t>
            </a:r>
            <a:r>
              <a:rPr lang="en-US" sz="1300" dirty="0" err="1">
                <a:solidFill>
                  <a:srgbClr val="E8772E"/>
                </a:solidFill>
                <a:latin typeface="JetBrains Mono"/>
                <a:ea typeface="JetBrains Mono"/>
              </a:rPr>
              <a:t>BankQRApp</a:t>
            </a:r>
            <a:r>
              <a:rPr lang="en-US" sz="1300" dirty="0">
                <a:solidFill>
                  <a:srgbClr val="E8772E"/>
                </a:solidFill>
                <a:latin typeface="JetBrains Mono"/>
                <a:ea typeface="JetBrains Mono"/>
              </a:rPr>
              <a:t>().</a:t>
            </a:r>
            <a:r>
              <a:rPr lang="en-US" sz="1300" dirty="0" err="1">
                <a:solidFill>
                  <a:srgbClr val="E8772E"/>
                </a:solidFill>
                <a:latin typeface="JetBrains Mono"/>
                <a:ea typeface="JetBrains Mono"/>
              </a:rPr>
              <a:t>setVisible</a:t>
            </a:r>
            <a:r>
              <a:rPr lang="en-US" sz="1300" dirty="0">
                <a:solidFill>
                  <a:srgbClr val="E8772E"/>
                </a:solidFill>
                <a:latin typeface="JetBrains Mono"/>
                <a:ea typeface="JetBrains Mono"/>
              </a:rPr>
              <a:t>(true)</a:t>
            </a:r>
            <a:endParaRPr lang="en-US" dirty="0"/>
          </a:p>
          <a:p>
            <a:r>
              <a:rPr lang="en-US" sz="1300">
                <a:solidFill>
                  <a:srgbClr val="E8772E"/>
                </a:solidFill>
                <a:latin typeface="JetBrains Mono"/>
                <a:ea typeface="JetBrains Mono"/>
              </a:rPr>
              <a:t>        );</a:t>
            </a:r>
            <a:endParaRPr lang="en-US"/>
          </a:p>
          <a:p>
            <a:r>
              <a:rPr lang="en-US" sz="1300">
                <a:solidFill>
                  <a:srgbClr val="E8772E"/>
                </a:solidFill>
                <a:latin typeface="JetBrains Mono"/>
                <a:ea typeface="JetBrains Mono"/>
              </a:rPr>
              <a:t>    }</a:t>
            </a:r>
            <a:endParaRPr lang="en-US"/>
          </a:p>
          <a:p>
            <a:pPr>
              <a:lnSpc>
                <a:spcPts val="1950"/>
              </a:lnSpc>
            </a:pPr>
            <a:r>
              <a:rPr lang="en-US" sz="1300">
                <a:solidFill>
                  <a:srgbClr val="E8772E"/>
                </a:solidFill>
                <a:latin typeface="JetBrains Mono"/>
                <a:ea typeface="JetBrains Mono"/>
              </a:rPr>
              <a:t>}</a:t>
            </a:r>
            <a:endParaRPr lang="en-US"/>
          </a:p>
        </p:txBody>
      </p:sp>
      <p:sp>
        <p:nvSpPr>
          <p:cNvPr id="6" name="Text 4"/>
          <p:cNvSpPr/>
          <p:nvPr/>
        </p:nvSpPr>
        <p:spPr>
          <a:xfrm>
            <a:off x="1270000" y="2343100"/>
            <a:ext cx="5559425" cy="273050"/>
          </a:xfrm>
          <a:prstGeom prst="rect">
            <a:avLst/>
          </a:prstGeom>
          <a:noFill/>
        </p:spPr>
        <p:txBody>
          <a:bodyPr wrap="square" lIns="0" tIns="0" rIns="0" bIns="0" rtlCol="0" anchor="t">
            <a:normAutofit/>
          </a:bodyPr>
          <a:lstStyle/>
          <a:p>
            <a:pPr>
              <a:lnSpc>
                <a:spcPts val="1950"/>
              </a:lnSpc>
            </a:pPr>
            <a:endParaRPr lang="en-US" sz="1300" dirty="0">
              <a:solidFill>
                <a:srgbClr val="E8772E"/>
              </a:solidFill>
              <a:latin typeface="JetBrains Mono"/>
              <a:ea typeface="JetBrains Mono"/>
            </a:endParaRPr>
          </a:p>
        </p:txBody>
      </p:sp>
      <p:sp>
        <p:nvSpPr>
          <p:cNvPr id="7" name="Text 5"/>
          <p:cNvSpPr/>
          <p:nvPr/>
        </p:nvSpPr>
        <p:spPr>
          <a:xfrm>
            <a:off x="1473200" y="2628850"/>
            <a:ext cx="5350129" cy="273050"/>
          </a:xfrm>
          <a:prstGeom prst="rect">
            <a:avLst/>
          </a:prstGeom>
          <a:noFill/>
        </p:spPr>
        <p:txBody>
          <a:bodyPr wrap="square" lIns="0" tIns="0" rIns="0" bIns="0" rtlCol="0" anchor="t">
            <a:normAutofit/>
          </a:bodyPr>
          <a:lstStyle/>
          <a:p>
            <a:pPr marL="0" indent="0" algn="l">
              <a:lnSpc>
                <a:spcPts val="1950"/>
              </a:lnSpc>
              <a:buNone/>
            </a:pPr>
            <a:endParaRPr lang="en-US" sz="1300" dirty="0">
              <a:solidFill>
                <a:srgbClr val="8FA3C8"/>
              </a:solidFill>
              <a:latin typeface="JetBrains Mono"/>
              <a:ea typeface="JetBrains Mono"/>
            </a:endParaRPr>
          </a:p>
        </p:txBody>
      </p:sp>
      <p:sp>
        <p:nvSpPr>
          <p:cNvPr id="8" name="Text 6"/>
          <p:cNvSpPr/>
          <p:nvPr/>
        </p:nvSpPr>
        <p:spPr>
          <a:xfrm>
            <a:off x="1473200" y="2914600"/>
            <a:ext cx="5350129" cy="273050"/>
          </a:xfrm>
          <a:prstGeom prst="rect">
            <a:avLst/>
          </a:prstGeom>
          <a:noFill/>
        </p:spPr>
        <p:txBody>
          <a:bodyPr wrap="square" lIns="0" tIns="0" rIns="0" bIns="0" rtlCol="0" anchor="t">
            <a:normAutofit/>
          </a:bodyPr>
          <a:lstStyle/>
          <a:p>
            <a:pPr marL="0" indent="0" algn="l">
              <a:lnSpc>
                <a:spcPts val="1950"/>
              </a:lnSpc>
              <a:buNone/>
            </a:pPr>
            <a:endParaRPr lang="en-US" sz="1300" dirty="0">
              <a:solidFill>
                <a:srgbClr val="E6EAF5"/>
              </a:solidFill>
              <a:latin typeface="JetBrains Mono"/>
              <a:ea typeface="JetBrains Mono"/>
            </a:endParaRPr>
          </a:p>
        </p:txBody>
      </p:sp>
      <p:sp>
        <p:nvSpPr>
          <p:cNvPr id="9" name="Text 7"/>
          <p:cNvSpPr/>
          <p:nvPr/>
        </p:nvSpPr>
        <p:spPr>
          <a:xfrm>
            <a:off x="1473200" y="3200350"/>
            <a:ext cx="5350129" cy="273050"/>
          </a:xfrm>
          <a:prstGeom prst="rect">
            <a:avLst/>
          </a:prstGeom>
          <a:noFill/>
        </p:spPr>
        <p:txBody>
          <a:bodyPr wrap="square" lIns="0" tIns="0" rIns="0" bIns="0" rtlCol="0" anchor="t">
            <a:normAutofit/>
          </a:bodyPr>
          <a:lstStyle/>
          <a:p>
            <a:pPr marL="0" indent="0" algn="l">
              <a:lnSpc>
                <a:spcPts val="1950"/>
              </a:lnSpc>
              <a:buNone/>
            </a:pPr>
            <a:endParaRPr lang="en-US" sz="1300" dirty="0">
              <a:solidFill>
                <a:srgbClr val="E6EAF5"/>
              </a:solidFill>
              <a:latin typeface="JetBrains Mono"/>
              <a:ea typeface="JetBrains Mono"/>
            </a:endParaRPr>
          </a:p>
        </p:txBody>
      </p:sp>
      <p:sp>
        <p:nvSpPr>
          <p:cNvPr id="10" name="Text 8"/>
          <p:cNvSpPr/>
          <p:nvPr/>
        </p:nvSpPr>
        <p:spPr>
          <a:xfrm>
            <a:off x="1270000" y="3486100"/>
            <a:ext cx="5559425" cy="273050"/>
          </a:xfrm>
          <a:prstGeom prst="rect">
            <a:avLst/>
          </a:prstGeom>
          <a:noFill/>
        </p:spPr>
        <p:txBody>
          <a:bodyPr wrap="square" lIns="0" tIns="0" rIns="0" bIns="0" rtlCol="0" anchor="t">
            <a:normAutofit/>
          </a:bodyPr>
          <a:lstStyle/>
          <a:p>
            <a:pPr marL="0" indent="0" algn="l">
              <a:lnSpc>
                <a:spcPts val="1950"/>
              </a:lnSpc>
              <a:buNone/>
            </a:pPr>
            <a:endParaRPr lang="en-US" sz="1300" dirty="0">
              <a:solidFill>
                <a:srgbClr val="E6EAF5"/>
              </a:solidFill>
              <a:latin typeface="JetBrains Mono"/>
              <a:ea typeface="JetBrains Mono"/>
            </a:endParaRPr>
          </a:p>
        </p:txBody>
      </p:sp>
      <p:sp>
        <p:nvSpPr>
          <p:cNvPr id="12" name="Shape 10"/>
          <p:cNvSpPr/>
          <p:nvPr/>
        </p:nvSpPr>
        <p:spPr>
          <a:xfrm>
            <a:off x="7127875" y="1806525"/>
            <a:ext cx="4248150" cy="2463800"/>
          </a:xfrm>
          <a:prstGeom prst="roundRect">
            <a:avLst>
              <a:gd name="adj" fmla="val 3995"/>
            </a:avLst>
          </a:prstGeom>
          <a:solidFill>
            <a:srgbClr val="FFFFFF"/>
          </a:solidFill>
          <a:ln w="6350">
            <a:solidFill>
              <a:srgbClr val="DDD8CC"/>
            </a:solidFill>
            <a:prstDash val="solid"/>
          </a:ln>
        </p:spPr>
      </p:sp>
      <p:sp>
        <p:nvSpPr>
          <p:cNvPr id="13" name="Text 11"/>
          <p:cNvSpPr/>
          <p:nvPr/>
        </p:nvSpPr>
        <p:spPr>
          <a:xfrm>
            <a:off x="7385050" y="2063700"/>
            <a:ext cx="3845814" cy="238720"/>
          </a:xfrm>
          <a:prstGeom prst="rect">
            <a:avLst/>
          </a:prstGeom>
          <a:noFill/>
        </p:spPr>
        <p:txBody>
          <a:bodyPr wrap="square" lIns="0" tIns="0" rIns="0" bIns="0" rtlCol="0" anchor="t">
            <a:normAutofit/>
          </a:bodyPr>
          <a:lstStyle/>
          <a:p>
            <a:pPr marL="0" indent="0" algn="l">
              <a:lnSpc>
                <a:spcPts val="1680"/>
              </a:lnSpc>
              <a:buNone/>
            </a:pPr>
            <a:r>
              <a:rPr lang="en-US" sz="1200" b="1" kern="0" spc="100">
                <a:solidFill>
                  <a:srgbClr val="B4490F"/>
                </a:solidFill>
                <a:latin typeface="DM Sans" pitchFamily="34" charset="0"/>
                <a:ea typeface="DM Sans" pitchFamily="34" charset="-122"/>
                <a:cs typeface="DM Sans" pitchFamily="34" charset="-120"/>
              </a:rPr>
              <a:t>EXPLAIN IT LIKE THIS</a:t>
            </a:r>
            <a:endParaRPr lang="en-US" sz="1200"/>
          </a:p>
        </p:txBody>
      </p:sp>
      <p:sp>
        <p:nvSpPr>
          <p:cNvPr id="14" name="Text 12"/>
          <p:cNvSpPr/>
          <p:nvPr/>
        </p:nvSpPr>
        <p:spPr>
          <a:xfrm>
            <a:off x="7451427" y="2378621"/>
            <a:ext cx="3771817" cy="878780"/>
          </a:xfrm>
          <a:prstGeom prst="rect">
            <a:avLst/>
          </a:prstGeom>
          <a:noFill/>
        </p:spPr>
        <p:txBody>
          <a:bodyPr wrap="square" lIns="0" tIns="0" rIns="0" bIns="0" rtlCol="0" anchor="t">
            <a:normAutofit/>
          </a:bodyPr>
          <a:lstStyle/>
          <a:p>
            <a:pPr marL="187325" indent="-187325" algn="l">
              <a:lnSpc>
                <a:spcPts val="2240"/>
              </a:lnSpc>
              <a:buSzPct val="100000"/>
              <a:buFontTx/>
              <a:buAutoNum type="arabicPeriod"/>
            </a:pPr>
            <a:r>
              <a:rPr lang="en-US" sz="1400">
                <a:solidFill>
                  <a:srgbClr val="14213D"/>
                </a:solidFill>
                <a:latin typeface="DM Sans" pitchFamily="34" charset="0"/>
                <a:ea typeface="DM Sans" pitchFamily="34" charset="-122"/>
                <a:cs typeface="DM Sans" pitchFamily="34" charset="-120"/>
              </a:rPr>
              <a:t>Say what the code does</a:t>
            </a:r>
            <a:endParaRPr lang="en-US" sz="1400"/>
          </a:p>
          <a:p>
            <a:pPr marL="187325" indent="-187325" algn="l">
              <a:lnSpc>
                <a:spcPts val="2240"/>
              </a:lnSpc>
              <a:buSzPct val="100000"/>
              <a:buFontTx/>
              <a:buAutoNum type="arabicPeriod"/>
            </a:pPr>
            <a:r>
              <a:rPr lang="en-US" sz="1400">
                <a:solidFill>
                  <a:srgbClr val="14213D"/>
                </a:solidFill>
                <a:latin typeface="DM Sans" pitchFamily="34" charset="0"/>
                <a:ea typeface="DM Sans" pitchFamily="34" charset="-122"/>
                <a:cs typeface="DM Sans" pitchFamily="34" charset="-120"/>
              </a:rPr>
              <a:t>Walk through the logic step by step</a:t>
            </a:r>
            <a:endParaRPr lang="en-US" sz="1400"/>
          </a:p>
          <a:p>
            <a:pPr marL="187325" indent="-187325" algn="l">
              <a:lnSpc>
                <a:spcPts val="2240"/>
              </a:lnSpc>
              <a:buSzPct val="100000"/>
              <a:buFontTx/>
              <a:buAutoNum type="arabicPeriod"/>
            </a:pPr>
            <a:r>
              <a:rPr lang="en-US" sz="1400">
                <a:solidFill>
                  <a:srgbClr val="14213D"/>
                </a:solidFill>
                <a:latin typeface="DM Sans" pitchFamily="34" charset="0"/>
                <a:ea typeface="DM Sans" pitchFamily="34" charset="-122"/>
                <a:cs typeface="DM Sans" pitchFamily="34" charset="-120"/>
              </a:rPr>
              <a:t>Name the Java concept used</a:t>
            </a:r>
            <a:endParaRPr lang="en-US" sz="1400"/>
          </a:p>
        </p:txBody>
      </p:sp>
      <p:sp>
        <p:nvSpPr>
          <p:cNvPr id="15" name="Text 13"/>
          <p:cNvSpPr/>
          <p:nvPr/>
        </p:nvSpPr>
        <p:spPr>
          <a:xfrm>
            <a:off x="812800" y="6238280"/>
            <a:ext cx="7848600" cy="238720"/>
          </a:xfrm>
          <a:prstGeom prst="rect">
            <a:avLst/>
          </a:prstGeom>
          <a:noFill/>
        </p:spPr>
        <p:txBody>
          <a:bodyPr wrap="square" lIns="0" tIns="0" rIns="0" bIns="0" rtlCol="0" anchor="t">
            <a:normAutofit/>
          </a:bodyPr>
          <a:lstStyle/>
          <a:p>
            <a:pPr marL="0" indent="0" algn="l">
              <a:lnSpc>
                <a:spcPts val="1680"/>
              </a:lnSpc>
              <a:buNone/>
            </a:pPr>
            <a:r>
              <a:rPr lang="en-US" sz="1200">
                <a:solidFill>
                  <a:srgbClr val="4A5568"/>
                </a:solidFill>
                <a:latin typeface="DM Sans"/>
                <a:ea typeface="DM Sans" pitchFamily="34" charset="-122"/>
                <a:cs typeface="DM Sans" pitchFamily="34" charset="-120"/>
              </a:rPr>
              <a:t>14 · [FRZII-PAY]</a:t>
            </a:r>
            <a:endParaRPr lang="en-US" sz="1200">
              <a:latin typeface="DM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a:solidFill>
                  <a:srgbClr val="B4490F"/>
                </a:solidFill>
                <a:latin typeface="DM Sans" pitchFamily="34" charset="0"/>
                <a:ea typeface="DM Sans" pitchFamily="34" charset="-122"/>
                <a:cs typeface="DM Sans" pitchFamily="34" charset="-120"/>
              </a:rPr>
              <a:t>PART 4 · BUILD</a:t>
            </a:r>
            <a:endParaRPr lang="en-US" sz="1200"/>
          </a:p>
        </p:txBody>
      </p:sp>
      <p:sp>
        <p:nvSpPr>
          <p:cNvPr id="3" name="Text 1"/>
          <p:cNvSpPr>
            <a:spLocks noGrp="1"/>
          </p:cNvSpPr>
          <p:nvPr>
            <p:ph type="title"/>
          </p:nvPr>
        </p:nvSpPr>
        <p:spPr>
          <a:xfrm>
            <a:off x="812800" y="1102320"/>
            <a:ext cx="10883392" cy="472430"/>
          </a:xfrm>
          <a:prstGeom prst="rect">
            <a:avLst/>
          </a:prstGeom>
          <a:noFill/>
        </p:spPr>
        <p:txBody>
          <a:bodyPr wrap="square" lIns="0" tIns="0" rIns="0" bIns="0" rtlCol="0" anchor="t">
            <a:normAutofit/>
          </a:bodyPr>
          <a:lstStyle/>
          <a:p>
            <a:pPr marL="0" indent="0" algn="l">
              <a:lnSpc>
                <a:spcPts val="3520"/>
              </a:lnSpc>
              <a:buNone/>
            </a:pPr>
            <a:r>
              <a:rPr lang="en-US" sz="3200" b="1" i="0">
                <a:solidFill>
                  <a:srgbClr val="14213D"/>
                </a:solidFill>
                <a:latin typeface="DM Sans" pitchFamily="34" charset="0"/>
                <a:ea typeface="DM Sans" pitchFamily="34" charset="-122"/>
                <a:cs typeface="DM Sans" pitchFamily="34" charset="-120"/>
              </a:rPr>
              <a:t>Output Screenshots</a:t>
            </a:r>
            <a:endParaRPr lang="en-US" sz="3200"/>
          </a:p>
        </p:txBody>
      </p:sp>
      <p:pic>
        <p:nvPicPr>
          <p:cNvPr id="20" name="Output 1" descr="Splash screen screenshot"/>
          <p:cNvPicPr>
            <a:picLocks noChangeAspect="1"/>
          </p:cNvPicPr>
          <p:nvPr/>
        </p:nvPicPr>
        <p:blipFill>
          <a:blip r:embed="rId1"/>
          <a:stretch>
            <a:fillRect/>
          </a:stretch>
        </p:blipFill>
        <p:spPr>
          <a:xfrm>
            <a:off x="812800" y="1812875"/>
            <a:ext cx="3778252" cy="2900000"/>
          </a:xfrm>
          <a:prstGeom prst="roundRect">
            <a:avLst>
              <a:gd name="adj" fmla="val 2000"/>
            </a:avLst>
          </a:prstGeom>
          <a:ln w="19050">
            <a:solidFill>
              <a:srgbClr val="B4490F"/>
            </a:solidFill>
          </a:ln>
        </p:spPr>
      </p:pic>
      <p:sp>
        <p:nvSpPr>
          <p:cNvPr id="21" name="Caption title 1"/>
          <p:cNvSpPr txBox="1"/>
          <p:nvPr/>
        </p:nvSpPr>
        <p:spPr>
          <a:xfrm>
            <a:off x="812800" y="4862875"/>
            <a:ext cx="3778252" cy="254000"/>
          </a:xfrm>
          <a:prstGeom prst="rect">
            <a:avLst/>
          </a:prstGeom>
          <a:noFill/>
        </p:spPr>
        <p:txBody>
          <a:bodyPr wrap="square" lIns="0" tIns="0" rIns="0" bIns="0" rtlCol="0" anchor="t">
            <a:noAutofit/>
          </a:bodyPr>
          <a:lstStyle/>
          <a:p>
            <a:pPr marL="0" indent="0" algn="ctr">
              <a:buNone/>
            </a:pPr>
            <a:r>
              <a:rPr lang="en-US" sz="1500" b="1">
                <a:solidFill>
                  <a:srgbClr val="14213D"/>
                </a:solidFill>
                <a:latin typeface="DM Sans" pitchFamily="34" charset="0"/>
                <a:ea typeface="DM Sans" pitchFamily="34" charset="-122"/>
                <a:cs typeface="DM Sans" pitchFamily="34" charset="-120"/>
              </a:rPr>
              <a:t>1. Splash screen</a:t>
            </a:r>
            <a:endParaRPr lang="en-US" sz="1500" b="1">
              <a:solidFill>
                <a:srgbClr val="14213D"/>
              </a:solidFill>
              <a:latin typeface="DM Sans" pitchFamily="34" charset="0"/>
              <a:ea typeface="DM Sans" pitchFamily="34" charset="-122"/>
              <a:cs typeface="DM Sans" pitchFamily="34" charset="-120"/>
            </a:endParaRPr>
          </a:p>
        </p:txBody>
      </p:sp>
      <p:sp>
        <p:nvSpPr>
          <p:cNvPr id="22" name="Caption text 1"/>
          <p:cNvSpPr txBox="1"/>
          <p:nvPr/>
        </p:nvSpPr>
        <p:spPr>
          <a:xfrm>
            <a:off x="812800" y="5162875"/>
            <a:ext cx="3778252" cy="800000"/>
          </a:xfrm>
          <a:prstGeom prst="rect">
            <a:avLst/>
          </a:prstGeom>
          <a:noFill/>
        </p:spPr>
        <p:txBody>
          <a:bodyPr wrap="square" lIns="0" tIns="0" rIns="0" bIns="0" rtlCol="0" anchor="t">
            <a:noAutofit/>
          </a:bodyPr>
          <a:lstStyle/>
          <a:p>
            <a:pPr marL="0" indent="0" algn="ctr">
              <a:buNone/>
            </a:pPr>
            <a:r>
              <a:rPr lang="en-US" sz="1400" b="0">
                <a:solidFill>
                  <a:srgbClr val="4A5568"/>
                </a:solidFill>
                <a:latin typeface="DM Sans" pitchFamily="34" charset="0"/>
                <a:ea typeface="DM Sans" pitchFamily="34" charset="-122"/>
                <a:cs typeface="DM Sans" pitchFamily="34" charset="-120"/>
              </a:rPr>
              <a:t>App launch with the encrypted core loading bar.</a:t>
            </a:r>
            <a:endParaRPr lang="en-US" sz="1400" b="0">
              <a:solidFill>
                <a:srgbClr val="4A5568"/>
              </a:solidFill>
              <a:latin typeface="DM Sans" pitchFamily="34" charset="0"/>
              <a:ea typeface="DM Sans" pitchFamily="34" charset="-122"/>
              <a:cs typeface="DM Sans" pitchFamily="34" charset="-120"/>
            </a:endParaRPr>
          </a:p>
        </p:txBody>
      </p:sp>
      <p:sp>
        <p:nvSpPr>
          <p:cNvPr id="24" name="Caption title 2"/>
          <p:cNvSpPr txBox="1"/>
          <p:nvPr/>
        </p:nvSpPr>
        <p:spPr>
          <a:xfrm>
            <a:off x="5688559" y="4862875"/>
            <a:ext cx="3600000" cy="254000"/>
          </a:xfrm>
          <a:prstGeom prst="rect">
            <a:avLst/>
          </a:prstGeom>
          <a:noFill/>
        </p:spPr>
        <p:txBody>
          <a:bodyPr wrap="square" lIns="0" tIns="0" rIns="0" bIns="0" rtlCol="0" anchor="t">
            <a:noAutofit/>
          </a:bodyPr>
          <a:lstStyle/>
          <a:p>
            <a:pPr marL="0" indent="0" algn="ctr">
              <a:buNone/>
            </a:pPr>
            <a:r>
              <a:rPr lang="en-US" sz="1500" b="1">
                <a:solidFill>
                  <a:srgbClr val="14213D"/>
                </a:solidFill>
                <a:latin typeface="DM Sans" pitchFamily="34" charset="0"/>
                <a:ea typeface="DM Sans" pitchFamily="34" charset="-122"/>
                <a:cs typeface="DM Sans" pitchFamily="34" charset="-120"/>
              </a:rPr>
              <a:t>2. Payment screen</a:t>
            </a:r>
            <a:endParaRPr lang="en-US" sz="1500" b="1">
              <a:solidFill>
                <a:srgbClr val="14213D"/>
              </a:solidFill>
              <a:latin typeface="DM Sans" pitchFamily="34" charset="0"/>
              <a:ea typeface="DM Sans" pitchFamily="34" charset="-122"/>
              <a:cs typeface="DM Sans" pitchFamily="34" charset="-120"/>
            </a:endParaRPr>
          </a:p>
        </p:txBody>
      </p:sp>
      <p:sp>
        <p:nvSpPr>
          <p:cNvPr id="25" name="Caption text 2"/>
          <p:cNvSpPr txBox="1"/>
          <p:nvPr/>
        </p:nvSpPr>
        <p:spPr>
          <a:xfrm>
            <a:off x="5688559" y="5162875"/>
            <a:ext cx="3600000" cy="800000"/>
          </a:xfrm>
          <a:prstGeom prst="rect">
            <a:avLst/>
          </a:prstGeom>
          <a:noFill/>
        </p:spPr>
        <p:txBody>
          <a:bodyPr wrap="square" lIns="0" tIns="0" rIns="0" bIns="0" rtlCol="0" anchor="t">
            <a:noAutofit/>
          </a:bodyPr>
          <a:lstStyle/>
          <a:p>
            <a:pPr marL="0" indent="0" algn="ctr">
              <a:buNone/>
            </a:pPr>
            <a:r>
              <a:rPr lang="en-US" sz="1400" b="0">
                <a:solidFill>
                  <a:srgbClr val="4A5568"/>
                </a:solidFill>
                <a:latin typeface="DM Sans" pitchFamily="34" charset="0"/>
                <a:ea typeface="DM Sans" pitchFamily="34" charset="-122"/>
                <a:cs typeface="DM Sans" pitchFamily="34" charset="-120"/>
              </a:rPr>
              <a:t>Receiver name, UPI ID and amount are validated, then a UPI QR is generated.</a:t>
            </a:r>
            <a:endParaRPr lang="en-US" sz="1400" b="0">
              <a:solidFill>
                <a:srgbClr val="4A5568"/>
              </a:solidFill>
              <a:latin typeface="DM Sans" pitchFamily="34" charset="0"/>
              <a:ea typeface="DM Sans" pitchFamily="34" charset="-122"/>
              <a:cs typeface="DM Sans" pitchFamily="34" charset="-120"/>
            </a:endParaRPr>
          </a:p>
        </p:txBody>
      </p:sp>
      <p:pic>
        <p:nvPicPr>
          <p:cNvPr id="26" name="Output 3" descr="Payment receipt screenshot"/>
          <p:cNvPicPr>
            <a:picLocks noChangeAspect="1"/>
          </p:cNvPicPr>
          <p:nvPr/>
        </p:nvPicPr>
        <p:blipFill>
          <a:blip r:embed="rId2"/>
          <a:stretch>
            <a:fillRect/>
          </a:stretch>
        </p:blipFill>
        <p:spPr>
          <a:xfrm>
            <a:off x="10386066" y="1812875"/>
            <a:ext cx="1305000" cy="2900000"/>
          </a:xfrm>
          <a:prstGeom prst="roundRect">
            <a:avLst>
              <a:gd name="adj" fmla="val 2000"/>
            </a:avLst>
          </a:prstGeom>
          <a:ln w="19050">
            <a:solidFill>
              <a:srgbClr val="B4490F"/>
            </a:solidFill>
          </a:ln>
        </p:spPr>
      </p:pic>
      <p:sp>
        <p:nvSpPr>
          <p:cNvPr id="27" name="Caption title 3"/>
          <p:cNvSpPr txBox="1"/>
          <p:nvPr/>
        </p:nvSpPr>
        <p:spPr>
          <a:xfrm>
            <a:off x="9241066" y="4862875"/>
            <a:ext cx="2450000" cy="254000"/>
          </a:xfrm>
          <a:prstGeom prst="rect">
            <a:avLst/>
          </a:prstGeom>
          <a:noFill/>
        </p:spPr>
        <p:txBody>
          <a:bodyPr wrap="square" lIns="0" tIns="0" rIns="0" bIns="0" rtlCol="0" anchor="t">
            <a:noAutofit/>
          </a:bodyPr>
          <a:lstStyle/>
          <a:p>
            <a:pPr marL="0" indent="0" algn="r">
              <a:buNone/>
            </a:pPr>
            <a:r>
              <a:rPr lang="en-US" sz="1500" b="1">
                <a:solidFill>
                  <a:srgbClr val="14213D"/>
                </a:solidFill>
                <a:latin typeface="DM Sans" pitchFamily="34" charset="0"/>
                <a:ea typeface="DM Sans" pitchFamily="34" charset="-122"/>
                <a:cs typeface="DM Sans" pitchFamily="34" charset="-120"/>
              </a:rPr>
              <a:t>3. Payment receipt</a:t>
            </a:r>
            <a:endParaRPr lang="en-US" sz="1500" b="1">
              <a:solidFill>
                <a:srgbClr val="14213D"/>
              </a:solidFill>
              <a:latin typeface="DM Sans" pitchFamily="34" charset="0"/>
              <a:ea typeface="DM Sans" pitchFamily="34" charset="-122"/>
              <a:cs typeface="DM Sans" pitchFamily="34" charset="-120"/>
            </a:endParaRPr>
          </a:p>
        </p:txBody>
      </p:sp>
      <p:sp>
        <p:nvSpPr>
          <p:cNvPr id="28" name="Caption text 3"/>
          <p:cNvSpPr txBox="1"/>
          <p:nvPr/>
        </p:nvSpPr>
        <p:spPr>
          <a:xfrm>
            <a:off x="9241066" y="5162875"/>
            <a:ext cx="2450000" cy="800000"/>
          </a:xfrm>
          <a:prstGeom prst="rect">
            <a:avLst/>
          </a:prstGeom>
          <a:noFill/>
        </p:spPr>
        <p:txBody>
          <a:bodyPr wrap="square" lIns="0" tIns="0" rIns="0" bIns="0" rtlCol="0" anchor="t">
            <a:noAutofit/>
          </a:bodyPr>
          <a:lstStyle/>
          <a:p>
            <a:pPr marL="0" indent="0" algn="r">
              <a:buNone/>
            </a:pPr>
            <a:r>
              <a:rPr lang="en-US" sz="1400" b="0">
                <a:solidFill>
                  <a:srgbClr val="4A5568"/>
                </a:solidFill>
                <a:latin typeface="DM Sans" pitchFamily="34" charset="0"/>
                <a:ea typeface="DM Sans" pitchFamily="34" charset="-122"/>
                <a:cs typeface="DM Sans" pitchFamily="34" charset="-120"/>
              </a:rPr>
              <a:t>Success screen with receiver, bank and transaction ID.</a:t>
            </a:r>
            <a:endParaRPr lang="en-US" sz="1400" b="0">
              <a:solidFill>
                <a:srgbClr val="4A5568"/>
              </a:solidFill>
              <a:latin typeface="DM Sans" pitchFamily="34" charset="0"/>
              <a:ea typeface="DM Sans" pitchFamily="34" charset="-122"/>
              <a:cs typeface="DM Sans" pitchFamily="34" charset="-120"/>
            </a:endParaRPr>
          </a:p>
        </p:txBody>
      </p:sp>
      <p:sp>
        <p:nvSpPr>
          <p:cNvPr id="17" name="Text 12"/>
          <p:cNvSpPr/>
          <p:nvPr/>
        </p:nvSpPr>
        <p:spPr>
          <a:xfrm>
            <a:off x="812800" y="6238280"/>
            <a:ext cx="7848600" cy="238720"/>
          </a:xfrm>
          <a:prstGeom prst="rect">
            <a:avLst/>
          </a:prstGeom>
          <a:noFill/>
        </p:spPr>
        <p:txBody>
          <a:bodyPr wrap="square" lIns="0" tIns="0" rIns="0" bIns="0" rtlCol="0" anchor="t">
            <a:normAutofit/>
          </a:bodyPr>
          <a:lstStyle/>
          <a:p>
            <a:pPr marL="0" indent="0" algn="l">
              <a:lnSpc>
                <a:spcPts val="1680"/>
              </a:lnSpc>
              <a:buNone/>
            </a:pPr>
            <a:r>
              <a:rPr lang="en-US" sz="1200">
                <a:solidFill>
                  <a:srgbClr val="4A5568"/>
                </a:solidFill>
                <a:latin typeface="DM Sans"/>
                <a:ea typeface="DM Sans" pitchFamily="34" charset="-122"/>
                <a:cs typeface="DM Sans" pitchFamily="34" charset="-120"/>
              </a:rPr>
              <a:t>15 · [FARZIII-PAY]</a:t>
            </a:r>
            <a:endParaRPr lang="en-US" sz="1200">
              <a:latin typeface="DM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CE8D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a:solidFill>
                  <a:srgbClr val="B4490F"/>
                </a:solidFill>
                <a:latin typeface="DM Sans" pitchFamily="34" charset="0"/>
                <a:ea typeface="DM Sans" pitchFamily="34" charset="-122"/>
                <a:cs typeface="DM Sans" pitchFamily="34" charset="-120"/>
              </a:rPr>
              <a:t>PART 4 · BUILD</a:t>
            </a:r>
            <a:endParaRPr lang="en-US" sz="1200"/>
          </a:p>
        </p:txBody>
      </p:sp>
      <p:sp>
        <p:nvSpPr>
          <p:cNvPr id="3" name="Text 1"/>
          <p:cNvSpPr>
            <a:spLocks noGrp="1"/>
          </p:cNvSpPr>
          <p:nvPr>
            <p:ph type="title"/>
          </p:nvPr>
        </p:nvSpPr>
        <p:spPr>
          <a:xfrm>
            <a:off x="812800" y="1102320"/>
            <a:ext cx="10883392" cy="472430"/>
          </a:xfrm>
          <a:prstGeom prst="rect">
            <a:avLst/>
          </a:prstGeom>
          <a:noFill/>
        </p:spPr>
        <p:txBody>
          <a:bodyPr wrap="square" lIns="0" tIns="0" rIns="0" bIns="0" rtlCol="0" anchor="t">
            <a:normAutofit/>
          </a:bodyPr>
          <a:lstStyle/>
          <a:p>
            <a:pPr marL="0" indent="0" algn="l">
              <a:lnSpc>
                <a:spcPts val="3520"/>
              </a:lnSpc>
              <a:buNone/>
            </a:pPr>
            <a:r>
              <a:rPr lang="en-US" sz="3200" b="1" i="0">
                <a:solidFill>
                  <a:srgbClr val="14213D"/>
                </a:solidFill>
                <a:latin typeface="DM Sans" pitchFamily="34" charset="0"/>
                <a:ea typeface="DM Sans" pitchFamily="34" charset="-122"/>
                <a:cs typeface="DM Sans" pitchFamily="34" charset="-120"/>
              </a:rPr>
              <a:t>Testing</a:t>
            </a:r>
            <a:endParaRPr lang="en-US" sz="3200"/>
          </a:p>
        </p:txBody>
      </p:sp>
      <p:sp>
        <p:nvSpPr>
          <p:cNvPr id="4" name="Shape 2"/>
          <p:cNvSpPr/>
          <p:nvPr/>
        </p:nvSpPr>
        <p:spPr>
          <a:xfrm>
            <a:off x="815975" y="1806525"/>
            <a:ext cx="10560050" cy="2120454"/>
          </a:xfrm>
          <a:prstGeom prst="roundRect">
            <a:avLst>
              <a:gd name="adj" fmla="val 4642"/>
            </a:avLst>
          </a:prstGeom>
          <a:solidFill>
            <a:srgbClr val="FFFFFF"/>
          </a:solidFill>
          <a:ln w="6350">
            <a:solidFill>
              <a:srgbClr val="DDD8CC"/>
            </a:solidFill>
            <a:prstDash val="solid"/>
          </a:ln>
        </p:spPr>
      </p:sp>
      <p:graphicFrame>
        <p:nvGraphicFramePr>
          <p:cNvPr id="5" name="Table 0"/>
          <p:cNvGraphicFramePr>
            <a:graphicFrameLocks noGrp="1"/>
          </p:cNvGraphicFramePr>
          <p:nvPr/>
        </p:nvGraphicFramePr>
        <p:xfrm>
          <a:off x="984250" y="1974800"/>
          <a:ext cx="10236200" cy="2000085"/>
        </p:xfrm>
        <a:graphic>
          <a:graphicData uri="http://schemas.openxmlformats.org/drawingml/2006/table">
            <a:tbl>
              <a:tblPr/>
              <a:tblGrid>
                <a:gridCol w="1228344"/>
                <a:gridCol w="2456688"/>
                <a:gridCol w="2661412"/>
                <a:gridCol w="2661412"/>
                <a:gridCol w="1228344"/>
              </a:tblGrid>
              <a:tr h="359321">
                <a:tc>
                  <a:txBody>
                    <a:bodyPr/>
                    <a:lstStyle/>
                    <a:p>
                      <a:pPr marL="0" indent="0">
                        <a:lnSpc>
                          <a:spcPts val="1820"/>
                        </a:lnSpc>
                        <a:buNone/>
                      </a:pPr>
                      <a:r>
                        <a:rPr lang="en-US" sz="1300" b="1">
                          <a:solidFill>
                            <a:srgbClr val="14213D"/>
                          </a:solidFill>
                          <a:latin typeface="DM Sans" pitchFamily="34" charset="0"/>
                          <a:ea typeface="DM Sans" pitchFamily="34" charset="-122"/>
                          <a:cs typeface="DM Sans" pitchFamily="34" charset="-120"/>
                        </a:rPr>
                        <a:t>Test ID</a:t>
                      </a:r>
                      <a:endParaRPr lang="en-US" sz="1300">
                        <a:latin typeface="DM Sans" pitchFamily="34" charset="0"/>
                        <a:ea typeface="DM Sans" pitchFamily="34" charset="0"/>
                        <a:cs typeface="DM Sans" pitchFamily="34"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820"/>
                        </a:lnSpc>
                        <a:buNone/>
                      </a:pPr>
                      <a:r>
                        <a:rPr lang="en-US" sz="1300" b="1">
                          <a:solidFill>
                            <a:srgbClr val="14213D"/>
                          </a:solidFill>
                          <a:latin typeface="DM Sans" pitchFamily="34" charset="0"/>
                          <a:ea typeface="DM Sans" pitchFamily="34" charset="-122"/>
                          <a:cs typeface="DM Sans" pitchFamily="34" charset="-120"/>
                        </a:rPr>
                        <a:t>Input</a:t>
                      </a:r>
                      <a:endParaRPr lang="en-US" sz="1300">
                        <a:latin typeface="DM Sans" pitchFamily="34" charset="0"/>
                        <a:ea typeface="DM Sans" pitchFamily="34" charset="0"/>
                        <a:cs typeface="DM Sans" pitchFamily="34" charset="0"/>
                      </a:endParaRPr>
                    </a:p>
                  </a:txBody>
                  <a:tcPr marL="57785" marR="57785" marT="57785" marB="57785">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820"/>
                        </a:lnSpc>
                        <a:buNone/>
                      </a:pPr>
                      <a:r>
                        <a:rPr lang="en-US" sz="1300" b="1">
                          <a:solidFill>
                            <a:srgbClr val="14213D"/>
                          </a:solidFill>
                          <a:latin typeface="DM Sans" pitchFamily="34" charset="0"/>
                          <a:ea typeface="DM Sans" pitchFamily="34" charset="-122"/>
                          <a:cs typeface="DM Sans" pitchFamily="34" charset="-120"/>
                        </a:rPr>
                        <a:t>Expected</a:t>
                      </a:r>
                      <a:endParaRPr lang="en-US" sz="1300">
                        <a:latin typeface="DM Sans" pitchFamily="34" charset="0"/>
                        <a:ea typeface="DM Sans" pitchFamily="34" charset="0"/>
                        <a:cs typeface="DM Sans" pitchFamily="34" charset="0"/>
                      </a:endParaRPr>
                    </a:p>
                  </a:txBody>
                  <a:tcPr marL="57785" marR="57785" marT="57785" marB="57785">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820"/>
                        </a:lnSpc>
                        <a:buNone/>
                      </a:pPr>
                      <a:r>
                        <a:rPr lang="en-US" sz="1300" b="1">
                          <a:solidFill>
                            <a:srgbClr val="14213D"/>
                          </a:solidFill>
                          <a:latin typeface="DM Sans" pitchFamily="34" charset="0"/>
                          <a:ea typeface="DM Sans" pitchFamily="34" charset="-122"/>
                          <a:cs typeface="DM Sans" pitchFamily="34" charset="-120"/>
                        </a:rPr>
                        <a:t>Actual</a:t>
                      </a:r>
                      <a:endParaRPr lang="en-US" sz="1300">
                        <a:latin typeface="DM Sans" pitchFamily="34" charset="0"/>
                        <a:ea typeface="DM Sans" pitchFamily="34" charset="0"/>
                        <a:cs typeface="DM Sans" pitchFamily="34" charset="0"/>
                      </a:endParaRPr>
                    </a:p>
                  </a:txBody>
                  <a:tcPr marL="57785" marR="57785" marT="57785" marB="57785">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820"/>
                        </a:lnSpc>
                        <a:buNone/>
                      </a:pPr>
                      <a:r>
                        <a:rPr lang="en-US" sz="1300" b="1">
                          <a:solidFill>
                            <a:srgbClr val="14213D"/>
                          </a:solidFill>
                          <a:latin typeface="DM Sans" pitchFamily="34" charset="0"/>
                          <a:ea typeface="DM Sans" pitchFamily="34" charset="-122"/>
                          <a:cs typeface="DM Sans" pitchFamily="34" charset="-120"/>
                        </a:rPr>
                        <a:t>Result</a:t>
                      </a:r>
                      <a:endParaRPr lang="en-US" sz="1300">
                        <a:latin typeface="DM Sans" pitchFamily="34" charset="0"/>
                        <a:ea typeface="DM Sans" pitchFamily="34" charset="0"/>
                        <a:cs typeface="DM Sans" pitchFamily="34" charset="0"/>
                      </a:endParaRPr>
                    </a:p>
                  </a:txBody>
                  <a:tcPr marL="57785" marR="57785" marT="57785" marB="57785">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59321">
                <a:tc>
                  <a:txBody>
                    <a:bodyPr/>
                    <a:lstStyle/>
                    <a:p>
                      <a:pPr marL="0" indent="0">
                        <a:lnSpc>
                          <a:spcPts val="1820"/>
                        </a:lnSpc>
                        <a:buNone/>
                      </a:pPr>
                      <a:r>
                        <a:rPr lang="en-US" sz="1300">
                          <a:solidFill>
                            <a:srgbClr val="14213D"/>
                          </a:solidFill>
                          <a:latin typeface="DM Sans" pitchFamily="34" charset="0"/>
                          <a:ea typeface="DM Sans" pitchFamily="34" charset="-122"/>
                          <a:cs typeface="DM Sans" pitchFamily="34" charset="-120"/>
                        </a:rPr>
                        <a:t>TC01</a:t>
                      </a:r>
                      <a:endParaRPr lang="en-US" sz="1300">
                        <a:latin typeface="DM Sans" pitchFamily="34" charset="0"/>
                        <a:ea typeface="DM Sans" pitchFamily="34" charset="0"/>
                        <a:cs typeface="DM Sans" pitchFamily="34"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DM Sans"/>
                          <a:ea typeface="DM Sans" pitchFamily="34" charset="-122"/>
                          <a:cs typeface="DM Sans" pitchFamily="34" charset="-120"/>
                        </a:rPr>
                        <a:t>[Valid </a:t>
                      </a:r>
                      <a:r>
                        <a:rPr lang="en-US" sz="1300" dirty="0" err="1">
                          <a:solidFill>
                            <a:srgbClr val="14213D"/>
                          </a:solidFill>
                          <a:latin typeface="DM Sans"/>
                          <a:ea typeface="DM Sans" pitchFamily="34" charset="-122"/>
                          <a:cs typeface="DM Sans" pitchFamily="34" charset="-120"/>
                        </a:rPr>
                        <a:t>name,UPI</a:t>
                      </a:r>
                      <a:r>
                        <a:rPr lang="en-US" sz="1300" dirty="0">
                          <a:solidFill>
                            <a:srgbClr val="14213D"/>
                          </a:solidFill>
                          <a:latin typeface="DM Sans"/>
                          <a:ea typeface="DM Sans" pitchFamily="34" charset="-122"/>
                          <a:cs typeface="DM Sans" pitchFamily="34" charset="-120"/>
                        </a:rPr>
                        <a:t> &amp;amount]</a:t>
                      </a:r>
                      <a:endParaRPr lang="en-US" sz="1300" dirty="0">
                        <a:latin typeface="DM Sans"/>
                        <a:ea typeface="DM Sans" pitchFamily="34" charset="0"/>
                        <a:cs typeface="DM Sans" pitchFamily="34"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DM Sans"/>
                          <a:ea typeface="DM Sans" pitchFamily="34" charset="0"/>
                          <a:cs typeface="DM Sans" pitchFamily="34" charset="0"/>
                        </a:rPr>
                        <a:t>[</a:t>
                      </a:r>
                      <a:r>
                        <a:rPr lang="en-US" sz="1300" dirty="0" err="1">
                          <a:solidFill>
                            <a:srgbClr val="14213D"/>
                          </a:solidFill>
                          <a:latin typeface="DM Sans"/>
                          <a:ea typeface="DM Sans" pitchFamily="34" charset="0"/>
                          <a:cs typeface="DM Sans" pitchFamily="34" charset="0"/>
                        </a:rPr>
                        <a:t>qr</a:t>
                      </a:r>
                      <a:r>
                        <a:rPr lang="en-US" sz="1300" dirty="0">
                          <a:solidFill>
                            <a:srgbClr val="14213D"/>
                          </a:solidFill>
                          <a:latin typeface="DM Sans"/>
                          <a:ea typeface="DM Sans" pitchFamily="34" charset="0"/>
                          <a:cs typeface="DM Sans" pitchFamily="34" charset="0"/>
                        </a:rPr>
                        <a:t> code generated &amp; time starts]</a:t>
                      </a:r>
                      <a:endParaRPr lang="en-US" sz="1300" dirty="0">
                        <a:latin typeface="DM Sans"/>
                        <a:ea typeface="DM Sans" pitchFamily="34" charset="0"/>
                        <a:cs typeface="DM Sans" pitchFamily="34"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DM Sans"/>
                          <a:ea typeface="DM Sans" pitchFamily="34" charset="0"/>
                          <a:cs typeface="DM Sans" pitchFamily="34" charset="0"/>
                        </a:rPr>
                        <a:t>[</a:t>
                      </a:r>
                      <a:r>
                        <a:rPr lang="en-US" sz="1300" b="0" i="0" u="none" strike="noStrike" noProof="0" dirty="0" err="1">
                          <a:solidFill>
                            <a:srgbClr val="14213D"/>
                          </a:solidFill>
                          <a:latin typeface="DM Sans"/>
                          <a:ea typeface="DM Sans" pitchFamily="34" charset="0"/>
                          <a:cs typeface="DM Sans" pitchFamily="34" charset="0"/>
                        </a:rPr>
                        <a:t>qr</a:t>
                      </a:r>
                      <a:r>
                        <a:rPr lang="en-US" sz="1300" b="0" i="0" u="none" strike="noStrike" noProof="0" dirty="0">
                          <a:solidFill>
                            <a:srgbClr val="14213D"/>
                          </a:solidFill>
                          <a:latin typeface="DM Sans"/>
                          <a:ea typeface="DM Sans" pitchFamily="34" charset="0"/>
                          <a:cs typeface="DM Sans" pitchFamily="34" charset="0"/>
                        </a:rPr>
                        <a:t> code generated &amp; time starts</a:t>
                      </a:r>
                      <a:r>
                        <a:rPr lang="en-US" sz="1300" dirty="0">
                          <a:solidFill>
                            <a:srgbClr val="14213D"/>
                          </a:solidFill>
                          <a:latin typeface="DM Sans"/>
                          <a:ea typeface="DM Sans" pitchFamily="34" charset="0"/>
                          <a:cs typeface="DM Sans" pitchFamily="34" charset="0"/>
                        </a:rPr>
                        <a:t>]</a:t>
                      </a:r>
                      <a:endParaRPr lang="en-US" sz="1300" dirty="0">
                        <a:latin typeface="DM Sans"/>
                        <a:ea typeface="DM Sans" pitchFamily="34" charset="0"/>
                        <a:cs typeface="DM Sans" pitchFamily="34"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a:solidFill>
                            <a:srgbClr val="14213D"/>
                          </a:solidFill>
                          <a:latin typeface="DM Sans" pitchFamily="34" charset="0"/>
                          <a:ea typeface="DM Sans" pitchFamily="34" charset="-122"/>
                          <a:cs typeface="DM Sans" pitchFamily="34" charset="-120"/>
                        </a:rPr>
                        <a:t>Pass</a:t>
                      </a:r>
                      <a:endParaRPr lang="en-US" sz="1300">
                        <a:latin typeface="DM Sans" pitchFamily="34" charset="0"/>
                        <a:ea typeface="DM Sans" pitchFamily="34" charset="0"/>
                        <a:cs typeface="DM Sans" pitchFamily="34"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321">
                <a:tc>
                  <a:txBody>
                    <a:bodyPr/>
                    <a:lstStyle/>
                    <a:p>
                      <a:pPr marL="0" indent="0">
                        <a:lnSpc>
                          <a:spcPts val="1820"/>
                        </a:lnSpc>
                        <a:buNone/>
                      </a:pPr>
                      <a:r>
                        <a:rPr lang="en-US" sz="1300">
                          <a:solidFill>
                            <a:srgbClr val="14213D"/>
                          </a:solidFill>
                          <a:latin typeface="DM Sans" pitchFamily="34" charset="0"/>
                          <a:ea typeface="DM Sans" pitchFamily="34" charset="-122"/>
                          <a:cs typeface="DM Sans" pitchFamily="34" charset="-120"/>
                        </a:rPr>
                        <a:t>TC02</a:t>
                      </a:r>
                      <a:endParaRPr lang="en-US" sz="1300">
                        <a:latin typeface="DM Sans" pitchFamily="34" charset="0"/>
                        <a:ea typeface="DM Sans" pitchFamily="34" charset="0"/>
                        <a:cs typeface="DM Sans" pitchFamily="34"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a:solidFill>
                            <a:srgbClr val="14213D"/>
                          </a:solidFill>
                          <a:latin typeface="DM Sans" pitchFamily="34" charset="0"/>
                          <a:ea typeface="DM Sans" pitchFamily="34" charset="-122"/>
                          <a:cs typeface="DM Sans" pitchFamily="34" charset="-120"/>
                        </a:rPr>
                        <a:t>[Wrong password]</a:t>
                      </a:r>
                      <a:endParaRPr lang="en-US" sz="1300">
                        <a:latin typeface="DM Sans" pitchFamily="34" charset="0"/>
                        <a:ea typeface="DM Sans" pitchFamily="34" charset="0"/>
                        <a:cs typeface="DM Sans" pitchFamily="34"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a:solidFill>
                            <a:srgbClr val="14213D"/>
                          </a:solidFill>
                          <a:latin typeface="DM Sans"/>
                          <a:ea typeface="DM Sans" pitchFamily="34" charset="-122"/>
                          <a:cs typeface="DM Sans" pitchFamily="34" charset="-120"/>
                        </a:rPr>
                        <a:t>[Validation Error alert ]</a:t>
                      </a:r>
                      <a:endParaRPr lang="en-US" sz="1300">
                        <a:latin typeface="DM Sans"/>
                        <a:ea typeface="DM Sans" pitchFamily="34" charset="0"/>
                        <a:cs typeface="DM Sans" pitchFamily="34"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a:solidFill>
                            <a:srgbClr val="14213D"/>
                          </a:solidFill>
                          <a:latin typeface="DM Sans"/>
                          <a:ea typeface="DM Sans" pitchFamily="34" charset="0"/>
                          <a:cs typeface="DM Sans" pitchFamily="34" charset="0"/>
                        </a:rPr>
                        <a:t>[</a:t>
                      </a:r>
                      <a:r>
                        <a:rPr lang="en-US" sz="1300" b="0" i="0" u="none" strike="noStrike" noProof="0">
                          <a:solidFill>
                            <a:srgbClr val="14213D"/>
                          </a:solidFill>
                          <a:latin typeface="DM Sans"/>
                          <a:ea typeface="DM Sans" pitchFamily="34" charset="0"/>
                          <a:cs typeface="DM Sans" pitchFamily="34" charset="0"/>
                        </a:rPr>
                        <a:t>Validation Error alert</a:t>
                      </a:r>
                      <a:r>
                        <a:rPr lang="en-US" sz="1300">
                          <a:solidFill>
                            <a:srgbClr val="14213D"/>
                          </a:solidFill>
                          <a:latin typeface="DM Sans"/>
                          <a:ea typeface="DM Sans" pitchFamily="34" charset="0"/>
                          <a:cs typeface="DM Sans" pitchFamily="34" charset="0"/>
                        </a:rPr>
                        <a:t>]</a:t>
                      </a:r>
                      <a:endParaRPr lang="en-US" sz="1300">
                        <a:latin typeface="DM Sans" pitchFamily="34" charset="0"/>
                        <a:ea typeface="DM Sans" pitchFamily="34" charset="0"/>
                        <a:cs typeface="DM Sans" pitchFamily="34"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a:solidFill>
                            <a:srgbClr val="14213D"/>
                          </a:solidFill>
                          <a:latin typeface="DM Sans" pitchFamily="34" charset="0"/>
                          <a:ea typeface="DM Sans" pitchFamily="34" charset="-122"/>
                          <a:cs typeface="DM Sans" pitchFamily="34" charset="-120"/>
                        </a:rPr>
                        <a:t>Pass</a:t>
                      </a:r>
                      <a:endParaRPr lang="en-US" sz="1300">
                        <a:latin typeface="DM Sans" pitchFamily="34" charset="0"/>
                        <a:ea typeface="DM Sans" pitchFamily="34" charset="0"/>
                        <a:cs typeface="DM Sans" pitchFamily="34"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321">
                <a:tc>
                  <a:txBody>
                    <a:bodyPr/>
                    <a:lstStyle/>
                    <a:p>
                      <a:pPr marL="0" indent="0">
                        <a:lnSpc>
                          <a:spcPts val="1820"/>
                        </a:lnSpc>
                        <a:buNone/>
                      </a:pPr>
                      <a:r>
                        <a:rPr lang="en-US" sz="1300">
                          <a:solidFill>
                            <a:srgbClr val="14213D"/>
                          </a:solidFill>
                          <a:latin typeface="DM Sans" pitchFamily="34" charset="0"/>
                          <a:ea typeface="DM Sans" pitchFamily="34" charset="-122"/>
                          <a:cs typeface="DM Sans" pitchFamily="34" charset="-120"/>
                        </a:rPr>
                        <a:t>TC03</a:t>
                      </a:r>
                      <a:endParaRPr lang="en-US" sz="1300">
                        <a:latin typeface="DM Sans" pitchFamily="34" charset="0"/>
                        <a:ea typeface="DM Sans" pitchFamily="34" charset="0"/>
                        <a:cs typeface="DM Sans" pitchFamily="34"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a:solidFill>
                            <a:srgbClr val="14213D"/>
                          </a:solidFill>
                          <a:latin typeface="DM Sans"/>
                          <a:ea typeface="DM Sans" pitchFamily="34" charset="0"/>
                          <a:cs typeface="DM Sans" pitchFamily="34" charset="0"/>
                        </a:rPr>
                        <a:t>[timeout]</a:t>
                      </a:r>
                      <a:endParaRPr lang="en-US" sz="1300">
                        <a:latin typeface="DM Sans"/>
                        <a:ea typeface="DM Sans" pitchFamily="34" charset="0"/>
                        <a:cs typeface="DM Sans" pitchFamily="34"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a:solidFill>
                            <a:srgbClr val="14213D"/>
                          </a:solidFill>
                          <a:latin typeface="DM Sans"/>
                          <a:ea typeface="DM Sans" pitchFamily="34" charset="0"/>
                          <a:cs typeface="DM Sans" pitchFamily="34" charset="0"/>
                        </a:rPr>
                        <a:t>[Session Expired message]</a:t>
                      </a:r>
                      <a:endParaRPr lang="en-US" sz="1300">
                        <a:latin typeface="DM Sans"/>
                        <a:ea typeface="DM Sans" pitchFamily="34" charset="0"/>
                        <a:cs typeface="DM Sans" pitchFamily="34"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a:solidFill>
                            <a:srgbClr val="14213D"/>
                          </a:solidFill>
                          <a:latin typeface="DM Sans"/>
                          <a:ea typeface="DM Sans" pitchFamily="34" charset="0"/>
                          <a:cs typeface="DM Sans" pitchFamily="34" charset="0"/>
                        </a:rPr>
                        <a:t>[</a:t>
                      </a:r>
                      <a:r>
                        <a:rPr lang="en-US" sz="1300" b="0" i="0" u="none" strike="noStrike" noProof="0">
                          <a:solidFill>
                            <a:srgbClr val="14213D"/>
                          </a:solidFill>
                          <a:latin typeface="DM Sans"/>
                          <a:ea typeface="DM Sans" pitchFamily="34" charset="0"/>
                          <a:cs typeface="DM Sans" pitchFamily="34" charset="0"/>
                        </a:rPr>
                        <a:t>Session Expired message</a:t>
                      </a:r>
                      <a:r>
                        <a:rPr lang="en-US" sz="1300">
                          <a:solidFill>
                            <a:srgbClr val="14213D"/>
                          </a:solidFill>
                          <a:latin typeface="DM Sans"/>
                          <a:ea typeface="DM Sans" pitchFamily="34" charset="0"/>
                          <a:cs typeface="DM Sans" pitchFamily="34" charset="0"/>
                        </a:rPr>
                        <a:t>]</a:t>
                      </a:r>
                      <a:endParaRPr lang="en-US" sz="1300">
                        <a:latin typeface="DM Sans"/>
                        <a:ea typeface="DM Sans" pitchFamily="34" charset="0"/>
                        <a:cs typeface="DM Sans" pitchFamily="34"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a:solidFill>
                            <a:srgbClr val="14213D"/>
                          </a:solidFill>
                          <a:latin typeface="DM Sans" pitchFamily="34" charset="0"/>
                          <a:ea typeface="DM Sans" pitchFamily="34" charset="-122"/>
                          <a:cs typeface="DM Sans" pitchFamily="34" charset="-120"/>
                        </a:rPr>
                        <a:t>Pass</a:t>
                      </a:r>
                      <a:endParaRPr lang="en-US" sz="1300">
                        <a:latin typeface="DM Sans" pitchFamily="34" charset="0"/>
                        <a:ea typeface="DM Sans" pitchFamily="34" charset="0"/>
                        <a:cs typeface="DM Sans" pitchFamily="34"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9321">
                <a:tc>
                  <a:txBody>
                    <a:bodyPr/>
                    <a:lstStyle/>
                    <a:p>
                      <a:pPr marL="0" indent="0">
                        <a:lnSpc>
                          <a:spcPts val="1820"/>
                        </a:lnSpc>
                        <a:buNone/>
                      </a:pPr>
                      <a:r>
                        <a:rPr lang="en-US" sz="1300">
                          <a:solidFill>
                            <a:srgbClr val="14213D"/>
                          </a:solidFill>
                          <a:latin typeface="DM Sans" pitchFamily="34" charset="0"/>
                          <a:ea typeface="DM Sans" pitchFamily="34" charset="-122"/>
                          <a:cs typeface="DM Sans" pitchFamily="34" charset="-120"/>
                        </a:rPr>
                        <a:t>TC04</a:t>
                      </a:r>
                      <a:endParaRPr lang="en-US" sz="1300">
                        <a:latin typeface="DM Sans" pitchFamily="34" charset="0"/>
                        <a:ea typeface="DM Sans" pitchFamily="34" charset="0"/>
                        <a:cs typeface="DM Sans" pitchFamily="34"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a:solidFill>
                            <a:srgbClr val="14213D"/>
                          </a:solidFill>
                          <a:latin typeface="DM Sans"/>
                          <a:ea typeface="DM Sans" pitchFamily="34" charset="0"/>
                          <a:cs typeface="DM Sans" pitchFamily="34" charset="0"/>
                        </a:rPr>
                        <a:t>[successful payment scan]</a:t>
                      </a:r>
                      <a:endParaRPr lang="en-US" sz="1300">
                        <a:latin typeface="DM Sans"/>
                        <a:ea typeface="DM Sans" pitchFamily="34" charset="0"/>
                        <a:cs typeface="DM Sans" pitchFamily="34"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a:solidFill>
                            <a:srgbClr val="14213D"/>
                          </a:solidFill>
                          <a:latin typeface="DM Sans"/>
                          <a:ea typeface="DM Sans" pitchFamily="34" charset="0"/>
                          <a:cs typeface="DM Sans" pitchFamily="34" charset="0"/>
                        </a:rPr>
                        <a:t>[show "payment successful"]</a:t>
                      </a:r>
                      <a:endParaRPr lang="en-US" sz="1300">
                        <a:latin typeface="DM Sans"/>
                        <a:ea typeface="DM Sans" pitchFamily="34" charset="0"/>
                        <a:cs typeface="DM Sans" pitchFamily="34"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a:solidFill>
                            <a:srgbClr val="14213D"/>
                          </a:solidFill>
                          <a:latin typeface="DM Sans"/>
                          <a:ea typeface="DM Sans" pitchFamily="34" charset="0"/>
                          <a:cs typeface="DM Sans" pitchFamily="34" charset="0"/>
                        </a:rPr>
                        <a:t>[</a:t>
                      </a:r>
                      <a:r>
                        <a:rPr lang="en-US" sz="1300" b="0" i="0" u="none" strike="noStrike" noProof="0">
                          <a:solidFill>
                            <a:srgbClr val="14213D"/>
                          </a:solidFill>
                          <a:latin typeface="DM Sans"/>
                          <a:ea typeface="DM Sans" pitchFamily="34" charset="0"/>
                          <a:cs typeface="DM Sans" pitchFamily="34" charset="0"/>
                        </a:rPr>
                        <a:t>show "payment successful"</a:t>
                      </a:r>
                      <a:r>
                        <a:rPr lang="en-US" sz="1300">
                          <a:solidFill>
                            <a:srgbClr val="14213D"/>
                          </a:solidFill>
                          <a:latin typeface="DM Sans"/>
                          <a:ea typeface="DM Sans" pitchFamily="34" charset="0"/>
                          <a:cs typeface="DM Sans" pitchFamily="34" charset="0"/>
                        </a:rPr>
                        <a:t>]</a:t>
                      </a:r>
                      <a:endParaRPr lang="en-US" sz="1300">
                        <a:latin typeface="DM Sans" pitchFamily="34" charset="0"/>
                        <a:ea typeface="DM Sans" pitchFamily="34" charset="0"/>
                        <a:cs typeface="DM Sans" pitchFamily="34"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820"/>
                        </a:lnSpc>
                        <a:buNone/>
                      </a:pPr>
                      <a:r>
                        <a:rPr lang="en-US" sz="1300">
                          <a:solidFill>
                            <a:srgbClr val="14213D"/>
                          </a:solidFill>
                          <a:latin typeface="DM Sans" pitchFamily="34" charset="0"/>
                          <a:ea typeface="DM Sans" pitchFamily="34" charset="-122"/>
                          <a:cs typeface="DM Sans" pitchFamily="34" charset="-120"/>
                        </a:rPr>
                        <a:t>Pass</a:t>
                      </a:r>
                      <a:endParaRPr lang="en-US" sz="1300">
                        <a:latin typeface="DM Sans" pitchFamily="34" charset="0"/>
                        <a:ea typeface="DM Sans" pitchFamily="34" charset="0"/>
                        <a:cs typeface="DM Sans" pitchFamily="34"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4184154"/>
            <a:ext cx="10883392" cy="292100"/>
          </a:xfrm>
          <a:prstGeom prst="rect">
            <a:avLst/>
          </a:prstGeom>
          <a:noFill/>
        </p:spPr>
        <p:txBody>
          <a:bodyPr wrap="square" lIns="0" tIns="0" rIns="0" bIns="0" rtlCol="0" anchor="t">
            <a:normAutofit/>
          </a:bodyPr>
          <a:lstStyle/>
          <a:p>
            <a:pPr marL="0" indent="0" algn="l">
              <a:lnSpc>
                <a:spcPts val="2100"/>
              </a:lnSpc>
              <a:buNone/>
            </a:pPr>
            <a:r>
              <a:rPr lang="en-US" sz="1400">
                <a:solidFill>
                  <a:srgbClr val="14213D"/>
                </a:solidFill>
                <a:latin typeface="DM Sans" pitchFamily="34" charset="0"/>
                <a:ea typeface="DM Sans" pitchFamily="34" charset="-122"/>
                <a:cs typeface="DM Sans" pitchFamily="34" charset="-120"/>
              </a:rPr>
              <a:t>Testing types used: [Unit testing (JUnit)] · [Manual testing] · [Invalid input testing]</a:t>
            </a:r>
            <a:endParaRPr lang="en-US" sz="1400"/>
          </a:p>
        </p:txBody>
      </p:sp>
      <p:sp>
        <p:nvSpPr>
          <p:cNvPr id="7" name="Text 4"/>
          <p:cNvSpPr/>
          <p:nvPr/>
        </p:nvSpPr>
        <p:spPr>
          <a:xfrm>
            <a:off x="812800" y="6238280"/>
            <a:ext cx="7848600" cy="238720"/>
          </a:xfrm>
          <a:prstGeom prst="rect">
            <a:avLst/>
          </a:prstGeom>
          <a:noFill/>
        </p:spPr>
        <p:txBody>
          <a:bodyPr wrap="square" lIns="0" tIns="0" rIns="0" bIns="0" rtlCol="0" anchor="t">
            <a:normAutofit/>
          </a:bodyPr>
          <a:lstStyle/>
          <a:p>
            <a:pPr marL="0" indent="0" algn="l">
              <a:lnSpc>
                <a:spcPts val="1680"/>
              </a:lnSpc>
              <a:buNone/>
            </a:pPr>
            <a:r>
              <a:rPr lang="en-US" sz="1200">
                <a:solidFill>
                  <a:srgbClr val="4A5568"/>
                </a:solidFill>
                <a:latin typeface="DM Sans"/>
                <a:ea typeface="DM Sans" pitchFamily="34" charset="-122"/>
                <a:cs typeface="DM Sans" pitchFamily="34" charset="-120"/>
              </a:rPr>
              <a:t>16 · [FARZIII-PAY]</a:t>
            </a:r>
            <a:endParaRPr lang="en-US" sz="12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a:solidFill>
                  <a:srgbClr val="B4490F"/>
                </a:solidFill>
                <a:latin typeface="DM Sans" pitchFamily="34" charset="0"/>
                <a:ea typeface="DM Sans" pitchFamily="34" charset="-122"/>
                <a:cs typeface="DM Sans" pitchFamily="34" charset="-120"/>
              </a:rPr>
              <a:t>PART 5 · WRAP-UP</a:t>
            </a:r>
            <a:endParaRPr lang="en-US" sz="1200"/>
          </a:p>
        </p:txBody>
      </p:sp>
      <p:sp>
        <p:nvSpPr>
          <p:cNvPr id="3" name="Text 1"/>
          <p:cNvSpPr>
            <a:spLocks noGrp="1"/>
          </p:cNvSpPr>
          <p:nvPr>
            <p:ph type="title"/>
          </p:nvPr>
        </p:nvSpPr>
        <p:spPr>
          <a:xfrm>
            <a:off x="812800" y="1102320"/>
            <a:ext cx="10883392" cy="472430"/>
          </a:xfrm>
          <a:prstGeom prst="rect">
            <a:avLst/>
          </a:prstGeom>
          <a:noFill/>
        </p:spPr>
        <p:txBody>
          <a:bodyPr wrap="square" lIns="0" tIns="0" rIns="0" bIns="0" rtlCol="0" anchor="t">
            <a:normAutofit/>
          </a:bodyPr>
          <a:lstStyle/>
          <a:p>
            <a:pPr marL="0" indent="0" algn="l">
              <a:lnSpc>
                <a:spcPts val="3520"/>
              </a:lnSpc>
              <a:buNone/>
            </a:pPr>
            <a:r>
              <a:rPr lang="en-US" sz="3200" b="1" i="0">
                <a:solidFill>
                  <a:srgbClr val="14213D"/>
                </a:solidFill>
                <a:latin typeface="DM Sans" pitchFamily="34" charset="0"/>
                <a:ea typeface="DM Sans" pitchFamily="34" charset="-122"/>
                <a:cs typeface="DM Sans" pitchFamily="34" charset="-120"/>
              </a:rPr>
              <a:t>Results &amp; Advantages</a:t>
            </a:r>
            <a:endParaRPr lang="en-US" sz="3200"/>
          </a:p>
        </p:txBody>
      </p:sp>
      <p:sp>
        <p:nvSpPr>
          <p:cNvPr id="4" name="Shape 2"/>
          <p:cNvSpPr/>
          <p:nvPr/>
        </p:nvSpPr>
        <p:spPr>
          <a:xfrm>
            <a:off x="815975" y="1806525"/>
            <a:ext cx="3414167" cy="1438870"/>
          </a:xfrm>
          <a:prstGeom prst="roundRect">
            <a:avLst>
              <a:gd name="adj" fmla="val 6840"/>
            </a:avLst>
          </a:prstGeom>
          <a:solidFill>
            <a:srgbClr val="FFFFFF"/>
          </a:solidFill>
          <a:ln w="6350">
            <a:solidFill>
              <a:srgbClr val="DDD8CC"/>
            </a:solidFill>
            <a:prstDash val="solid"/>
          </a:ln>
        </p:spPr>
      </p:sp>
      <p:sp>
        <p:nvSpPr>
          <p:cNvPr id="5" name="Text 3"/>
          <p:cNvSpPr/>
          <p:nvPr/>
        </p:nvSpPr>
        <p:spPr>
          <a:xfrm>
            <a:off x="1022350" y="2012900"/>
            <a:ext cx="3091459" cy="751830"/>
          </a:xfrm>
          <a:prstGeom prst="rect">
            <a:avLst/>
          </a:prstGeom>
          <a:noFill/>
        </p:spPr>
        <p:txBody>
          <a:bodyPr wrap="square" lIns="0" tIns="0" rIns="0" bIns="0" rtlCol="0" anchor="t">
            <a:normAutofit/>
          </a:bodyPr>
          <a:lstStyle/>
          <a:p>
            <a:pPr marL="0" indent="0" algn="l">
              <a:lnSpc>
                <a:spcPts val="5720"/>
              </a:lnSpc>
              <a:buNone/>
            </a:pPr>
            <a:r>
              <a:rPr lang="en-US" sz="5200" b="1">
                <a:solidFill>
                  <a:srgbClr val="B4490F"/>
                </a:solidFill>
                <a:latin typeface="DM Sans"/>
                <a:ea typeface="DM Sans" pitchFamily="34" charset="-122"/>
                <a:cs typeface="DM Sans" pitchFamily="34" charset="-120"/>
              </a:rPr>
              <a:t>[04]</a:t>
            </a:r>
            <a:endParaRPr lang="en-US" sz="5200">
              <a:latin typeface="DM Sans"/>
            </a:endParaRPr>
          </a:p>
        </p:txBody>
      </p:sp>
      <p:sp>
        <p:nvSpPr>
          <p:cNvPr id="6" name="Text 4"/>
          <p:cNvSpPr/>
          <p:nvPr/>
        </p:nvSpPr>
        <p:spPr>
          <a:xfrm>
            <a:off x="1022350" y="2790130"/>
            <a:ext cx="3091459" cy="274290"/>
          </a:xfrm>
          <a:prstGeom prst="rect">
            <a:avLst/>
          </a:prstGeom>
          <a:noFill/>
        </p:spPr>
        <p:txBody>
          <a:bodyPr wrap="square" lIns="0" tIns="0" rIns="0" bIns="0" rtlCol="0" anchor="t">
            <a:normAutofit/>
          </a:bodyPr>
          <a:lstStyle/>
          <a:p>
            <a:pPr marL="0" indent="0" algn="l">
              <a:lnSpc>
                <a:spcPts val="1960"/>
              </a:lnSpc>
              <a:buNone/>
            </a:pPr>
            <a:r>
              <a:rPr lang="en-US" sz="1400">
                <a:solidFill>
                  <a:srgbClr val="4A5568"/>
                </a:solidFill>
                <a:latin typeface="DM Sans" pitchFamily="34" charset="0"/>
                <a:ea typeface="DM Sans" pitchFamily="34" charset="-122"/>
                <a:cs typeface="DM Sans" pitchFamily="34" charset="-120"/>
              </a:rPr>
              <a:t>Modules completed</a:t>
            </a:r>
            <a:endParaRPr lang="en-US" sz="1400"/>
          </a:p>
        </p:txBody>
      </p:sp>
      <p:sp>
        <p:nvSpPr>
          <p:cNvPr id="7" name="Shape 5"/>
          <p:cNvSpPr/>
          <p:nvPr/>
        </p:nvSpPr>
        <p:spPr>
          <a:xfrm>
            <a:off x="4388892" y="1806525"/>
            <a:ext cx="3414216" cy="1438870"/>
          </a:xfrm>
          <a:prstGeom prst="roundRect">
            <a:avLst>
              <a:gd name="adj" fmla="val 6840"/>
            </a:avLst>
          </a:prstGeom>
          <a:solidFill>
            <a:srgbClr val="FFFFFF"/>
          </a:solidFill>
          <a:ln w="6350">
            <a:solidFill>
              <a:srgbClr val="DDD8CC"/>
            </a:solidFill>
            <a:prstDash val="solid"/>
          </a:ln>
        </p:spPr>
      </p:sp>
      <p:sp>
        <p:nvSpPr>
          <p:cNvPr id="8" name="Text 6"/>
          <p:cNvSpPr/>
          <p:nvPr/>
        </p:nvSpPr>
        <p:spPr>
          <a:xfrm>
            <a:off x="4595267" y="2012900"/>
            <a:ext cx="3091510" cy="751830"/>
          </a:xfrm>
          <a:prstGeom prst="rect">
            <a:avLst/>
          </a:prstGeom>
          <a:noFill/>
        </p:spPr>
        <p:txBody>
          <a:bodyPr wrap="square" lIns="0" tIns="0" rIns="0" bIns="0" rtlCol="0" anchor="t">
            <a:normAutofit/>
          </a:bodyPr>
          <a:lstStyle/>
          <a:p>
            <a:pPr marL="0" indent="0" algn="l">
              <a:lnSpc>
                <a:spcPts val="5720"/>
              </a:lnSpc>
              <a:buNone/>
            </a:pPr>
            <a:r>
              <a:rPr lang="en-US" sz="5200" b="1">
                <a:solidFill>
                  <a:srgbClr val="B4490F"/>
                </a:solidFill>
                <a:latin typeface="DM Sans"/>
              </a:rPr>
              <a:t>[100%]</a:t>
            </a:r>
            <a:endParaRPr lang="en-US" sz="5200"/>
          </a:p>
        </p:txBody>
      </p:sp>
      <p:sp>
        <p:nvSpPr>
          <p:cNvPr id="9" name="Text 7"/>
          <p:cNvSpPr/>
          <p:nvPr/>
        </p:nvSpPr>
        <p:spPr>
          <a:xfrm>
            <a:off x="4595267" y="2790130"/>
            <a:ext cx="3091510" cy="274290"/>
          </a:xfrm>
          <a:prstGeom prst="rect">
            <a:avLst/>
          </a:prstGeom>
          <a:noFill/>
        </p:spPr>
        <p:txBody>
          <a:bodyPr wrap="square" lIns="0" tIns="0" rIns="0" bIns="0" rtlCol="0" anchor="t">
            <a:normAutofit/>
          </a:bodyPr>
          <a:lstStyle/>
          <a:p>
            <a:pPr marL="0" indent="0" algn="l">
              <a:lnSpc>
                <a:spcPts val="1960"/>
              </a:lnSpc>
              <a:buNone/>
            </a:pPr>
            <a:r>
              <a:rPr lang="en-US" sz="1400">
                <a:solidFill>
                  <a:srgbClr val="4A5568"/>
                </a:solidFill>
                <a:latin typeface="DM Sans" pitchFamily="34" charset="0"/>
                <a:ea typeface="DM Sans" pitchFamily="34" charset="-122"/>
                <a:cs typeface="DM Sans" pitchFamily="34" charset="-120"/>
              </a:rPr>
              <a:t>Test cases passed</a:t>
            </a:r>
            <a:endParaRPr lang="en-US" sz="1400"/>
          </a:p>
        </p:txBody>
      </p:sp>
      <p:sp>
        <p:nvSpPr>
          <p:cNvPr id="10" name="Shape 8"/>
          <p:cNvSpPr/>
          <p:nvPr/>
        </p:nvSpPr>
        <p:spPr>
          <a:xfrm>
            <a:off x="7961858" y="1806525"/>
            <a:ext cx="3414167" cy="1438870"/>
          </a:xfrm>
          <a:prstGeom prst="roundRect">
            <a:avLst>
              <a:gd name="adj" fmla="val 6840"/>
            </a:avLst>
          </a:prstGeom>
          <a:solidFill>
            <a:srgbClr val="FFFFFF"/>
          </a:solidFill>
          <a:ln w="6350">
            <a:solidFill>
              <a:srgbClr val="DDD8CC"/>
            </a:solidFill>
            <a:prstDash val="solid"/>
          </a:ln>
        </p:spPr>
      </p:sp>
      <p:sp>
        <p:nvSpPr>
          <p:cNvPr id="11" name="Text 9"/>
          <p:cNvSpPr/>
          <p:nvPr/>
        </p:nvSpPr>
        <p:spPr>
          <a:xfrm>
            <a:off x="8168233" y="2012900"/>
            <a:ext cx="3091459" cy="751830"/>
          </a:xfrm>
          <a:prstGeom prst="rect">
            <a:avLst/>
          </a:prstGeom>
          <a:noFill/>
        </p:spPr>
        <p:txBody>
          <a:bodyPr wrap="square" lIns="0" tIns="0" rIns="0" bIns="0" rtlCol="0" anchor="t">
            <a:normAutofit/>
          </a:bodyPr>
          <a:lstStyle/>
          <a:p>
            <a:pPr marL="0" indent="0" algn="l">
              <a:lnSpc>
                <a:spcPts val="5720"/>
              </a:lnSpc>
              <a:buNone/>
            </a:pPr>
            <a:r>
              <a:rPr lang="en-US" sz="5200" b="1">
                <a:solidFill>
                  <a:srgbClr val="B4490F"/>
                </a:solidFill>
                <a:latin typeface="DM Sans"/>
                <a:ea typeface="DM Sans" pitchFamily="34" charset="-122"/>
                <a:cs typeface="DM Sans" pitchFamily="34" charset="-120"/>
              </a:rPr>
              <a:t>[04]</a:t>
            </a:r>
            <a:endParaRPr lang="en-US" sz="5200">
              <a:latin typeface="DM Sans"/>
            </a:endParaRPr>
          </a:p>
        </p:txBody>
      </p:sp>
      <p:sp>
        <p:nvSpPr>
          <p:cNvPr id="12" name="Text 10"/>
          <p:cNvSpPr/>
          <p:nvPr/>
        </p:nvSpPr>
        <p:spPr>
          <a:xfrm>
            <a:off x="8168233" y="2790130"/>
            <a:ext cx="3091459" cy="274290"/>
          </a:xfrm>
          <a:prstGeom prst="rect">
            <a:avLst/>
          </a:prstGeom>
          <a:noFill/>
        </p:spPr>
        <p:txBody>
          <a:bodyPr wrap="square" lIns="0" tIns="0" rIns="0" bIns="0" rtlCol="0" anchor="t">
            <a:normAutofit/>
          </a:bodyPr>
          <a:lstStyle/>
          <a:p>
            <a:pPr marL="0" indent="0" algn="l">
              <a:lnSpc>
                <a:spcPts val="1960"/>
              </a:lnSpc>
              <a:buNone/>
            </a:pPr>
            <a:r>
              <a:rPr lang="en-US" sz="1400">
                <a:solidFill>
                  <a:srgbClr val="4A5568"/>
                </a:solidFill>
                <a:latin typeface="DM Sans" pitchFamily="34" charset="0"/>
                <a:ea typeface="DM Sans" pitchFamily="34" charset="-122"/>
                <a:cs typeface="DM Sans" pitchFamily="34" charset="-120"/>
              </a:rPr>
              <a:t>Java classes created</a:t>
            </a:r>
            <a:endParaRPr lang="en-US" sz="1400"/>
          </a:p>
        </p:txBody>
      </p:sp>
      <p:sp>
        <p:nvSpPr>
          <p:cNvPr id="13" name="Text 11"/>
          <p:cNvSpPr/>
          <p:nvPr/>
        </p:nvSpPr>
        <p:spPr>
          <a:xfrm>
            <a:off x="812800" y="3502571"/>
            <a:ext cx="10883392" cy="292100"/>
          </a:xfrm>
          <a:prstGeom prst="rect">
            <a:avLst/>
          </a:prstGeom>
          <a:noFill/>
        </p:spPr>
        <p:txBody>
          <a:bodyPr wrap="square" lIns="0" tIns="0" rIns="0" bIns="0" rtlCol="0" anchor="t">
            <a:normAutofit/>
          </a:bodyPr>
          <a:lstStyle/>
          <a:p>
            <a:pPr marL="0" indent="0" algn="l">
              <a:lnSpc>
                <a:spcPts val="2100"/>
              </a:lnSpc>
              <a:buNone/>
            </a:pPr>
            <a:r>
              <a:rPr lang="en-US" sz="1500" b="1">
                <a:solidFill>
                  <a:srgbClr val="14213D"/>
                </a:solidFill>
                <a:latin typeface="DM Sans" pitchFamily="34" charset="0"/>
                <a:ea typeface="DM Sans" pitchFamily="34" charset="-122"/>
                <a:cs typeface="DM Sans" pitchFamily="34" charset="-120"/>
              </a:rPr>
              <a:t>Key advantages</a:t>
            </a:r>
            <a:endParaRPr lang="en-US" sz="1500"/>
          </a:p>
        </p:txBody>
      </p:sp>
      <p:sp>
        <p:nvSpPr>
          <p:cNvPr id="14" name="Text 12"/>
          <p:cNvSpPr/>
          <p:nvPr/>
        </p:nvSpPr>
        <p:spPr>
          <a:xfrm>
            <a:off x="897382" y="3845471"/>
            <a:ext cx="10791190" cy="878780"/>
          </a:xfrm>
          <a:prstGeom prst="rect">
            <a:avLst/>
          </a:prstGeom>
          <a:noFill/>
        </p:spPr>
        <p:txBody>
          <a:bodyPr wrap="square" lIns="0" tIns="0" rIns="0" bIns="0" rtlCol="0" anchor="t">
            <a:normAutofit/>
          </a:bodyPr>
          <a:lstStyle/>
          <a:p>
            <a:pPr marL="168910" indent="-168910">
              <a:lnSpc>
                <a:spcPts val="2240"/>
              </a:lnSpc>
              <a:buSzPct val="100000"/>
              <a:buChar char="•"/>
            </a:pPr>
            <a:r>
              <a:rPr lang="en-US" sz="1400">
                <a:solidFill>
                  <a:srgbClr val="14213D"/>
                </a:solidFill>
                <a:latin typeface="DM Sans"/>
                <a:ea typeface="DM Sans" pitchFamily="34" charset="-122"/>
                <a:cs typeface="DM Sans" pitchFamily="34" charset="-120"/>
              </a:rPr>
              <a:t>[Faster and automated than manual back details sharing]</a:t>
            </a:r>
            <a:endParaRPr lang="en-US" sz="1400">
              <a:latin typeface="DM Sans"/>
            </a:endParaRPr>
          </a:p>
          <a:p>
            <a:pPr marL="168910" indent="-168910">
              <a:lnSpc>
                <a:spcPts val="2240"/>
              </a:lnSpc>
              <a:buSzPct val="100000"/>
              <a:buChar char="•"/>
            </a:pPr>
            <a:r>
              <a:rPr lang="en-US" sz="1400" dirty="0">
                <a:solidFill>
                  <a:srgbClr val="14213D"/>
                </a:solidFill>
                <a:latin typeface="DM Sans"/>
              </a:rPr>
              <a:t>[Instant :"payment successfully "confirmation with digital </a:t>
            </a:r>
            <a:r>
              <a:rPr lang="en-US" sz="1400" dirty="0" err="1">
                <a:solidFill>
                  <a:srgbClr val="14213D"/>
                </a:solidFill>
                <a:latin typeface="DM Sans"/>
              </a:rPr>
              <a:t>Recipt</a:t>
            </a:r>
            <a:r>
              <a:rPr lang="en-US" sz="1400" dirty="0">
                <a:solidFill>
                  <a:srgbClr val="14213D"/>
                </a:solidFill>
                <a:latin typeface="DM Sans"/>
              </a:rPr>
              <a:t>]</a:t>
            </a:r>
            <a:endParaRPr lang="en-US" sz="1400" dirty="0">
              <a:latin typeface="DM Sans"/>
            </a:endParaRPr>
          </a:p>
          <a:p>
            <a:pPr marL="168910" indent="-168910">
              <a:lnSpc>
                <a:spcPts val="2240"/>
              </a:lnSpc>
              <a:buSzPct val="100000"/>
              <a:buChar char="•"/>
            </a:pPr>
            <a:r>
              <a:rPr lang="en-US" sz="1400">
                <a:solidFill>
                  <a:srgbClr val="14213D"/>
                </a:solidFill>
                <a:latin typeface="DM Sans"/>
                <a:ea typeface="DM Sans" pitchFamily="34" charset="-122"/>
                <a:cs typeface="DM Sans" pitchFamily="34" charset="-120"/>
              </a:rPr>
              <a:t>[Simple and easy to use graphical interface]</a:t>
            </a:r>
            <a:endParaRPr lang="en-US" sz="1400">
              <a:latin typeface="DM Sans"/>
            </a:endParaRPr>
          </a:p>
        </p:txBody>
      </p:sp>
      <p:sp>
        <p:nvSpPr>
          <p:cNvPr id="15" name="Text 13"/>
          <p:cNvSpPr/>
          <p:nvPr/>
        </p:nvSpPr>
        <p:spPr>
          <a:xfrm>
            <a:off x="812800" y="6238280"/>
            <a:ext cx="7848600" cy="238720"/>
          </a:xfrm>
          <a:prstGeom prst="rect">
            <a:avLst/>
          </a:prstGeom>
          <a:noFill/>
        </p:spPr>
        <p:txBody>
          <a:bodyPr wrap="square" lIns="0" tIns="0" rIns="0" bIns="0" rtlCol="0" anchor="t">
            <a:normAutofit/>
          </a:bodyPr>
          <a:lstStyle/>
          <a:p>
            <a:pPr marL="0" indent="0" algn="l">
              <a:lnSpc>
                <a:spcPts val="1680"/>
              </a:lnSpc>
              <a:buNone/>
            </a:pPr>
            <a:r>
              <a:rPr lang="en-US" sz="1200">
                <a:solidFill>
                  <a:srgbClr val="4A5568"/>
                </a:solidFill>
                <a:latin typeface="DM Sans"/>
                <a:ea typeface="DM Sans" pitchFamily="34" charset="-122"/>
                <a:cs typeface="DM Sans" pitchFamily="34" charset="-120"/>
              </a:rPr>
              <a:t>17 · [FARZIII-PAY]</a:t>
            </a:r>
            <a:endParaRPr lang="en-US" sz="1200">
              <a:latin typeface="DM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CE8D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a:solidFill>
                  <a:srgbClr val="B4490F"/>
                </a:solidFill>
                <a:latin typeface="DM Sans" pitchFamily="34" charset="0"/>
                <a:ea typeface="DM Sans" pitchFamily="34" charset="-122"/>
                <a:cs typeface="DM Sans" pitchFamily="34" charset="-120"/>
              </a:rPr>
              <a:t>PART 5 · WRAP-UP</a:t>
            </a:r>
            <a:endParaRPr lang="en-US" sz="1200"/>
          </a:p>
        </p:txBody>
      </p:sp>
      <p:sp>
        <p:nvSpPr>
          <p:cNvPr id="3" name="Text 1"/>
          <p:cNvSpPr>
            <a:spLocks noGrp="1"/>
          </p:cNvSpPr>
          <p:nvPr>
            <p:ph type="title"/>
          </p:nvPr>
        </p:nvSpPr>
        <p:spPr>
          <a:xfrm>
            <a:off x="812800" y="1102320"/>
            <a:ext cx="10883392" cy="472430"/>
          </a:xfrm>
          <a:prstGeom prst="rect">
            <a:avLst/>
          </a:prstGeom>
          <a:noFill/>
        </p:spPr>
        <p:txBody>
          <a:bodyPr wrap="square" lIns="0" tIns="0" rIns="0" bIns="0" rtlCol="0" anchor="t">
            <a:normAutofit/>
          </a:bodyPr>
          <a:lstStyle/>
          <a:p>
            <a:pPr marL="0" indent="0" algn="l">
              <a:lnSpc>
                <a:spcPts val="3520"/>
              </a:lnSpc>
              <a:buNone/>
            </a:pPr>
            <a:r>
              <a:rPr lang="en-US" sz="3200" b="1" i="0">
                <a:solidFill>
                  <a:srgbClr val="14213D"/>
                </a:solidFill>
                <a:latin typeface="DM Sans" pitchFamily="34" charset="0"/>
                <a:ea typeface="DM Sans" pitchFamily="34" charset="-122"/>
                <a:cs typeface="DM Sans" pitchFamily="34" charset="-120"/>
              </a:rPr>
              <a:t>Challenges &amp; Solutions</a:t>
            </a:r>
            <a:endParaRPr lang="en-US" sz="3200"/>
          </a:p>
        </p:txBody>
      </p:sp>
      <p:sp>
        <p:nvSpPr>
          <p:cNvPr id="4" name="Shape 2"/>
          <p:cNvSpPr/>
          <p:nvPr/>
        </p:nvSpPr>
        <p:spPr>
          <a:xfrm>
            <a:off x="815975" y="1806525"/>
            <a:ext cx="10560050" cy="1867892"/>
          </a:xfrm>
          <a:prstGeom prst="roundRect">
            <a:avLst>
              <a:gd name="adj" fmla="val 5269"/>
            </a:avLst>
          </a:prstGeom>
          <a:solidFill>
            <a:srgbClr val="FFFFFF"/>
          </a:solidFill>
          <a:ln w="6350">
            <a:solidFill>
              <a:srgbClr val="DDD8CC"/>
            </a:solidFill>
            <a:prstDash val="solid"/>
          </a:ln>
        </p:spPr>
      </p:sp>
      <p:graphicFrame>
        <p:nvGraphicFramePr>
          <p:cNvPr id="5" name="Table 0"/>
          <p:cNvGraphicFramePr>
            <a:graphicFrameLocks noGrp="1"/>
          </p:cNvGraphicFramePr>
          <p:nvPr/>
        </p:nvGraphicFramePr>
        <p:xfrm>
          <a:off x="984250" y="1974800"/>
          <a:ext cx="10236200" cy="1544044"/>
        </p:xfrm>
        <a:graphic>
          <a:graphicData uri="http://schemas.openxmlformats.org/drawingml/2006/table">
            <a:tbl>
              <a:tblPr/>
              <a:tblGrid>
                <a:gridCol w="4094480"/>
                <a:gridCol w="6141720"/>
              </a:tblGrid>
              <a:tr h="386011">
                <a:tc>
                  <a:txBody>
                    <a:bodyPr/>
                    <a:lstStyle/>
                    <a:p>
                      <a:pPr marL="0" indent="0">
                        <a:lnSpc>
                          <a:spcPts val="1960"/>
                        </a:lnSpc>
                        <a:buNone/>
                      </a:pPr>
                      <a:r>
                        <a:rPr lang="en-US" sz="1400" b="1">
                          <a:solidFill>
                            <a:srgbClr val="14213D"/>
                          </a:solidFill>
                          <a:latin typeface="DM Sans" pitchFamily="34" charset="0"/>
                          <a:ea typeface="DM Sans" pitchFamily="34" charset="-122"/>
                          <a:cs typeface="DM Sans" pitchFamily="34" charset="-120"/>
                        </a:rPr>
                        <a:t>Challenge</a:t>
                      </a:r>
                      <a:endParaRPr lang="en-US" sz="1400">
                        <a:latin typeface="DM Sans" pitchFamily="34" charset="0"/>
                        <a:ea typeface="DM Sans" pitchFamily="34" charset="0"/>
                        <a:cs typeface="DM Sans" pitchFamily="34"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marL="0" indent="0">
                        <a:lnSpc>
                          <a:spcPts val="1960"/>
                        </a:lnSpc>
                        <a:buNone/>
                      </a:pPr>
                      <a:r>
                        <a:rPr lang="en-US" sz="1400" b="1">
                          <a:solidFill>
                            <a:srgbClr val="14213D"/>
                          </a:solidFill>
                          <a:latin typeface="DM Sans" pitchFamily="34" charset="0"/>
                          <a:ea typeface="DM Sans" pitchFamily="34" charset="-122"/>
                          <a:cs typeface="DM Sans" pitchFamily="34" charset="-120"/>
                        </a:rPr>
                        <a:t>How it was solved</a:t>
                      </a:r>
                      <a:endParaRPr lang="en-US" sz="1400">
                        <a:latin typeface="DM Sans" pitchFamily="34" charset="0"/>
                        <a:ea typeface="DM Sans" pitchFamily="34" charset="0"/>
                        <a:cs typeface="DM Sans" pitchFamily="34" charset="0"/>
                      </a:endParaRPr>
                    </a:p>
                  </a:txBody>
                  <a:tcPr marL="62230" marR="62230" marT="62230" marB="62230">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386011">
                <a:tc>
                  <a:txBody>
                    <a:bodyPr/>
                    <a:lstStyle/>
                    <a:p>
                      <a:pPr marL="0" indent="0">
                        <a:lnSpc>
                          <a:spcPts val="1960"/>
                        </a:lnSpc>
                        <a:buNone/>
                      </a:pPr>
                      <a:r>
                        <a:rPr lang="en-US" sz="1400" dirty="0">
                          <a:solidFill>
                            <a:srgbClr val="14213D"/>
                          </a:solidFill>
                          <a:latin typeface="DM Sans"/>
                          <a:ea typeface="DM Sans" pitchFamily="34" charset="0"/>
                          <a:cs typeface="DM Sans" pitchFamily="34" charset="0"/>
                        </a:rPr>
                        <a:t>[Invalid or Empty </a:t>
                      </a:r>
                      <a:r>
                        <a:rPr lang="en-US" sz="1400">
                          <a:solidFill>
                            <a:srgbClr val="14213D"/>
                          </a:solidFill>
                          <a:latin typeface="DM Sans"/>
                          <a:ea typeface="DM Sans" pitchFamily="34" charset="0"/>
                          <a:cs typeface="DM Sans" pitchFamily="34" charset="0"/>
                        </a:rPr>
                        <a:t>user input</a:t>
                      </a:r>
                      <a:r>
                        <a:rPr lang="en-US" sz="1400" dirty="0">
                          <a:solidFill>
                            <a:srgbClr val="14213D"/>
                          </a:solidFill>
                          <a:latin typeface="DM Sans"/>
                          <a:ea typeface="DM Sans" pitchFamily="34" charset="0"/>
                          <a:cs typeface="DM Sans" pitchFamily="34" charset="0"/>
                        </a:rPr>
                        <a:t>]</a:t>
                      </a:r>
                      <a:endParaRPr lang="en-US" sz="1400" dirty="0">
                        <a:latin typeface="DM Sans"/>
                        <a:ea typeface="DM Sans" pitchFamily="34" charset="0"/>
                        <a:cs typeface="DM Sans" pitchFamily="34"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DM Sans"/>
                          <a:ea typeface="DM Sans" pitchFamily="34" charset="0"/>
                          <a:cs typeface="DM Sans" pitchFamily="34" charset="0"/>
                        </a:rPr>
                        <a:t>[live validat</a:t>
                      </a:r>
                      <a:r>
                        <a:rPr lang="en-US" sz="1400">
                          <a:solidFill>
                            <a:srgbClr val="14213D"/>
                          </a:solidFill>
                          <a:latin typeface="DM Sans"/>
                          <a:ea typeface="DM Sans" pitchFamily="34" charset="0"/>
                          <a:cs typeface="DM Sans" pitchFamily="34" charset="0"/>
                        </a:rPr>
                        <a:t>ion]</a:t>
                      </a:r>
                      <a:endParaRPr lang="en-US" sz="1400">
                        <a:latin typeface="DM Sans"/>
                        <a:ea typeface="DM Sans" pitchFamily="34" charset="0"/>
                        <a:cs typeface="DM Sans" pitchFamily="34"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6011">
                <a:tc>
                  <a:txBody>
                    <a:bodyPr/>
                    <a:lstStyle/>
                    <a:p>
                      <a:pPr marL="0" indent="0">
                        <a:lnSpc>
                          <a:spcPts val="1960"/>
                        </a:lnSpc>
                        <a:buNone/>
                      </a:pPr>
                      <a:r>
                        <a:rPr lang="en-US" sz="1400" dirty="0">
                          <a:solidFill>
                            <a:srgbClr val="14213D"/>
                          </a:solidFill>
                          <a:latin typeface="DM Sans"/>
                          <a:ea typeface="DM Sans" pitchFamily="34" charset="0"/>
                          <a:cs typeface="DM Sans" pitchFamily="34" charset="0"/>
                        </a:rPr>
                        <a:t>[</a:t>
                      </a:r>
                      <a:r>
                        <a:rPr lang="en-US" sz="1400" dirty="0" err="1">
                          <a:solidFill>
                            <a:srgbClr val="14213D"/>
                          </a:solidFill>
                          <a:latin typeface="DM Sans"/>
                          <a:ea typeface="DM Sans" pitchFamily="34" charset="0"/>
                          <a:cs typeface="DM Sans" pitchFamily="34" charset="0"/>
                        </a:rPr>
                        <a:t>qr</a:t>
                      </a:r>
                      <a:r>
                        <a:rPr lang="en-US" sz="1400" dirty="0">
                          <a:solidFill>
                            <a:srgbClr val="14213D"/>
                          </a:solidFill>
                          <a:latin typeface="DM Sans"/>
                          <a:ea typeface="DM Sans" pitchFamily="34" charset="0"/>
                          <a:cs typeface="DM Sans" pitchFamily="34" charset="0"/>
                        </a:rPr>
                        <a:t> code generation error]</a:t>
                      </a:r>
                      <a:endParaRPr lang="en-US" sz="1400" dirty="0">
                        <a:latin typeface="DM Sans"/>
                        <a:ea typeface="DM Sans" pitchFamily="34" charset="0"/>
                        <a:cs typeface="DM Sans" pitchFamily="34"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a:solidFill>
                            <a:srgbClr val="14213D"/>
                          </a:solidFill>
                          <a:latin typeface="DM Sans"/>
                          <a:ea typeface="DM Sans" pitchFamily="34" charset="0"/>
                          <a:cs typeface="DM Sans" pitchFamily="34" charset="0"/>
                        </a:rPr>
                        <a:t>[used proper exception handling]</a:t>
                      </a:r>
                      <a:endParaRPr lang="en-US" sz="1400">
                        <a:latin typeface="DM Sans"/>
                        <a:ea typeface="DM Sans" pitchFamily="34" charset="0"/>
                        <a:cs typeface="DM Sans" pitchFamily="34"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6011">
                <a:tc>
                  <a:txBody>
                    <a:bodyPr/>
                    <a:lstStyle/>
                    <a:p>
                      <a:pPr marL="0" indent="0">
                        <a:lnSpc>
                          <a:spcPts val="1960"/>
                        </a:lnSpc>
                        <a:buNone/>
                      </a:pPr>
                      <a:r>
                        <a:rPr lang="en-US" sz="1400">
                          <a:solidFill>
                            <a:srgbClr val="14213D"/>
                          </a:solidFill>
                          <a:latin typeface="DM Sans"/>
                          <a:ea typeface="DM Sans" pitchFamily="34" charset="-122"/>
                          <a:cs typeface="DM Sans" pitchFamily="34" charset="-120"/>
                        </a:rPr>
                        <a:t>[GUI freeze during timer]</a:t>
                      </a:r>
                      <a:endParaRPr lang="en-US" sz="1400">
                        <a:latin typeface="DM Sans"/>
                        <a:ea typeface="DM Sans" pitchFamily="34" charset="0"/>
                        <a:cs typeface="DM Sans" pitchFamily="34"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marL="0" indent="0">
                        <a:lnSpc>
                          <a:spcPts val="1960"/>
                        </a:lnSpc>
                        <a:buNone/>
                      </a:pPr>
                      <a:r>
                        <a:rPr lang="en-US" sz="1400">
                          <a:solidFill>
                            <a:srgbClr val="14213D"/>
                          </a:solidFill>
                          <a:latin typeface="DM Sans"/>
                          <a:ea typeface="DM Sans" pitchFamily="34" charset="0"/>
                          <a:cs typeface="DM Sans" pitchFamily="34" charset="0"/>
                        </a:rPr>
                        <a:t>[used multithreading]</a:t>
                      </a:r>
                      <a:endParaRPr lang="en-US" sz="1400">
                        <a:latin typeface="DM Sans"/>
                        <a:ea typeface="DM Sans" pitchFamily="34" charset="0"/>
                        <a:cs typeface="DM Sans" pitchFamily="34" charset="0"/>
                      </a:endParaRPr>
                    </a:p>
                  </a:txBody>
                  <a:tcPr marL="62230" marR="62230" marT="62230" marB="62230">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6" name="Text 3"/>
          <p:cNvSpPr/>
          <p:nvPr/>
        </p:nvSpPr>
        <p:spPr>
          <a:xfrm>
            <a:off x="812800" y="3931593"/>
            <a:ext cx="10883392" cy="292100"/>
          </a:xfrm>
          <a:prstGeom prst="rect">
            <a:avLst/>
          </a:prstGeom>
          <a:noFill/>
        </p:spPr>
        <p:txBody>
          <a:bodyPr wrap="square" lIns="0" tIns="0" rIns="0" bIns="0" rtlCol="0" anchor="t">
            <a:normAutofit/>
          </a:bodyPr>
          <a:lstStyle/>
          <a:p>
            <a:pPr>
              <a:lnSpc>
                <a:spcPts val="2100"/>
              </a:lnSpc>
            </a:pPr>
            <a:r>
              <a:rPr lang="en-US" sz="1500" b="1" dirty="0">
                <a:solidFill>
                  <a:srgbClr val="14213D"/>
                </a:solidFill>
                <a:latin typeface="DM Sans"/>
                <a:ea typeface="DM Sans" pitchFamily="34" charset="-122"/>
                <a:cs typeface="DM Sans" pitchFamily="34" charset="-120"/>
              </a:rPr>
              <a:t>Key learning: [Learned making Java GUI </a:t>
            </a:r>
            <a:r>
              <a:rPr lang="en-US" sz="1500" b="1" dirty="0" err="1">
                <a:solidFill>
                  <a:srgbClr val="14213D"/>
                </a:solidFill>
                <a:latin typeface="DM Sans"/>
                <a:ea typeface="DM Sans" pitchFamily="34" charset="-122"/>
                <a:cs typeface="DM Sans" pitchFamily="34" charset="-120"/>
              </a:rPr>
              <a:t>application,manage</a:t>
            </a:r>
            <a:r>
              <a:rPr lang="en-US" sz="1500" b="1" dirty="0">
                <a:solidFill>
                  <a:srgbClr val="14213D"/>
                </a:solidFill>
                <a:latin typeface="DM Sans"/>
                <a:ea typeface="DM Sans" pitchFamily="34" charset="-122"/>
                <a:cs typeface="DM Sans" pitchFamily="34" charset="-120"/>
              </a:rPr>
              <a:t> time bound session using timer ]</a:t>
            </a:r>
            <a:endParaRPr lang="en-US" sz="1500" dirty="0">
              <a:latin typeface="DM Sans"/>
            </a:endParaRPr>
          </a:p>
        </p:txBody>
      </p:sp>
      <p:sp>
        <p:nvSpPr>
          <p:cNvPr id="7" name="Text 4"/>
          <p:cNvSpPr/>
          <p:nvPr/>
        </p:nvSpPr>
        <p:spPr>
          <a:xfrm>
            <a:off x="812800" y="6238280"/>
            <a:ext cx="7848600" cy="238720"/>
          </a:xfrm>
          <a:prstGeom prst="rect">
            <a:avLst/>
          </a:prstGeom>
          <a:noFill/>
        </p:spPr>
        <p:txBody>
          <a:bodyPr wrap="square" lIns="0" tIns="0" rIns="0" bIns="0" rtlCol="0" anchor="t">
            <a:normAutofit/>
          </a:bodyPr>
          <a:lstStyle/>
          <a:p>
            <a:pPr marL="0" indent="0" algn="l">
              <a:lnSpc>
                <a:spcPts val="1680"/>
              </a:lnSpc>
              <a:buNone/>
            </a:pPr>
            <a:r>
              <a:rPr lang="en-US" sz="1200">
                <a:solidFill>
                  <a:srgbClr val="4A5568"/>
                </a:solidFill>
                <a:latin typeface="DM Sans"/>
                <a:ea typeface="DM Sans" pitchFamily="34" charset="-122"/>
                <a:cs typeface="DM Sans" pitchFamily="34" charset="-120"/>
              </a:rPr>
              <a:t>18 · [FARZIII-PAY]</a:t>
            </a:r>
            <a:endParaRPr lang="en-US" sz="1200">
              <a:latin typeface="DM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5EF"/>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a:solidFill>
                  <a:srgbClr val="B4490F"/>
                </a:solidFill>
                <a:latin typeface="DM Sans" pitchFamily="34" charset="0"/>
                <a:ea typeface="DM Sans" pitchFamily="34" charset="-122"/>
                <a:cs typeface="DM Sans" pitchFamily="34" charset="-120"/>
              </a:rPr>
              <a:t>PART 5 · WRAP-UP</a:t>
            </a:r>
            <a:endParaRPr lang="en-US" sz="1200"/>
          </a:p>
        </p:txBody>
      </p:sp>
      <p:sp>
        <p:nvSpPr>
          <p:cNvPr id="3" name="Text 1"/>
          <p:cNvSpPr>
            <a:spLocks noGrp="1"/>
          </p:cNvSpPr>
          <p:nvPr>
            <p:ph type="title"/>
          </p:nvPr>
        </p:nvSpPr>
        <p:spPr>
          <a:xfrm>
            <a:off x="812800" y="1102320"/>
            <a:ext cx="10883392" cy="472430"/>
          </a:xfrm>
          <a:prstGeom prst="rect">
            <a:avLst/>
          </a:prstGeom>
          <a:noFill/>
        </p:spPr>
        <p:txBody>
          <a:bodyPr wrap="square" lIns="0" tIns="0" rIns="0" bIns="0" rtlCol="0" anchor="t">
            <a:normAutofit/>
          </a:bodyPr>
          <a:lstStyle/>
          <a:p>
            <a:pPr marL="0" indent="0" algn="l">
              <a:lnSpc>
                <a:spcPts val="3520"/>
              </a:lnSpc>
              <a:buNone/>
            </a:pPr>
            <a:r>
              <a:rPr lang="en-US" sz="3200" b="1" i="0">
                <a:solidFill>
                  <a:srgbClr val="14213D"/>
                </a:solidFill>
                <a:latin typeface="DM Sans" pitchFamily="34" charset="0"/>
                <a:ea typeface="DM Sans" pitchFamily="34" charset="-122"/>
                <a:cs typeface="DM Sans" pitchFamily="34" charset="-120"/>
              </a:rPr>
              <a:t>Future Scope</a:t>
            </a:r>
            <a:endParaRPr lang="en-US" sz="3200"/>
          </a:p>
        </p:txBody>
      </p:sp>
      <p:sp>
        <p:nvSpPr>
          <p:cNvPr id="4" name="Shape 2"/>
          <p:cNvSpPr/>
          <p:nvPr/>
        </p:nvSpPr>
        <p:spPr>
          <a:xfrm>
            <a:off x="815975" y="1806525"/>
            <a:ext cx="5200650" cy="947390"/>
          </a:xfrm>
          <a:prstGeom prst="roundRect">
            <a:avLst>
              <a:gd name="adj" fmla="val 10389"/>
            </a:avLst>
          </a:prstGeom>
          <a:solidFill>
            <a:srgbClr val="FFFFFF"/>
          </a:solidFill>
          <a:ln w="6350">
            <a:solidFill>
              <a:srgbClr val="DDD8CC"/>
            </a:solidFill>
            <a:prstDash val="solid"/>
          </a:ln>
        </p:spPr>
      </p:sp>
      <p:pic>
        <p:nvPicPr>
          <p:cNvPr id="5" name="Image 0" descr="Lightbulb"/>
          <p:cNvPicPr>
            <a:picLocks noChangeAspect="1"/>
          </p:cNvPicPr>
          <p:nvPr/>
        </p:nvPicPr>
        <p:blipFill>
          <a:blip r:embed="rId1"/>
          <a:srcRect/>
          <a:stretch>
            <a:fillRect/>
          </a:stretch>
        </p:blipFill>
        <p:spPr>
          <a:xfrm>
            <a:off x="1022350" y="2102396"/>
            <a:ext cx="355600" cy="355600"/>
          </a:xfrm>
          <a:prstGeom prst="rect">
            <a:avLst/>
          </a:prstGeom>
        </p:spPr>
      </p:pic>
      <p:sp>
        <p:nvSpPr>
          <p:cNvPr id="6" name="Text 3"/>
          <p:cNvSpPr/>
          <p:nvPr/>
        </p:nvSpPr>
        <p:spPr>
          <a:xfrm>
            <a:off x="1530350" y="2012900"/>
            <a:ext cx="4408297" cy="273050"/>
          </a:xfrm>
          <a:prstGeom prst="rect">
            <a:avLst/>
          </a:prstGeom>
          <a:noFill/>
        </p:spPr>
        <p:txBody>
          <a:bodyPr wrap="square" lIns="0" tIns="0" rIns="0" bIns="0" rtlCol="0" anchor="t">
            <a:normAutofit/>
          </a:bodyPr>
          <a:lstStyle/>
          <a:p>
            <a:pPr>
              <a:lnSpc>
                <a:spcPts val="1950"/>
              </a:lnSpc>
            </a:pPr>
            <a:r>
              <a:rPr lang="en-US" sz="1500" b="1">
                <a:solidFill>
                  <a:srgbClr val="14213D"/>
                </a:solidFill>
                <a:latin typeface="DM Sans"/>
                <a:ea typeface="DM Sans" pitchFamily="34" charset="-122"/>
                <a:cs typeface="DM Sans" pitchFamily="34" charset="-120"/>
              </a:rPr>
              <a:t>[Add smart payment tracking ]</a:t>
            </a:r>
            <a:endParaRPr lang="en-US" sz="1500">
              <a:latin typeface="DM Sans"/>
            </a:endParaRPr>
          </a:p>
        </p:txBody>
      </p:sp>
      <p:sp>
        <p:nvSpPr>
          <p:cNvPr id="7" name="Text 4"/>
          <p:cNvSpPr/>
          <p:nvPr/>
        </p:nvSpPr>
        <p:spPr>
          <a:xfrm>
            <a:off x="1530350" y="2298650"/>
            <a:ext cx="4408297" cy="274290"/>
          </a:xfrm>
          <a:prstGeom prst="rect">
            <a:avLst/>
          </a:prstGeom>
          <a:noFill/>
        </p:spPr>
        <p:txBody>
          <a:bodyPr wrap="square" lIns="0" tIns="0" rIns="0" bIns="0" rtlCol="0" anchor="t">
            <a:normAutofit fontScale="85000" lnSpcReduction="10000"/>
          </a:bodyPr>
          <a:lstStyle/>
          <a:p>
            <a:pPr>
              <a:lnSpc>
                <a:spcPts val="1960"/>
              </a:lnSpc>
            </a:pPr>
            <a:r>
              <a:rPr lang="en-US" sz="1400">
                <a:solidFill>
                  <a:srgbClr val="4A5568"/>
                </a:solidFill>
                <a:latin typeface="DM Sans"/>
                <a:ea typeface="DM Sans" pitchFamily="34" charset="-122"/>
                <a:cs typeface="DM Sans" pitchFamily="34" charset="-120"/>
              </a:rPr>
              <a:t>[e.g. Live transaction history &amp; </a:t>
            </a:r>
            <a:r>
              <a:rPr lang="en-US" sz="1400" err="1">
                <a:solidFill>
                  <a:srgbClr val="4A5568"/>
                </a:solidFill>
                <a:latin typeface="DM Sans"/>
                <a:ea typeface="DM Sans" pitchFamily="34" charset="-122"/>
                <a:cs typeface="DM Sans" pitchFamily="34" charset="-120"/>
              </a:rPr>
              <a:t>dowlnoad</a:t>
            </a:r>
            <a:r>
              <a:rPr lang="en-US" sz="1400">
                <a:solidFill>
                  <a:srgbClr val="4A5568"/>
                </a:solidFill>
                <a:latin typeface="DM Sans"/>
                <a:ea typeface="DM Sans" pitchFamily="34" charset="-122"/>
                <a:cs typeface="DM Sans" pitchFamily="34" charset="-120"/>
              </a:rPr>
              <a:t> payment receipts  ]</a:t>
            </a:r>
            <a:endParaRPr lang="en-US" sz="1400">
              <a:latin typeface="DM Sans"/>
            </a:endParaRPr>
          </a:p>
        </p:txBody>
      </p:sp>
      <p:sp>
        <p:nvSpPr>
          <p:cNvPr id="8" name="Shape 5"/>
          <p:cNvSpPr/>
          <p:nvPr/>
        </p:nvSpPr>
        <p:spPr>
          <a:xfrm>
            <a:off x="6175375" y="1806525"/>
            <a:ext cx="5200650" cy="947390"/>
          </a:xfrm>
          <a:prstGeom prst="roundRect">
            <a:avLst>
              <a:gd name="adj" fmla="val 10389"/>
            </a:avLst>
          </a:prstGeom>
          <a:solidFill>
            <a:srgbClr val="FFFFFF"/>
          </a:solidFill>
          <a:ln w="6350">
            <a:solidFill>
              <a:srgbClr val="DDD8CC"/>
            </a:solidFill>
            <a:prstDash val="solid"/>
          </a:ln>
        </p:spPr>
      </p:sp>
      <p:pic>
        <p:nvPicPr>
          <p:cNvPr id="9" name="Image 1" descr="Cloud"/>
          <p:cNvPicPr>
            <a:picLocks noChangeAspect="1"/>
          </p:cNvPicPr>
          <p:nvPr/>
        </p:nvPicPr>
        <p:blipFill>
          <a:blip r:embed="rId2"/>
          <a:srcRect/>
          <a:stretch>
            <a:fillRect/>
          </a:stretch>
        </p:blipFill>
        <p:spPr>
          <a:xfrm>
            <a:off x="6381750" y="2102396"/>
            <a:ext cx="355600" cy="355600"/>
          </a:xfrm>
          <a:prstGeom prst="rect">
            <a:avLst/>
          </a:prstGeom>
        </p:spPr>
      </p:pic>
      <p:sp>
        <p:nvSpPr>
          <p:cNvPr id="10" name="Text 6"/>
          <p:cNvSpPr/>
          <p:nvPr/>
        </p:nvSpPr>
        <p:spPr>
          <a:xfrm>
            <a:off x="6889750" y="2012900"/>
            <a:ext cx="4408297" cy="273050"/>
          </a:xfrm>
          <a:prstGeom prst="rect">
            <a:avLst/>
          </a:prstGeom>
          <a:noFill/>
        </p:spPr>
        <p:txBody>
          <a:bodyPr wrap="square" lIns="0" tIns="0" rIns="0" bIns="0" rtlCol="0" anchor="t">
            <a:normAutofit/>
          </a:bodyPr>
          <a:lstStyle/>
          <a:p>
            <a:pPr>
              <a:lnSpc>
                <a:spcPts val="1950"/>
              </a:lnSpc>
            </a:pPr>
            <a:r>
              <a:rPr lang="en-US" sz="1500" b="1">
                <a:solidFill>
                  <a:srgbClr val="14213D"/>
                </a:solidFill>
                <a:latin typeface="DM Sans"/>
              </a:rPr>
              <a:t>[cloud/real time bank API]</a:t>
            </a:r>
            <a:endParaRPr lang="en-US" sz="1500">
              <a:latin typeface="DM Sans"/>
            </a:endParaRPr>
          </a:p>
        </p:txBody>
      </p:sp>
      <p:sp>
        <p:nvSpPr>
          <p:cNvPr id="11" name="Text 7"/>
          <p:cNvSpPr/>
          <p:nvPr/>
        </p:nvSpPr>
        <p:spPr>
          <a:xfrm>
            <a:off x="6889750" y="2298650"/>
            <a:ext cx="4408297" cy="274290"/>
          </a:xfrm>
          <a:prstGeom prst="rect">
            <a:avLst/>
          </a:prstGeom>
          <a:noFill/>
        </p:spPr>
        <p:txBody>
          <a:bodyPr wrap="square" lIns="0" tIns="0" rIns="0" bIns="0" rtlCol="0" anchor="t">
            <a:normAutofit fontScale="85000" lnSpcReduction="10000"/>
          </a:bodyPr>
          <a:lstStyle/>
          <a:p>
            <a:pPr>
              <a:lnSpc>
                <a:spcPts val="1960"/>
              </a:lnSpc>
            </a:pPr>
            <a:r>
              <a:rPr lang="en-US" sz="1400">
                <a:solidFill>
                  <a:srgbClr val="4A5568"/>
                </a:solidFill>
                <a:latin typeface="DM Sans"/>
              </a:rPr>
              <a:t>[live banking gateway for automated payment verification]</a:t>
            </a:r>
            <a:endParaRPr lang="en-US" sz="1400">
              <a:latin typeface="DM Sans"/>
            </a:endParaRPr>
          </a:p>
        </p:txBody>
      </p:sp>
      <p:sp>
        <p:nvSpPr>
          <p:cNvPr id="12" name="Shape 8"/>
          <p:cNvSpPr/>
          <p:nvPr/>
        </p:nvSpPr>
        <p:spPr>
          <a:xfrm>
            <a:off x="815975" y="2912666"/>
            <a:ext cx="5200650" cy="947390"/>
          </a:xfrm>
          <a:prstGeom prst="roundRect">
            <a:avLst>
              <a:gd name="adj" fmla="val 10389"/>
            </a:avLst>
          </a:prstGeom>
          <a:solidFill>
            <a:srgbClr val="FFFFFF"/>
          </a:solidFill>
          <a:ln w="6350">
            <a:solidFill>
              <a:srgbClr val="DDD8CC"/>
            </a:solidFill>
            <a:prstDash val="solid"/>
          </a:ln>
        </p:spPr>
      </p:sp>
      <p:pic>
        <p:nvPicPr>
          <p:cNvPr id="13" name="Image 2" descr="Lock"/>
          <p:cNvPicPr>
            <a:picLocks noChangeAspect="1"/>
          </p:cNvPicPr>
          <p:nvPr/>
        </p:nvPicPr>
        <p:blipFill>
          <a:blip r:embed="rId3"/>
          <a:srcRect/>
          <a:stretch>
            <a:fillRect/>
          </a:stretch>
        </p:blipFill>
        <p:spPr>
          <a:xfrm>
            <a:off x="1022350" y="3208536"/>
            <a:ext cx="355600" cy="355600"/>
          </a:xfrm>
          <a:prstGeom prst="rect">
            <a:avLst/>
          </a:prstGeom>
        </p:spPr>
      </p:pic>
      <p:sp>
        <p:nvSpPr>
          <p:cNvPr id="14" name="Text 9"/>
          <p:cNvSpPr/>
          <p:nvPr/>
        </p:nvSpPr>
        <p:spPr>
          <a:xfrm>
            <a:off x="1530350" y="3119041"/>
            <a:ext cx="4408297" cy="273050"/>
          </a:xfrm>
          <a:prstGeom prst="rect">
            <a:avLst/>
          </a:prstGeom>
          <a:noFill/>
        </p:spPr>
        <p:txBody>
          <a:bodyPr wrap="square" lIns="0" tIns="0" rIns="0" bIns="0" rtlCol="0" anchor="t">
            <a:normAutofit/>
          </a:bodyPr>
          <a:lstStyle/>
          <a:p>
            <a:pPr marL="0" indent="0" algn="l">
              <a:lnSpc>
                <a:spcPts val="1950"/>
              </a:lnSpc>
              <a:buNone/>
            </a:pPr>
            <a:r>
              <a:rPr lang="en-US" sz="1500" b="1">
                <a:solidFill>
                  <a:srgbClr val="14213D"/>
                </a:solidFill>
                <a:latin typeface="DM Sans" pitchFamily="34" charset="0"/>
                <a:ea typeface="DM Sans" pitchFamily="34" charset="-122"/>
                <a:cs typeface="DM Sans" pitchFamily="34" charset="-120"/>
              </a:rPr>
              <a:t>[Stronger security]</a:t>
            </a:r>
            <a:endParaRPr lang="en-US" sz="1500"/>
          </a:p>
        </p:txBody>
      </p:sp>
      <p:sp>
        <p:nvSpPr>
          <p:cNvPr id="15" name="Text 10"/>
          <p:cNvSpPr/>
          <p:nvPr/>
        </p:nvSpPr>
        <p:spPr>
          <a:xfrm>
            <a:off x="1530350" y="3404791"/>
            <a:ext cx="4408297" cy="274290"/>
          </a:xfrm>
          <a:prstGeom prst="rect">
            <a:avLst/>
          </a:prstGeom>
          <a:noFill/>
        </p:spPr>
        <p:txBody>
          <a:bodyPr wrap="square" lIns="0" tIns="0" rIns="0" bIns="0" rtlCol="0" anchor="t">
            <a:normAutofit/>
          </a:bodyPr>
          <a:lstStyle/>
          <a:p>
            <a:pPr>
              <a:lnSpc>
                <a:spcPts val="1960"/>
              </a:lnSpc>
            </a:pPr>
            <a:r>
              <a:rPr lang="en-US" sz="1400">
                <a:solidFill>
                  <a:srgbClr val="4A5568"/>
                </a:solidFill>
                <a:latin typeface="DM Sans"/>
              </a:rPr>
              <a:t>[Secure user authentication login]</a:t>
            </a:r>
            <a:endParaRPr lang="en-US" sz="1400"/>
          </a:p>
        </p:txBody>
      </p:sp>
      <p:sp>
        <p:nvSpPr>
          <p:cNvPr id="16" name="Shape 11"/>
          <p:cNvSpPr/>
          <p:nvPr/>
        </p:nvSpPr>
        <p:spPr>
          <a:xfrm>
            <a:off x="6175375" y="2912666"/>
            <a:ext cx="5200650" cy="947390"/>
          </a:xfrm>
          <a:prstGeom prst="roundRect">
            <a:avLst>
              <a:gd name="adj" fmla="val 10389"/>
            </a:avLst>
          </a:prstGeom>
          <a:solidFill>
            <a:srgbClr val="FFFFFF"/>
          </a:solidFill>
          <a:ln w="6350">
            <a:solidFill>
              <a:srgbClr val="DDD8CC"/>
            </a:solidFill>
            <a:prstDash val="solid"/>
          </a:ln>
        </p:spPr>
      </p:sp>
      <p:pic>
        <p:nvPicPr>
          <p:cNvPr id="17" name="Image 3" descr="Users"/>
          <p:cNvPicPr>
            <a:picLocks noChangeAspect="1"/>
          </p:cNvPicPr>
          <p:nvPr/>
        </p:nvPicPr>
        <p:blipFill>
          <a:blip r:embed="rId4"/>
          <a:srcRect/>
          <a:stretch>
            <a:fillRect/>
          </a:stretch>
        </p:blipFill>
        <p:spPr>
          <a:xfrm>
            <a:off x="6381750" y="3208536"/>
            <a:ext cx="355600" cy="355600"/>
          </a:xfrm>
          <a:prstGeom prst="rect">
            <a:avLst/>
          </a:prstGeom>
        </p:spPr>
      </p:pic>
      <p:sp>
        <p:nvSpPr>
          <p:cNvPr id="18" name="Text 12"/>
          <p:cNvSpPr/>
          <p:nvPr/>
        </p:nvSpPr>
        <p:spPr>
          <a:xfrm>
            <a:off x="6889750" y="3119041"/>
            <a:ext cx="4408297" cy="273050"/>
          </a:xfrm>
          <a:prstGeom prst="rect">
            <a:avLst/>
          </a:prstGeom>
          <a:noFill/>
        </p:spPr>
        <p:txBody>
          <a:bodyPr wrap="square" lIns="0" tIns="0" rIns="0" bIns="0" rtlCol="0" anchor="t">
            <a:normAutofit/>
          </a:bodyPr>
          <a:lstStyle/>
          <a:p>
            <a:pPr marL="0" indent="0" algn="l">
              <a:lnSpc>
                <a:spcPts val="1950"/>
              </a:lnSpc>
              <a:buNone/>
            </a:pPr>
            <a:r>
              <a:rPr lang="en-US" sz="1500" b="1">
                <a:solidFill>
                  <a:srgbClr val="14213D"/>
                </a:solidFill>
                <a:latin typeface="DM Sans" pitchFamily="34" charset="0"/>
                <a:ea typeface="DM Sans" pitchFamily="34" charset="-122"/>
                <a:cs typeface="DM Sans" pitchFamily="34" charset="-120"/>
              </a:rPr>
              <a:t>[Multi-user support]</a:t>
            </a:r>
            <a:endParaRPr lang="en-US" sz="1500"/>
          </a:p>
        </p:txBody>
      </p:sp>
      <p:sp>
        <p:nvSpPr>
          <p:cNvPr id="19" name="Text 13"/>
          <p:cNvSpPr/>
          <p:nvPr/>
        </p:nvSpPr>
        <p:spPr>
          <a:xfrm>
            <a:off x="6889750" y="3404791"/>
            <a:ext cx="4408297" cy="274290"/>
          </a:xfrm>
          <a:prstGeom prst="rect">
            <a:avLst/>
          </a:prstGeom>
          <a:noFill/>
        </p:spPr>
        <p:txBody>
          <a:bodyPr wrap="square" lIns="0" tIns="0" rIns="0" bIns="0" rtlCol="0" anchor="t">
            <a:normAutofit fontScale="92500"/>
          </a:bodyPr>
          <a:lstStyle/>
          <a:p>
            <a:pPr>
              <a:lnSpc>
                <a:spcPts val="1960"/>
              </a:lnSpc>
            </a:pPr>
            <a:r>
              <a:rPr lang="en-US" sz="1400">
                <a:solidFill>
                  <a:srgbClr val="4A5568"/>
                </a:solidFill>
                <a:latin typeface="DM Sans"/>
              </a:rPr>
              <a:t>[allows </a:t>
            </a:r>
            <a:r>
              <a:rPr lang="en-US" sz="1400" err="1">
                <a:solidFill>
                  <a:srgbClr val="4A5568"/>
                </a:solidFill>
                <a:latin typeface="DM Sans"/>
              </a:rPr>
              <a:t>multipal</a:t>
            </a:r>
            <a:r>
              <a:rPr lang="en-US" sz="1400">
                <a:solidFill>
                  <a:srgbClr val="4A5568"/>
                </a:solidFill>
                <a:latin typeface="DM Sans"/>
              </a:rPr>
              <a:t> shop owner to generate their own </a:t>
            </a:r>
            <a:r>
              <a:rPr lang="en-US" sz="1400" err="1">
                <a:solidFill>
                  <a:srgbClr val="4A5568"/>
                </a:solidFill>
                <a:latin typeface="DM Sans"/>
              </a:rPr>
              <a:t>qr</a:t>
            </a:r>
            <a:r>
              <a:rPr lang="en-US" sz="1400">
                <a:solidFill>
                  <a:srgbClr val="4A5568"/>
                </a:solidFill>
                <a:latin typeface="DM Sans"/>
              </a:rPr>
              <a:t> ]</a:t>
            </a:r>
            <a:endParaRPr lang="en-US" sz="1400">
              <a:latin typeface="DM Sans"/>
            </a:endParaRPr>
          </a:p>
        </p:txBody>
      </p:sp>
      <p:sp>
        <p:nvSpPr>
          <p:cNvPr id="20" name="Text 14"/>
          <p:cNvSpPr/>
          <p:nvPr/>
        </p:nvSpPr>
        <p:spPr>
          <a:xfrm>
            <a:off x="812800" y="6238280"/>
            <a:ext cx="7848600" cy="238720"/>
          </a:xfrm>
          <a:prstGeom prst="rect">
            <a:avLst/>
          </a:prstGeom>
          <a:noFill/>
        </p:spPr>
        <p:txBody>
          <a:bodyPr wrap="square" lIns="0" tIns="0" rIns="0" bIns="0" rtlCol="0" anchor="t">
            <a:normAutofit/>
          </a:bodyPr>
          <a:lstStyle/>
          <a:p>
            <a:pPr>
              <a:lnSpc>
                <a:spcPts val="1680"/>
              </a:lnSpc>
            </a:pPr>
            <a:r>
              <a:rPr lang="en-US" sz="1200">
                <a:solidFill>
                  <a:srgbClr val="4A5568"/>
                </a:solidFill>
                <a:latin typeface="DM Sans"/>
                <a:ea typeface="DM Sans" pitchFamily="34" charset="-122"/>
                <a:cs typeface="DM Sans" pitchFamily="34" charset="-120"/>
              </a:rPr>
              <a:t>19 · [FAZIII PAY]</a:t>
            </a:r>
            <a:endParaRPr lang="en-US" sz="1200">
              <a:latin typeface="DM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a:solidFill>
                  <a:srgbClr val="E8772E"/>
                </a:solidFill>
                <a:latin typeface="DM Sans" pitchFamily="34" charset="0"/>
                <a:ea typeface="DM Sans" pitchFamily="34" charset="-122"/>
                <a:cs typeface="DM Sans" pitchFamily="34" charset="-120"/>
              </a:rPr>
              <a:t>PART 5 · WRAP-UP</a:t>
            </a:r>
            <a:endParaRPr lang="en-US" sz="1200"/>
          </a:p>
        </p:txBody>
      </p:sp>
      <p:sp>
        <p:nvSpPr>
          <p:cNvPr id="3" name="Text 1"/>
          <p:cNvSpPr>
            <a:spLocks noGrp="1"/>
          </p:cNvSpPr>
          <p:nvPr>
            <p:ph type="title"/>
          </p:nvPr>
        </p:nvSpPr>
        <p:spPr>
          <a:xfrm>
            <a:off x="812800" y="1102320"/>
            <a:ext cx="10883392" cy="472430"/>
          </a:xfrm>
          <a:prstGeom prst="rect">
            <a:avLst/>
          </a:prstGeom>
          <a:noFill/>
        </p:spPr>
        <p:txBody>
          <a:bodyPr wrap="square" lIns="0" tIns="0" rIns="0" bIns="0" rtlCol="0" anchor="t">
            <a:normAutofit/>
          </a:bodyPr>
          <a:lstStyle/>
          <a:p>
            <a:pPr marL="0" indent="0" algn="l">
              <a:lnSpc>
                <a:spcPts val="3520"/>
              </a:lnSpc>
              <a:buNone/>
            </a:pPr>
            <a:r>
              <a:rPr lang="en-US" sz="3200" b="1" i="0">
                <a:solidFill>
                  <a:srgbClr val="F7F5EF"/>
                </a:solidFill>
                <a:latin typeface="DM Sans" pitchFamily="34" charset="0"/>
                <a:ea typeface="DM Sans" pitchFamily="34" charset="-122"/>
                <a:cs typeface="DM Sans" pitchFamily="34" charset="-120"/>
              </a:rPr>
              <a:t>Conclusion</a:t>
            </a:r>
            <a:endParaRPr lang="en-US" sz="3200"/>
          </a:p>
        </p:txBody>
      </p:sp>
      <p:sp>
        <p:nvSpPr>
          <p:cNvPr id="4" name="Text 2"/>
          <p:cNvSpPr/>
          <p:nvPr/>
        </p:nvSpPr>
        <p:spPr>
          <a:xfrm>
            <a:off x="812800" y="1803350"/>
            <a:ext cx="10883392" cy="711200"/>
          </a:xfrm>
          <a:prstGeom prst="rect">
            <a:avLst/>
          </a:prstGeom>
          <a:noFill/>
        </p:spPr>
        <p:txBody>
          <a:bodyPr wrap="square" lIns="0" tIns="0" rIns="0" bIns="0" rtlCol="0" anchor="t">
            <a:normAutofit/>
          </a:bodyPr>
          <a:lstStyle/>
          <a:p>
            <a:pPr marL="0" indent="0" algn="l">
              <a:lnSpc>
                <a:spcPts val="2700"/>
              </a:lnSpc>
              <a:buNone/>
            </a:pPr>
            <a:endParaRPr lang="en-US" sz="2000">
              <a:solidFill>
                <a:srgbClr val="F7F5EF"/>
              </a:solidFill>
            </a:endParaRPr>
          </a:p>
        </p:txBody>
      </p:sp>
      <p:sp>
        <p:nvSpPr>
          <p:cNvPr id="5" name="Shape 3"/>
          <p:cNvSpPr/>
          <p:nvPr/>
        </p:nvSpPr>
        <p:spPr>
          <a:xfrm>
            <a:off x="812800" y="2743150"/>
            <a:ext cx="3420517" cy="1833845"/>
          </a:xfrm>
          <a:prstGeom prst="roundRect">
            <a:avLst>
              <a:gd name="adj" fmla="val 8696"/>
            </a:avLst>
          </a:prstGeom>
          <a:solidFill>
            <a:srgbClr val="1F2F54"/>
          </a:solidFill>
        </p:spPr>
      </p:sp>
      <p:sp>
        <p:nvSpPr>
          <p:cNvPr id="6" name="Text 4"/>
          <p:cNvSpPr/>
          <p:nvPr/>
        </p:nvSpPr>
        <p:spPr>
          <a:xfrm>
            <a:off x="1016000" y="2946350"/>
            <a:ext cx="3104540" cy="238720"/>
          </a:xfrm>
          <a:prstGeom prst="rect">
            <a:avLst/>
          </a:prstGeom>
          <a:noFill/>
        </p:spPr>
        <p:txBody>
          <a:bodyPr wrap="square" lIns="0" tIns="0" rIns="0" bIns="0" rtlCol="0" anchor="t">
            <a:normAutofit/>
          </a:bodyPr>
          <a:lstStyle/>
          <a:p>
            <a:pPr marL="0" indent="0" algn="l">
              <a:lnSpc>
                <a:spcPts val="1680"/>
              </a:lnSpc>
              <a:buNone/>
            </a:pPr>
            <a:r>
              <a:rPr lang="en-US" sz="1200" b="1" kern="0" spc="100">
                <a:solidFill>
                  <a:srgbClr val="E8772E"/>
                </a:solidFill>
                <a:latin typeface="DM Sans" pitchFamily="34" charset="0"/>
                <a:ea typeface="DM Sans" pitchFamily="34" charset="-122"/>
                <a:cs typeface="DM Sans" pitchFamily="34" charset="-120"/>
              </a:rPr>
              <a:t>WHAT I BUILT</a:t>
            </a:r>
            <a:endParaRPr lang="en-US" sz="1200"/>
          </a:p>
        </p:txBody>
      </p:sp>
      <p:sp>
        <p:nvSpPr>
          <p:cNvPr id="7" name="Text 5"/>
          <p:cNvSpPr/>
          <p:nvPr/>
        </p:nvSpPr>
        <p:spPr>
          <a:xfrm>
            <a:off x="1016000" y="3191180"/>
            <a:ext cx="3104540" cy="1180973"/>
          </a:xfrm>
          <a:prstGeom prst="rect">
            <a:avLst/>
          </a:prstGeom>
          <a:noFill/>
        </p:spPr>
        <p:txBody>
          <a:bodyPr wrap="square" lIns="0" tIns="0" rIns="0" bIns="0" rtlCol="0" anchor="t">
            <a:normAutofit fontScale="85000" lnSpcReduction="10000"/>
          </a:bodyPr>
          <a:lstStyle/>
          <a:p>
            <a:pPr>
              <a:lnSpc>
                <a:spcPts val="1960"/>
              </a:lnSpc>
            </a:pPr>
            <a:r>
              <a:rPr lang="en-US" sz="1400" dirty="0">
                <a:solidFill>
                  <a:srgbClr val="F7F5EF"/>
                </a:solidFill>
                <a:latin typeface="DM Sans"/>
              </a:rPr>
              <a:t>[Developed a secure UPI payment portal featuring live input </a:t>
            </a:r>
            <a:r>
              <a:rPr lang="en-US" sz="1400" dirty="0" err="1">
                <a:solidFill>
                  <a:srgbClr val="F7F5EF"/>
                </a:solidFill>
                <a:latin typeface="DM Sans"/>
              </a:rPr>
              <a:t>validation,dynamic</a:t>
            </a:r>
            <a:r>
              <a:rPr lang="en-US" sz="1400" dirty="0">
                <a:solidFill>
                  <a:srgbClr val="F7F5EF"/>
                </a:solidFill>
                <a:latin typeface="DM Sans"/>
              </a:rPr>
              <a:t> QR code </a:t>
            </a:r>
            <a:r>
              <a:rPr lang="en-US" sz="1400" dirty="0" err="1">
                <a:solidFill>
                  <a:srgbClr val="F7F5EF"/>
                </a:solidFill>
                <a:latin typeface="DM Sans"/>
              </a:rPr>
              <a:t>generation,a</a:t>
            </a:r>
            <a:r>
              <a:rPr lang="en-US" sz="1400" dirty="0">
                <a:solidFill>
                  <a:srgbClr val="F7F5EF"/>
                </a:solidFill>
                <a:latin typeface="DM Sans"/>
              </a:rPr>
              <a:t> 60 sec countdown session timer, and receipt export]</a:t>
            </a:r>
            <a:endParaRPr lang="en-US" sz="1400" dirty="0">
              <a:latin typeface="DM Sans"/>
            </a:endParaRPr>
          </a:p>
        </p:txBody>
      </p:sp>
      <p:sp>
        <p:nvSpPr>
          <p:cNvPr id="8" name="Shape 6"/>
          <p:cNvSpPr/>
          <p:nvPr/>
        </p:nvSpPr>
        <p:spPr>
          <a:xfrm>
            <a:off x="4385717" y="2743150"/>
            <a:ext cx="3420566" cy="1833845"/>
          </a:xfrm>
          <a:prstGeom prst="roundRect">
            <a:avLst>
              <a:gd name="adj" fmla="val 8696"/>
            </a:avLst>
          </a:prstGeom>
          <a:solidFill>
            <a:srgbClr val="1F2F54"/>
          </a:solidFill>
        </p:spPr>
      </p:sp>
      <p:sp>
        <p:nvSpPr>
          <p:cNvPr id="9" name="Text 7"/>
          <p:cNvSpPr/>
          <p:nvPr/>
        </p:nvSpPr>
        <p:spPr>
          <a:xfrm>
            <a:off x="4588917" y="2946350"/>
            <a:ext cx="3104591" cy="238720"/>
          </a:xfrm>
          <a:prstGeom prst="rect">
            <a:avLst/>
          </a:prstGeom>
          <a:noFill/>
        </p:spPr>
        <p:txBody>
          <a:bodyPr wrap="square" lIns="0" tIns="0" rIns="0" bIns="0" rtlCol="0" anchor="t">
            <a:normAutofit/>
          </a:bodyPr>
          <a:lstStyle/>
          <a:p>
            <a:pPr marL="0" indent="0" algn="l">
              <a:lnSpc>
                <a:spcPts val="1680"/>
              </a:lnSpc>
              <a:buNone/>
            </a:pPr>
            <a:r>
              <a:rPr lang="en-US" sz="1200" b="1" kern="0" spc="100">
                <a:solidFill>
                  <a:srgbClr val="E8772E"/>
                </a:solidFill>
                <a:latin typeface="DM Sans" pitchFamily="34" charset="0"/>
                <a:ea typeface="DM Sans" pitchFamily="34" charset="-122"/>
                <a:cs typeface="DM Sans" pitchFamily="34" charset="-120"/>
              </a:rPr>
              <a:t>WHAT I LEARNED</a:t>
            </a:r>
            <a:endParaRPr lang="en-US" sz="1200"/>
          </a:p>
        </p:txBody>
      </p:sp>
      <p:sp>
        <p:nvSpPr>
          <p:cNvPr id="10" name="Text 8"/>
          <p:cNvSpPr/>
          <p:nvPr/>
        </p:nvSpPr>
        <p:spPr>
          <a:xfrm>
            <a:off x="4588916" y="3413028"/>
            <a:ext cx="3104591" cy="1169432"/>
          </a:xfrm>
          <a:prstGeom prst="rect">
            <a:avLst/>
          </a:prstGeom>
          <a:noFill/>
        </p:spPr>
        <p:txBody>
          <a:bodyPr wrap="square" lIns="0" tIns="0" rIns="0" bIns="0" rtlCol="0" anchor="t">
            <a:normAutofit/>
          </a:bodyPr>
          <a:lstStyle/>
          <a:p>
            <a:pPr>
              <a:lnSpc>
                <a:spcPts val="1960"/>
              </a:lnSpc>
            </a:pPr>
            <a:r>
              <a:rPr lang="en-US" sz="1400" dirty="0">
                <a:solidFill>
                  <a:srgbClr val="F7F5EF"/>
                </a:solidFill>
                <a:latin typeface="DM Sans"/>
              </a:rPr>
              <a:t>[java swing GUI </a:t>
            </a:r>
            <a:r>
              <a:rPr lang="en-US" sz="1400" dirty="0" err="1">
                <a:solidFill>
                  <a:srgbClr val="F7F5EF"/>
                </a:solidFill>
                <a:latin typeface="DM Sans"/>
              </a:rPr>
              <a:t>design,oops,multithreading</a:t>
            </a:r>
            <a:r>
              <a:rPr lang="en-US" sz="1400" dirty="0">
                <a:solidFill>
                  <a:srgbClr val="F7F5EF"/>
                </a:solidFill>
                <a:latin typeface="DM Sans"/>
              </a:rPr>
              <a:t> using </a:t>
            </a:r>
            <a:r>
              <a:rPr lang="en-US" sz="1400" dirty="0" err="1">
                <a:solidFill>
                  <a:srgbClr val="F7F5EF"/>
                </a:solidFill>
                <a:latin typeface="DM Sans"/>
              </a:rPr>
              <a:t>swingWorker</a:t>
            </a:r>
            <a:r>
              <a:rPr lang="en-US" sz="1400" dirty="0">
                <a:solidFill>
                  <a:srgbClr val="F7F5EF"/>
                </a:solidFill>
                <a:latin typeface="DM Sans"/>
              </a:rPr>
              <a:t> ,exception handling]</a:t>
            </a:r>
            <a:endParaRPr lang="en-US" sz="1400" dirty="0">
              <a:latin typeface="DM Sans"/>
            </a:endParaRPr>
          </a:p>
        </p:txBody>
      </p:sp>
      <p:sp>
        <p:nvSpPr>
          <p:cNvPr id="11" name="Shape 9"/>
          <p:cNvSpPr/>
          <p:nvPr/>
        </p:nvSpPr>
        <p:spPr>
          <a:xfrm>
            <a:off x="7958683" y="2743150"/>
            <a:ext cx="3420517" cy="1824199"/>
          </a:xfrm>
          <a:prstGeom prst="roundRect">
            <a:avLst>
              <a:gd name="adj" fmla="val 8696"/>
            </a:avLst>
          </a:prstGeom>
          <a:solidFill>
            <a:srgbClr val="1F2F54"/>
          </a:solidFill>
        </p:spPr>
      </p:sp>
      <p:sp>
        <p:nvSpPr>
          <p:cNvPr id="12" name="Text 10"/>
          <p:cNvSpPr/>
          <p:nvPr/>
        </p:nvSpPr>
        <p:spPr>
          <a:xfrm>
            <a:off x="8161883" y="2946350"/>
            <a:ext cx="3104540" cy="238720"/>
          </a:xfrm>
          <a:prstGeom prst="rect">
            <a:avLst/>
          </a:prstGeom>
          <a:noFill/>
        </p:spPr>
        <p:txBody>
          <a:bodyPr wrap="square" lIns="0" tIns="0" rIns="0" bIns="0" rtlCol="0" anchor="t">
            <a:normAutofit/>
          </a:bodyPr>
          <a:lstStyle/>
          <a:p>
            <a:pPr marL="0" indent="0" algn="l">
              <a:lnSpc>
                <a:spcPts val="1680"/>
              </a:lnSpc>
              <a:buNone/>
            </a:pPr>
            <a:r>
              <a:rPr lang="en-US" sz="1200" b="1" kern="0" spc="100">
                <a:solidFill>
                  <a:srgbClr val="E8772E"/>
                </a:solidFill>
                <a:latin typeface="DM Sans" pitchFamily="34" charset="0"/>
                <a:ea typeface="DM Sans" pitchFamily="34" charset="-122"/>
                <a:cs typeface="DM Sans" pitchFamily="34" charset="-120"/>
              </a:rPr>
              <a:t>IMPACT</a:t>
            </a:r>
            <a:endParaRPr lang="en-US" sz="1200"/>
          </a:p>
        </p:txBody>
      </p:sp>
      <p:sp>
        <p:nvSpPr>
          <p:cNvPr id="13" name="Text 11"/>
          <p:cNvSpPr/>
          <p:nvPr/>
        </p:nvSpPr>
        <p:spPr>
          <a:xfrm>
            <a:off x="8161883" y="3200826"/>
            <a:ext cx="3104540" cy="1161681"/>
          </a:xfrm>
          <a:prstGeom prst="rect">
            <a:avLst/>
          </a:prstGeom>
          <a:noFill/>
        </p:spPr>
        <p:txBody>
          <a:bodyPr wrap="square" lIns="0" tIns="0" rIns="0" bIns="0" rtlCol="0" anchor="t">
            <a:normAutofit/>
          </a:bodyPr>
          <a:lstStyle/>
          <a:p>
            <a:pPr>
              <a:lnSpc>
                <a:spcPts val="1960"/>
              </a:lnSpc>
            </a:pPr>
            <a:r>
              <a:rPr lang="en-US" sz="1400">
                <a:solidFill>
                  <a:srgbClr val="F7F5EF"/>
                </a:solidFill>
                <a:latin typeface="DM Sans"/>
              </a:rPr>
              <a:t>[</a:t>
            </a:r>
            <a:r>
              <a:rPr lang="en-US" sz="1400" err="1">
                <a:solidFill>
                  <a:srgbClr val="F7F5EF"/>
                </a:solidFill>
                <a:latin typeface="DM Sans"/>
              </a:rPr>
              <a:t>fast,error</a:t>
            </a:r>
            <a:r>
              <a:rPr lang="en-US" sz="1400">
                <a:solidFill>
                  <a:srgbClr val="F7F5EF"/>
                </a:solidFill>
                <a:latin typeface="DM Sans"/>
              </a:rPr>
              <a:t> </a:t>
            </a:r>
            <a:r>
              <a:rPr lang="en-US" sz="1400" err="1">
                <a:solidFill>
                  <a:srgbClr val="F7F5EF"/>
                </a:solidFill>
                <a:latin typeface="DM Sans"/>
              </a:rPr>
              <a:t>free,secure,user</a:t>
            </a:r>
            <a:r>
              <a:rPr lang="en-US" sz="1400">
                <a:solidFill>
                  <a:srgbClr val="F7F5EF"/>
                </a:solidFill>
                <a:latin typeface="DM Sans"/>
              </a:rPr>
              <a:t> friendly payment]</a:t>
            </a:r>
            <a:endParaRPr lang="en-US" sz="1400"/>
          </a:p>
        </p:txBody>
      </p:sp>
      <p:sp>
        <p:nvSpPr>
          <p:cNvPr id="14" name="Text 12"/>
          <p:cNvSpPr/>
          <p:nvPr/>
        </p:nvSpPr>
        <p:spPr>
          <a:xfrm>
            <a:off x="812800" y="6238280"/>
            <a:ext cx="7848600" cy="238720"/>
          </a:xfrm>
          <a:prstGeom prst="rect">
            <a:avLst/>
          </a:prstGeom>
          <a:noFill/>
        </p:spPr>
        <p:txBody>
          <a:bodyPr wrap="square" lIns="0" tIns="0" rIns="0" bIns="0" rtlCol="0" anchor="t">
            <a:normAutofit/>
          </a:bodyPr>
          <a:lstStyle/>
          <a:p>
            <a:pPr marL="0" indent="0" algn="l">
              <a:lnSpc>
                <a:spcPts val="1680"/>
              </a:lnSpc>
              <a:buNone/>
            </a:pPr>
            <a:r>
              <a:rPr lang="en-US" sz="1200">
                <a:solidFill>
                  <a:srgbClr val="C9D1E3"/>
                </a:solidFill>
                <a:latin typeface="DM Sans"/>
                <a:ea typeface="DM Sans" pitchFamily="34" charset="-122"/>
                <a:cs typeface="DM Sans" pitchFamily="34" charset="-120"/>
              </a:rPr>
              <a:t>20 · [FRZIII-PAY]</a:t>
            </a:r>
            <a:endParaRPr lang="en-US" sz="1200">
              <a:latin typeface="DM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CE8D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p:spPr>
        <p:txBody>
          <a:bodyPr wrap="square" lIns="0" tIns="0" rIns="0" bIns="0" rtlCol="0" anchor="t">
            <a:normAutofit/>
          </a:bodyPr>
          <a:lstStyle/>
          <a:p>
            <a:pPr marL="0" indent="0" algn="l">
              <a:lnSpc>
                <a:spcPts val="1680"/>
              </a:lnSpc>
              <a:buNone/>
            </a:pPr>
            <a:r>
              <a:rPr lang="en-US" sz="1200" b="1" kern="0" spc="150">
                <a:solidFill>
                  <a:srgbClr val="B4490F"/>
                </a:solidFill>
                <a:latin typeface="DM Sans" pitchFamily="34" charset="0"/>
                <a:ea typeface="DM Sans" pitchFamily="34" charset="-122"/>
                <a:cs typeface="DM Sans" pitchFamily="34" charset="-120"/>
              </a:rPr>
              <a:t>PART 5 · WRAP-UP</a:t>
            </a:r>
            <a:endParaRPr lang="en-US" sz="1200"/>
          </a:p>
        </p:txBody>
      </p:sp>
      <p:sp>
        <p:nvSpPr>
          <p:cNvPr id="3" name="Text 1"/>
          <p:cNvSpPr>
            <a:spLocks noGrp="1"/>
          </p:cNvSpPr>
          <p:nvPr>
            <p:ph type="title"/>
          </p:nvPr>
        </p:nvSpPr>
        <p:spPr>
          <a:xfrm>
            <a:off x="812800" y="1102320"/>
            <a:ext cx="10883392" cy="472430"/>
          </a:xfrm>
          <a:prstGeom prst="rect">
            <a:avLst/>
          </a:prstGeom>
          <a:noFill/>
        </p:spPr>
        <p:txBody>
          <a:bodyPr wrap="square" lIns="0" tIns="0" rIns="0" bIns="0" rtlCol="0" anchor="t">
            <a:normAutofit/>
          </a:bodyPr>
          <a:lstStyle/>
          <a:p>
            <a:pPr marL="0" indent="0" algn="l">
              <a:lnSpc>
                <a:spcPts val="3520"/>
              </a:lnSpc>
              <a:buNone/>
            </a:pPr>
            <a:r>
              <a:rPr lang="en-US" sz="3200" b="1" i="0">
                <a:solidFill>
                  <a:srgbClr val="14213D"/>
                </a:solidFill>
                <a:latin typeface="DM Sans" pitchFamily="34" charset="0"/>
                <a:ea typeface="DM Sans" pitchFamily="34" charset="-122"/>
                <a:cs typeface="DM Sans" pitchFamily="34" charset="-120"/>
              </a:rPr>
              <a:t>References</a:t>
            </a:r>
            <a:endParaRPr lang="en-US" sz="3200"/>
          </a:p>
        </p:txBody>
      </p:sp>
      <p:sp>
        <p:nvSpPr>
          <p:cNvPr id="4" name="Shape 2"/>
          <p:cNvSpPr/>
          <p:nvPr/>
        </p:nvSpPr>
        <p:spPr>
          <a:xfrm>
            <a:off x="815975" y="1806525"/>
            <a:ext cx="10560050" cy="1809750"/>
          </a:xfrm>
          <a:prstGeom prst="roundRect">
            <a:avLst>
              <a:gd name="adj" fmla="val 5439"/>
            </a:avLst>
          </a:prstGeom>
          <a:solidFill>
            <a:srgbClr val="FFFFFF"/>
          </a:solidFill>
          <a:ln w="6350">
            <a:solidFill>
              <a:srgbClr val="DDD8CC"/>
            </a:solidFill>
            <a:prstDash val="solid"/>
          </a:ln>
        </p:spPr>
      </p:sp>
      <p:sp>
        <p:nvSpPr>
          <p:cNvPr id="5" name="Text 3"/>
          <p:cNvSpPr/>
          <p:nvPr/>
        </p:nvSpPr>
        <p:spPr>
          <a:xfrm>
            <a:off x="1123107" y="2063700"/>
            <a:ext cx="10289494" cy="1320800"/>
          </a:xfrm>
          <a:prstGeom prst="rect">
            <a:avLst/>
          </a:prstGeom>
          <a:noFill/>
        </p:spPr>
        <p:txBody>
          <a:bodyPr wrap="square" lIns="0" tIns="0" rIns="0" bIns="0" rtlCol="0" anchor="t">
            <a:normAutofit/>
          </a:bodyPr>
          <a:lstStyle/>
          <a:p>
            <a:pPr marL="203835" indent="-203835" algn="l">
              <a:lnSpc>
                <a:spcPts val="2550"/>
              </a:lnSpc>
              <a:buSzPct val="100000"/>
              <a:buFontTx/>
              <a:buAutoNum type="arabicPeriod"/>
            </a:pPr>
            <a:r>
              <a:rPr lang="en-US" sz="1500">
                <a:solidFill>
                  <a:srgbClr val="14213D"/>
                </a:solidFill>
                <a:latin typeface="DM Sans" pitchFamily="34" charset="0"/>
                <a:ea typeface="DM Sans" pitchFamily="34" charset="-122"/>
                <a:cs typeface="DM Sans" pitchFamily="34" charset="-120"/>
              </a:rPr>
              <a:t>[Author, Book Title, Publisher, Year]</a:t>
            </a:r>
            <a:endParaRPr lang="en-US" sz="1500"/>
          </a:p>
          <a:p>
            <a:pPr marL="203835" indent="-203835" algn="l">
              <a:lnSpc>
                <a:spcPts val="2550"/>
              </a:lnSpc>
              <a:buSzPct val="100000"/>
              <a:buFontTx/>
              <a:buAutoNum type="arabicPeriod"/>
            </a:pPr>
            <a:r>
              <a:rPr lang="en-US" sz="1500">
                <a:solidFill>
                  <a:srgbClr val="14213D"/>
                </a:solidFill>
                <a:latin typeface="DM Sans" pitchFamily="34" charset="0"/>
                <a:ea typeface="DM Sans" pitchFamily="34" charset="-122"/>
                <a:cs typeface="DM Sans" pitchFamily="34" charset="-120"/>
              </a:rPr>
              <a:t>[Oracle, Java SE Documentation, docs.oracle.com/en/java/]</a:t>
            </a:r>
            <a:endParaRPr lang="en-US" sz="1500"/>
          </a:p>
          <a:p>
            <a:pPr marL="203835" indent="-203835" algn="l">
              <a:lnSpc>
                <a:spcPts val="2550"/>
              </a:lnSpc>
              <a:buSzPct val="100000"/>
              <a:buFontTx/>
              <a:buAutoNum type="arabicPeriod"/>
            </a:pPr>
            <a:r>
              <a:rPr lang="en-US" sz="1500">
                <a:solidFill>
                  <a:srgbClr val="14213D"/>
                </a:solidFill>
                <a:latin typeface="DM Sans" pitchFamily="34" charset="0"/>
                <a:ea typeface="DM Sans" pitchFamily="34" charset="-122"/>
                <a:cs typeface="DM Sans" pitchFamily="34" charset="-120"/>
              </a:rPr>
              <a:t>[Website or tutorial name, URL, date accessed]</a:t>
            </a:r>
            <a:endParaRPr lang="en-US" sz="1500"/>
          </a:p>
          <a:p>
            <a:pPr marL="203835" indent="-203835" algn="l">
              <a:lnSpc>
                <a:spcPts val="2550"/>
              </a:lnSpc>
              <a:buSzPct val="100000"/>
              <a:buFontTx/>
              <a:buAutoNum type="arabicPeriod"/>
            </a:pPr>
            <a:r>
              <a:rPr lang="en-US" sz="1500">
                <a:solidFill>
                  <a:srgbClr val="14213D"/>
                </a:solidFill>
                <a:latin typeface="DM Sans" pitchFamily="34" charset="0"/>
                <a:ea typeface="DM Sans" pitchFamily="34" charset="-122"/>
                <a:cs typeface="DM Sans" pitchFamily="34" charset="-120"/>
              </a:rPr>
              <a:t>[Research paper or project report, if any]</a:t>
            </a:r>
            <a:endParaRPr lang="en-US" sz="1500"/>
          </a:p>
        </p:txBody>
      </p:sp>
      <p:sp>
        <p:nvSpPr>
          <p:cNvPr id="6" name="Text 4"/>
          <p:cNvSpPr/>
          <p:nvPr/>
        </p:nvSpPr>
        <p:spPr>
          <a:xfrm>
            <a:off x="812800" y="6238280"/>
            <a:ext cx="7848600" cy="238720"/>
          </a:xfrm>
          <a:prstGeom prst="rect">
            <a:avLst/>
          </a:prstGeom>
          <a:noFill/>
        </p:spPr>
        <p:txBody>
          <a:bodyPr wrap="square" lIns="0" tIns="0" rIns="0" bIns="0" rtlCol="0" anchor="t">
            <a:normAutofit/>
          </a:bodyPr>
          <a:lstStyle/>
          <a:p>
            <a:pPr marL="0" indent="0" algn="l">
              <a:lnSpc>
                <a:spcPts val="1680"/>
              </a:lnSpc>
              <a:buNone/>
            </a:pPr>
            <a:r>
              <a:rPr lang="en-US" sz="1200">
                <a:solidFill>
                  <a:srgbClr val="4A5568"/>
                </a:solidFill>
                <a:latin typeface="DM Sans"/>
                <a:ea typeface="DM Sans" pitchFamily="34" charset="-122"/>
                <a:cs typeface="DM Sans" pitchFamily="34" charset="-120"/>
              </a:rPr>
              <a:t>21 · [FARZIII-PAY]</a:t>
            </a:r>
            <a:endParaRPr lang="en-US" sz="12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867221" cy="365720"/>
          </a:xfrm>
          <a:prstGeom prst="roundRect">
            <a:avLst>
              <a:gd name="adj" fmla="val 50000"/>
            </a:avLst>
          </a:prstGeom>
          <a:solidFill>
            <a:srgbClr val="E8772E"/>
          </a:solidFill>
        </p:spPr>
        <p:txBody>
          <a:bodyPr wrap="none" lIns="0" tIns="0" rIns="0" bIns="0" rtlCol="0" anchor="ctr">
            <a:normAutofit/>
          </a:bodyPr>
          <a:lstStyle/>
          <a:p>
            <a:pPr marL="0" indent="0" algn="ctr">
              <a:lnSpc>
                <a:spcPts val="1680"/>
              </a:lnSpc>
              <a:buNone/>
            </a:pPr>
            <a:r>
              <a:rPr lang="en-US" sz="1200" b="1" kern="0" spc="150">
                <a:solidFill>
                  <a:srgbClr val="14213D"/>
                </a:solidFill>
                <a:latin typeface="DM Sans" pitchFamily="34" charset="0"/>
                <a:ea typeface="DM Sans" pitchFamily="34" charset="-122"/>
                <a:cs typeface="DM Sans" pitchFamily="34" charset="-120"/>
              </a:rPr>
              <a:t>Q &amp; A</a:t>
            </a:r>
            <a:endParaRPr lang="en-US" sz="1200"/>
          </a:p>
        </p:txBody>
      </p:sp>
      <p:sp>
        <p:nvSpPr>
          <p:cNvPr id="3" name="Text 1"/>
          <p:cNvSpPr>
            <a:spLocks noGrp="1"/>
          </p:cNvSpPr>
          <p:nvPr>
            <p:ph type="title"/>
          </p:nvPr>
        </p:nvSpPr>
        <p:spPr>
          <a:xfrm>
            <a:off x="812800" y="1381720"/>
            <a:ext cx="3964841" cy="751830"/>
          </a:xfrm>
          <a:prstGeom prst="rect">
            <a:avLst/>
          </a:prstGeom>
          <a:noFill/>
        </p:spPr>
        <p:txBody>
          <a:bodyPr wrap="square" lIns="0" tIns="0" rIns="0" bIns="0" rtlCol="0" anchor="t">
            <a:normAutofit/>
          </a:bodyPr>
          <a:lstStyle/>
          <a:p>
            <a:pPr marL="0" indent="0" algn="l">
              <a:lnSpc>
                <a:spcPts val="5720"/>
              </a:lnSpc>
              <a:buNone/>
            </a:pPr>
            <a:r>
              <a:rPr lang="en-US" sz="5200" b="1" i="0">
                <a:solidFill>
                  <a:srgbClr val="F7F5EF"/>
                </a:solidFill>
                <a:latin typeface="DM Sans" pitchFamily="34" charset="0"/>
                <a:ea typeface="DM Sans" pitchFamily="34" charset="-122"/>
                <a:cs typeface="DM Sans" pitchFamily="34" charset="-120"/>
              </a:rPr>
              <a:t>Thank You</a:t>
            </a:r>
            <a:endParaRPr lang="en-US" sz="5200"/>
          </a:p>
        </p:txBody>
      </p:sp>
      <p:sp>
        <p:nvSpPr>
          <p:cNvPr id="4" name="Text 2"/>
          <p:cNvSpPr/>
          <p:nvPr/>
        </p:nvSpPr>
        <p:spPr>
          <a:xfrm>
            <a:off x="812800" y="2311350"/>
            <a:ext cx="3307080" cy="355600"/>
          </a:xfrm>
          <a:prstGeom prst="rect">
            <a:avLst/>
          </a:prstGeom>
          <a:noFill/>
        </p:spPr>
        <p:txBody>
          <a:bodyPr wrap="square" lIns="0" tIns="0" rIns="0" bIns="0" rtlCol="0" anchor="t">
            <a:normAutofit/>
          </a:bodyPr>
          <a:lstStyle/>
          <a:p>
            <a:pPr marL="0" indent="0" algn="l">
              <a:lnSpc>
                <a:spcPts val="2600"/>
              </a:lnSpc>
              <a:buNone/>
            </a:pPr>
            <a:r>
              <a:rPr lang="en-US" sz="2000">
                <a:solidFill>
                  <a:srgbClr val="C9D1E3"/>
                </a:solidFill>
                <a:latin typeface="DM Sans" pitchFamily="34" charset="0"/>
                <a:ea typeface="DM Sans" pitchFamily="34" charset="-122"/>
                <a:cs typeface="DM Sans" pitchFamily="34" charset="-120"/>
              </a:rPr>
              <a:t>Questions are welcome</a:t>
            </a:r>
            <a:endParaRPr lang="en-US" sz="2000"/>
          </a:p>
        </p:txBody>
      </p:sp>
      <p:sp>
        <p:nvSpPr>
          <p:cNvPr id="5" name="Shape 3"/>
          <p:cNvSpPr/>
          <p:nvPr/>
        </p:nvSpPr>
        <p:spPr>
          <a:xfrm>
            <a:off x="812800" y="5395664"/>
            <a:ext cx="5130800" cy="0"/>
          </a:xfrm>
          <a:prstGeom prst="line">
            <a:avLst/>
          </a:prstGeom>
          <a:noFill/>
          <a:ln w="19050">
            <a:solidFill>
              <a:srgbClr val="E8772E"/>
            </a:solidFill>
            <a:prstDash val="solid"/>
          </a:ln>
        </p:spPr>
      </p:sp>
      <p:sp>
        <p:nvSpPr>
          <p:cNvPr id="6" name="Text 4"/>
          <p:cNvSpPr/>
          <p:nvPr/>
        </p:nvSpPr>
        <p:spPr>
          <a:xfrm>
            <a:off x="812800" y="5532189"/>
            <a:ext cx="5284724" cy="238720"/>
          </a:xfrm>
          <a:prstGeom prst="rect">
            <a:avLst/>
          </a:prstGeom>
          <a:noFill/>
        </p:spPr>
        <p:txBody>
          <a:bodyPr wrap="square" lIns="0" tIns="0" rIns="0" bIns="0" rtlCol="0" anchor="t">
            <a:normAutofit/>
          </a:bodyPr>
          <a:lstStyle/>
          <a:p>
            <a:pPr marL="0" indent="0" algn="l">
              <a:lnSpc>
                <a:spcPts val="1680"/>
              </a:lnSpc>
              <a:buNone/>
            </a:pPr>
            <a:r>
              <a:rPr lang="en-US" sz="1200" b="1" kern="0" spc="100">
                <a:solidFill>
                  <a:srgbClr val="E8772E"/>
                </a:solidFill>
                <a:latin typeface="DM Sans" pitchFamily="34" charset="0"/>
                <a:ea typeface="DM Sans" pitchFamily="34" charset="-122"/>
                <a:cs typeface="DM Sans" pitchFamily="34" charset="-120"/>
              </a:rPr>
              <a:t>CONTACT</a:t>
            </a:r>
            <a:endParaRPr lang="en-US" sz="1200"/>
          </a:p>
        </p:txBody>
      </p:sp>
      <p:sp>
        <p:nvSpPr>
          <p:cNvPr id="7" name="Text 5"/>
          <p:cNvSpPr/>
          <p:nvPr/>
        </p:nvSpPr>
        <p:spPr>
          <a:xfrm>
            <a:off x="812800" y="5767374"/>
            <a:ext cx="5284724" cy="447909"/>
          </a:xfrm>
          <a:prstGeom prst="rect">
            <a:avLst/>
          </a:prstGeom>
          <a:noFill/>
        </p:spPr>
        <p:txBody>
          <a:bodyPr wrap="square" lIns="0" tIns="0" rIns="0" bIns="0" rtlCol="0" anchor="t">
            <a:normAutofit fontScale="25000" lnSpcReduction="20000"/>
          </a:bodyPr>
          <a:lstStyle/>
          <a:p>
            <a:pPr>
              <a:lnSpc>
                <a:spcPts val="1960"/>
              </a:lnSpc>
            </a:pPr>
            <a:r>
              <a:rPr lang="en-US" sz="1400">
                <a:solidFill>
                  <a:srgbClr val="F7F5EF"/>
                </a:solidFill>
                <a:latin typeface="DM Sans"/>
              </a:rPr>
              <a:t>[[</a:t>
            </a:r>
            <a:r>
              <a:rPr lang="en-US" sz="4800">
                <a:solidFill>
                  <a:srgbClr val="F7F5EF"/>
                </a:solidFill>
                <a:latin typeface="DM Sans"/>
              </a:rPr>
              <a:t>Prachi Sindal] · [sindalprachi86@gmail.com]</a:t>
            </a:r>
            <a:endParaRPr lang="en-US" sz="4800"/>
          </a:p>
          <a:p>
            <a:pPr>
              <a:lnSpc>
                <a:spcPts val="1960"/>
              </a:lnSpc>
            </a:pPr>
            <a:r>
              <a:rPr lang="en-US" sz="4800">
                <a:solidFill>
                  <a:srgbClr val="F7F5EF"/>
                </a:solidFill>
                <a:latin typeface="DM Sans"/>
              </a:rPr>
              <a:t>[Manish], []</a:t>
            </a:r>
            <a:endParaRPr lang="en-US" sz="4800">
              <a:solidFill>
                <a:srgbClr val="F7F5EF"/>
              </a:solidFill>
              <a:latin typeface="DM Sans"/>
            </a:endParaRPr>
          </a:p>
        </p:txBody>
      </p:sp>
      <p:sp>
        <p:nvSpPr>
          <p:cNvPr id="8" name="Shape 6"/>
          <p:cNvSpPr/>
          <p:nvPr/>
        </p:nvSpPr>
        <p:spPr>
          <a:xfrm>
            <a:off x="6248400" y="5395664"/>
            <a:ext cx="5130800" cy="0"/>
          </a:xfrm>
          <a:prstGeom prst="line">
            <a:avLst/>
          </a:prstGeom>
          <a:noFill/>
          <a:ln w="19050">
            <a:solidFill>
              <a:srgbClr val="E8772E"/>
            </a:solidFill>
            <a:prstDash val="solid"/>
          </a:ln>
        </p:spPr>
      </p:sp>
      <p:sp>
        <p:nvSpPr>
          <p:cNvPr id="9" name="Text 7"/>
          <p:cNvSpPr/>
          <p:nvPr/>
        </p:nvSpPr>
        <p:spPr>
          <a:xfrm>
            <a:off x="6248400" y="5532189"/>
            <a:ext cx="5284724" cy="238720"/>
          </a:xfrm>
          <a:prstGeom prst="rect">
            <a:avLst/>
          </a:prstGeom>
          <a:noFill/>
        </p:spPr>
        <p:txBody>
          <a:bodyPr wrap="square" lIns="0" tIns="0" rIns="0" bIns="0" rtlCol="0" anchor="t">
            <a:normAutofit/>
          </a:bodyPr>
          <a:lstStyle/>
          <a:p>
            <a:pPr marL="0" indent="0" algn="l">
              <a:lnSpc>
                <a:spcPts val="1680"/>
              </a:lnSpc>
              <a:buNone/>
            </a:pPr>
            <a:r>
              <a:rPr lang="en-US" sz="1200" b="1" kern="0" spc="100">
                <a:solidFill>
                  <a:srgbClr val="E8772E"/>
                </a:solidFill>
                <a:latin typeface="DM Sans" pitchFamily="34" charset="0"/>
                <a:ea typeface="DM Sans" pitchFamily="34" charset="-122"/>
                <a:cs typeface="DM Sans" pitchFamily="34" charset="-120"/>
              </a:rPr>
              <a:t>PROJECT CODE</a:t>
            </a:r>
            <a:endParaRPr lang="en-US" sz="1200"/>
          </a:p>
        </p:txBody>
      </p:sp>
      <p:sp>
        <p:nvSpPr>
          <p:cNvPr id="10" name="Text 8"/>
          <p:cNvSpPr/>
          <p:nvPr/>
        </p:nvSpPr>
        <p:spPr>
          <a:xfrm>
            <a:off x="6248400" y="5796310"/>
            <a:ext cx="5284724" cy="274290"/>
          </a:xfrm>
          <a:prstGeom prst="rect">
            <a:avLst/>
          </a:prstGeom>
          <a:noFill/>
        </p:spPr>
        <p:txBody>
          <a:bodyPr wrap="square" lIns="0" tIns="0" rIns="0" bIns="0" rtlCol="0" anchor="t">
            <a:normAutofit/>
          </a:bodyPr>
          <a:lstStyle/>
          <a:p>
            <a:pPr marL="0" indent="0" algn="l">
              <a:lnSpc>
                <a:spcPts val="1960"/>
              </a:lnSpc>
              <a:buNone/>
            </a:pPr>
            <a:r>
              <a:rPr lang="en-US" sz="1400">
                <a:solidFill>
                  <a:srgbClr val="F7F5EF"/>
                </a:solidFill>
                <a:latin typeface="DM Sans" pitchFamily="34" charset="0"/>
                <a:ea typeface="DM Sans" pitchFamily="34" charset="-122"/>
                <a:cs typeface="DM Sans" pitchFamily="34" charset="-120"/>
              </a:rPr>
              <a:t>[GitHub repository link]</a:t>
            </a:r>
            <a:endParaRPr lang="en-US" sz="1400"/>
          </a:p>
        </p:txBody>
      </p:sp>
    </p:spTree>
  </p:cSld>
  <p:clrMapOvr>
    <a:masterClrMapping/>
  </p:clrMapOvr>
</p:sld>
</file>

<file path=ppt/theme/theme1.xml><?xml version="1.0" encoding="utf-8"?>
<a:theme xmlns:a="http://schemas.openxmlformats.org/drawingml/2006/main" name="Java Mini Project Template">
  <a:themeElements>
    <a:clrScheme name="Java Mini Project Template">
      <a:dk1>
        <a:srgbClr val="14213D"/>
      </a:dk1>
      <a:lt1>
        <a:srgbClr val="F7F5EF"/>
      </a:lt1>
      <a:dk2>
        <a:srgbClr val="4D566A"/>
      </a:dk2>
      <a:lt2>
        <a:srgbClr val="E0E0DD"/>
      </a:lt2>
      <a:accent1>
        <a:srgbClr val="B4490F"/>
      </a:accent1>
      <a:accent2>
        <a:srgbClr val="E8772E"/>
      </a:accent2>
      <a:accent3>
        <a:srgbClr val="8FA3C8"/>
      </a:accent3>
      <a:accent4>
        <a:srgbClr val="4A5568"/>
      </a:accent4>
      <a:accent5>
        <a:srgbClr val="C9D1E3"/>
      </a:accent5>
      <a:accent6>
        <a:srgbClr val="9AA0A6"/>
      </a:accent6>
      <a:hlink>
        <a:srgbClr val="0563C1"/>
      </a:hlink>
      <a:folHlink>
        <a:srgbClr val="954F72"/>
      </a:folHlink>
    </a:clrScheme>
    <a:fontScheme name="Java Mini Project Template">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7350</Words>
  <Application>WPS Presentation</Application>
  <PresentationFormat>Widescreen</PresentationFormat>
  <Paragraphs>616</Paragraphs>
  <Slides>22</Slides>
  <Notes>22</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22</vt:i4>
      </vt:variant>
    </vt:vector>
  </HeadingPairs>
  <TitlesOfParts>
    <vt:vector size="36" baseType="lpstr">
      <vt:lpstr>Arial</vt:lpstr>
      <vt:lpstr>SimSun</vt:lpstr>
      <vt:lpstr>Wingdings</vt:lpstr>
      <vt:lpstr>DM Sans</vt:lpstr>
      <vt:lpstr>Segoe Print</vt:lpstr>
      <vt:lpstr>DM Sans</vt:lpstr>
      <vt:lpstr>DM Sans</vt:lpstr>
      <vt:lpstr>MingLiU-ExtB</vt:lpstr>
      <vt:lpstr>DM Sans</vt:lpstr>
      <vt:lpstr>Microsoft YaHei</vt:lpstr>
      <vt:lpstr>Arial Unicode MS</vt:lpstr>
      <vt:lpstr>Calibri</vt:lpstr>
      <vt:lpstr>JetBrains Mono</vt:lpstr>
      <vt:lpstr>Java Mini Project Template</vt:lpstr>
      <vt:lpstr>[FRZII-PAY]</vt:lpstr>
      <vt:lpstr>Agenda</vt:lpstr>
      <vt:lpstr>Introduction</vt:lpstr>
      <vt:lpstr>Problem Statement</vt:lpstr>
      <vt:lpstr>Objectives &amp; Scope</vt:lpstr>
      <vt:lpstr>Existing vs Proposed System</vt:lpstr>
      <vt:lpstr>System Requirements</vt:lpstr>
      <vt:lpstr>Technology Stack</vt:lpstr>
      <vt:lpstr>System Architecture</vt:lpstr>
      <vt:lpstr>Modules</vt:lpstr>
      <vt:lpstr>Flowchart &amp; UML Diagrams</vt:lpstr>
      <vt:lpstr>Database Design</vt:lpstr>
      <vt:lpstr>Java Concepts Used</vt:lpstr>
      <vt:lpstr>Implementation: Key Code</vt:lpstr>
      <vt:lpstr>Output Screenshots</vt:lpstr>
      <vt:lpstr>Testing</vt:lpstr>
      <vt:lpstr>Results &amp; Advantages</vt:lpstr>
      <vt:lpstr>Challenges &amp; Solutions</vt:lpstr>
      <vt:lpstr>Future Scope</vt:lpstr>
      <vt:lpstr>Conclusion</vt:lpstr>
      <vt:lpstr>References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Mini Project Template</dc:title>
  <dc:creator/>
  <cp:lastModifiedBy>sinda</cp:lastModifiedBy>
  <cp:revision>491</cp:revision>
  <dcterms:created xsi:type="dcterms:W3CDTF">2026-10-12T15:43:00Z</dcterms:created>
  <dcterms:modified xsi:type="dcterms:W3CDTF">2026-10-21T08:58:50Z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00AF3DAE11034401914BE1F03CEC2132_12</vt:lpwstr>
  </property>
</Properties>
</file>